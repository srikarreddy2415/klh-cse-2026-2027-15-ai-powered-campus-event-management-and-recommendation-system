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262" r:id="rId3"/>
    <p:sldId id="707" r:id="rId4"/>
    <p:sldId id="257" r:id="rId5"/>
    <p:sldId id="903" r:id="rId6"/>
    <p:sldId id="902" r:id="rId7"/>
    <p:sldId id="258" r:id="rId8"/>
    <p:sldId id="259" r:id="rId9"/>
    <p:sldId id="911" r:id="rId10"/>
    <p:sldId id="904" r:id="rId11"/>
    <p:sldId id="905" r:id="rId12"/>
    <p:sldId id="906" r:id="rId13"/>
    <p:sldId id="907" r:id="rId14"/>
    <p:sldId id="908" r:id="rId15"/>
    <p:sldId id="909" r:id="rId16"/>
    <p:sldId id="9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7F83BD-AA95-4695-8763-F0A3C59E9F03}" v="10" dt="2026-09-21T09:57:39.6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p:scale>
          <a:sx n="75" d="100"/>
          <a:sy n="75" d="100"/>
        </p:scale>
        <p:origin x="112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kar Reddy" userId="239fc87a06ce9553" providerId="LiveId" clId="{59C6006A-8280-461D-B9B0-C2A78E17F9E2}"/>
    <pc:docChg chg="undo custSel addSld modSld">
      <pc:chgData name="Srikar Reddy" userId="239fc87a06ce9553" providerId="LiveId" clId="{59C6006A-8280-461D-B9B0-C2A78E17F9E2}" dt="2026-09-21T09:58:50.564" v="254" actId="20577"/>
      <pc:docMkLst>
        <pc:docMk/>
      </pc:docMkLst>
      <pc:sldChg chg="modSp mod">
        <pc:chgData name="Srikar Reddy" userId="239fc87a06ce9553" providerId="LiveId" clId="{59C6006A-8280-461D-B9B0-C2A78E17F9E2}" dt="2026-09-21T09:47:34.211" v="3" actId="1036"/>
        <pc:sldMkLst>
          <pc:docMk/>
          <pc:sldMk cId="2065876014" sldId="258"/>
        </pc:sldMkLst>
        <pc:spChg chg="mod">
          <ac:chgData name="Srikar Reddy" userId="239fc87a06ce9553" providerId="LiveId" clId="{59C6006A-8280-461D-B9B0-C2A78E17F9E2}" dt="2026-09-21T09:47:34.211" v="3" actId="1036"/>
          <ac:spMkLst>
            <pc:docMk/>
            <pc:sldMk cId="2065876014" sldId="258"/>
            <ac:spMk id="5" creationId="{C00062CA-E93E-DFB0-5A22-1412AB9A6752}"/>
          </ac:spMkLst>
        </pc:spChg>
      </pc:sldChg>
      <pc:sldChg chg="modSp mod">
        <pc:chgData name="Srikar Reddy" userId="239fc87a06ce9553" providerId="LiveId" clId="{59C6006A-8280-461D-B9B0-C2A78E17F9E2}" dt="2026-09-21T09:46:01.773" v="1" actId="20577"/>
        <pc:sldMkLst>
          <pc:docMk/>
          <pc:sldMk cId="2247602601" sldId="262"/>
        </pc:sldMkLst>
        <pc:spChg chg="mod">
          <ac:chgData name="Srikar Reddy" userId="239fc87a06ce9553" providerId="LiveId" clId="{59C6006A-8280-461D-B9B0-C2A78E17F9E2}" dt="2026-09-21T09:46:01.773" v="1" actId="20577"/>
          <ac:spMkLst>
            <pc:docMk/>
            <pc:sldMk cId="2247602601" sldId="262"/>
            <ac:spMk id="17" creationId="{D25BC1A0-FDE4-1557-375E-6E0BD69BC77B}"/>
          </ac:spMkLst>
        </pc:spChg>
      </pc:sldChg>
      <pc:sldChg chg="addSp delSp modSp new mod">
        <pc:chgData name="Srikar Reddy" userId="239fc87a06ce9553" providerId="LiveId" clId="{59C6006A-8280-461D-B9B0-C2A78E17F9E2}" dt="2026-09-21T09:50:56.913" v="56" actId="14100"/>
        <pc:sldMkLst>
          <pc:docMk/>
          <pc:sldMk cId="2217712846" sldId="904"/>
        </pc:sldMkLst>
        <pc:spChg chg="mod">
          <ac:chgData name="Srikar Reddy" userId="239fc87a06ce9553" providerId="LiveId" clId="{59C6006A-8280-461D-B9B0-C2A78E17F9E2}" dt="2026-09-21T09:50:50.922" v="55" actId="20577"/>
          <ac:spMkLst>
            <pc:docMk/>
            <pc:sldMk cId="2217712846" sldId="904"/>
            <ac:spMk id="2" creationId="{294DD69C-C91E-98E4-A3B3-DF024B10C56E}"/>
          </ac:spMkLst>
        </pc:spChg>
        <pc:spChg chg="del">
          <ac:chgData name="Srikar Reddy" userId="239fc87a06ce9553" providerId="LiveId" clId="{59C6006A-8280-461D-B9B0-C2A78E17F9E2}" dt="2026-09-21T09:49:11.787" v="36" actId="22"/>
          <ac:spMkLst>
            <pc:docMk/>
            <pc:sldMk cId="2217712846" sldId="904"/>
            <ac:spMk id="3" creationId="{0AF48F3A-366F-63CD-6926-870991C620C5}"/>
          </ac:spMkLst>
        </pc:spChg>
        <pc:picChg chg="add mod ord">
          <ac:chgData name="Srikar Reddy" userId="239fc87a06ce9553" providerId="LiveId" clId="{59C6006A-8280-461D-B9B0-C2A78E17F9E2}" dt="2026-09-21T09:50:56.913" v="56" actId="14100"/>
          <ac:picMkLst>
            <pc:docMk/>
            <pc:sldMk cId="2217712846" sldId="904"/>
            <ac:picMk id="5" creationId="{8A2E9437-A8D6-C4A6-7F9C-A1030F24AC1F}"/>
          </ac:picMkLst>
        </pc:picChg>
        <pc:picChg chg="add del mod">
          <ac:chgData name="Srikar Reddy" userId="239fc87a06ce9553" providerId="LiveId" clId="{59C6006A-8280-461D-B9B0-C2A78E17F9E2}" dt="2026-09-21T09:49:44.575" v="43" actId="478"/>
          <ac:picMkLst>
            <pc:docMk/>
            <pc:sldMk cId="2217712846" sldId="904"/>
            <ac:picMk id="7" creationId="{693B7C1A-3E5F-EB4A-04BD-768C18228E13}"/>
          </ac:picMkLst>
        </pc:picChg>
        <pc:picChg chg="add del">
          <ac:chgData name="Srikar Reddy" userId="239fc87a06ce9553" providerId="LiveId" clId="{59C6006A-8280-461D-B9B0-C2A78E17F9E2}" dt="2026-09-21T09:50:22.760" v="51" actId="22"/>
          <ac:picMkLst>
            <pc:docMk/>
            <pc:sldMk cId="2217712846" sldId="904"/>
            <ac:picMk id="9" creationId="{8E6AD87E-4C05-D965-03F1-7EC21F0C1E05}"/>
          </ac:picMkLst>
        </pc:picChg>
      </pc:sldChg>
      <pc:sldChg chg="addSp delSp modSp new mod">
        <pc:chgData name="Srikar Reddy" userId="239fc87a06ce9553" providerId="LiveId" clId="{59C6006A-8280-461D-B9B0-C2A78E17F9E2}" dt="2026-09-21T09:51:41.463" v="85" actId="22"/>
        <pc:sldMkLst>
          <pc:docMk/>
          <pc:sldMk cId="3218029140" sldId="905"/>
        </pc:sldMkLst>
        <pc:spChg chg="mod">
          <ac:chgData name="Srikar Reddy" userId="239fc87a06ce9553" providerId="LiveId" clId="{59C6006A-8280-461D-B9B0-C2A78E17F9E2}" dt="2026-09-21T09:51:34.568" v="84" actId="20577"/>
          <ac:spMkLst>
            <pc:docMk/>
            <pc:sldMk cId="3218029140" sldId="905"/>
            <ac:spMk id="2" creationId="{6C9AD8B6-AB9C-F4B6-44B3-D8C56602D8D7}"/>
          </ac:spMkLst>
        </pc:spChg>
        <pc:spChg chg="del">
          <ac:chgData name="Srikar Reddy" userId="239fc87a06ce9553" providerId="LiveId" clId="{59C6006A-8280-461D-B9B0-C2A78E17F9E2}" dt="2026-09-21T09:51:41.463" v="85" actId="22"/>
          <ac:spMkLst>
            <pc:docMk/>
            <pc:sldMk cId="3218029140" sldId="905"/>
            <ac:spMk id="3" creationId="{D7116B48-6611-C52A-A7BC-75038B3F7D60}"/>
          </ac:spMkLst>
        </pc:spChg>
        <pc:picChg chg="add mod ord">
          <ac:chgData name="Srikar Reddy" userId="239fc87a06ce9553" providerId="LiveId" clId="{59C6006A-8280-461D-B9B0-C2A78E17F9E2}" dt="2026-09-21T09:51:41.463" v="85" actId="22"/>
          <ac:picMkLst>
            <pc:docMk/>
            <pc:sldMk cId="3218029140" sldId="905"/>
            <ac:picMk id="5" creationId="{2A4761EA-4B03-5120-1221-2B5FAE453343}"/>
          </ac:picMkLst>
        </pc:picChg>
      </pc:sldChg>
      <pc:sldChg chg="addSp delSp modSp new mod">
        <pc:chgData name="Srikar Reddy" userId="239fc87a06ce9553" providerId="LiveId" clId="{59C6006A-8280-461D-B9B0-C2A78E17F9E2}" dt="2026-09-21T09:52:52.397" v="98" actId="14100"/>
        <pc:sldMkLst>
          <pc:docMk/>
          <pc:sldMk cId="1373078433" sldId="906"/>
        </pc:sldMkLst>
        <pc:spChg chg="mod">
          <ac:chgData name="Srikar Reddy" userId="239fc87a06ce9553" providerId="LiveId" clId="{59C6006A-8280-461D-B9B0-C2A78E17F9E2}" dt="2026-09-21T09:52:24.373" v="92" actId="20577"/>
          <ac:spMkLst>
            <pc:docMk/>
            <pc:sldMk cId="1373078433" sldId="906"/>
            <ac:spMk id="2" creationId="{CAB23140-2C5B-BDFF-3039-A2C7FD6B32A4}"/>
          </ac:spMkLst>
        </pc:spChg>
        <pc:spChg chg="del">
          <ac:chgData name="Srikar Reddy" userId="239fc87a06ce9553" providerId="LiveId" clId="{59C6006A-8280-461D-B9B0-C2A78E17F9E2}" dt="2026-09-21T09:52:32.793" v="93" actId="22"/>
          <ac:spMkLst>
            <pc:docMk/>
            <pc:sldMk cId="1373078433" sldId="906"/>
            <ac:spMk id="3" creationId="{865B5B66-7CFC-258C-F785-C878CE0D7B88}"/>
          </ac:spMkLst>
        </pc:spChg>
        <pc:picChg chg="add mod ord">
          <ac:chgData name="Srikar Reddy" userId="239fc87a06ce9553" providerId="LiveId" clId="{59C6006A-8280-461D-B9B0-C2A78E17F9E2}" dt="2026-09-21T09:52:52.397" v="98" actId="14100"/>
          <ac:picMkLst>
            <pc:docMk/>
            <pc:sldMk cId="1373078433" sldId="906"/>
            <ac:picMk id="5" creationId="{C0E49C80-E7C1-F29B-A19E-E062CA3D24FB}"/>
          </ac:picMkLst>
        </pc:picChg>
      </pc:sldChg>
      <pc:sldChg chg="addSp delSp modSp new mod">
        <pc:chgData name="Srikar Reddy" userId="239fc87a06ce9553" providerId="LiveId" clId="{59C6006A-8280-461D-B9B0-C2A78E17F9E2}" dt="2026-09-21T09:54:57.141" v="129" actId="20577"/>
        <pc:sldMkLst>
          <pc:docMk/>
          <pc:sldMk cId="1363568148" sldId="907"/>
        </pc:sldMkLst>
        <pc:spChg chg="mod">
          <ac:chgData name="Srikar Reddy" userId="239fc87a06ce9553" providerId="LiveId" clId="{59C6006A-8280-461D-B9B0-C2A78E17F9E2}" dt="2026-09-21T09:54:57.141" v="129" actId="20577"/>
          <ac:spMkLst>
            <pc:docMk/>
            <pc:sldMk cId="1363568148" sldId="907"/>
            <ac:spMk id="2" creationId="{E31BCE8A-D88E-50EC-3B69-A482D48C2E61}"/>
          </ac:spMkLst>
        </pc:spChg>
        <pc:spChg chg="del">
          <ac:chgData name="Srikar Reddy" userId="239fc87a06ce9553" providerId="LiveId" clId="{59C6006A-8280-461D-B9B0-C2A78E17F9E2}" dt="2026-09-21T09:53:54.461" v="107" actId="22"/>
          <ac:spMkLst>
            <pc:docMk/>
            <pc:sldMk cId="1363568148" sldId="907"/>
            <ac:spMk id="3" creationId="{76110CC2-5DE1-86BB-48F9-A40E701DA7E4}"/>
          </ac:spMkLst>
        </pc:spChg>
        <pc:picChg chg="add mod ord">
          <ac:chgData name="Srikar Reddy" userId="239fc87a06ce9553" providerId="LiveId" clId="{59C6006A-8280-461D-B9B0-C2A78E17F9E2}" dt="2026-09-21T09:53:54.461" v="107" actId="22"/>
          <ac:picMkLst>
            <pc:docMk/>
            <pc:sldMk cId="1363568148" sldId="907"/>
            <ac:picMk id="5" creationId="{6D36DDDC-4A3E-E95D-9124-0AB5B4E0042F}"/>
          </ac:picMkLst>
        </pc:picChg>
      </pc:sldChg>
      <pc:sldChg chg="addSp delSp modSp new mod">
        <pc:chgData name="Srikar Reddy" userId="239fc87a06ce9553" providerId="LiveId" clId="{59C6006A-8280-461D-B9B0-C2A78E17F9E2}" dt="2026-09-21T09:56:08.229" v="178" actId="14100"/>
        <pc:sldMkLst>
          <pc:docMk/>
          <pc:sldMk cId="1831653442" sldId="908"/>
        </pc:sldMkLst>
        <pc:spChg chg="mod">
          <ac:chgData name="Srikar Reddy" userId="239fc87a06ce9553" providerId="LiveId" clId="{59C6006A-8280-461D-B9B0-C2A78E17F9E2}" dt="2026-09-21T09:55:53.644" v="175" actId="20577"/>
          <ac:spMkLst>
            <pc:docMk/>
            <pc:sldMk cId="1831653442" sldId="908"/>
            <ac:spMk id="2" creationId="{99AB5DAF-08EB-A312-1946-00F560C609E0}"/>
          </ac:spMkLst>
        </pc:spChg>
        <pc:spChg chg="del">
          <ac:chgData name="Srikar Reddy" userId="239fc87a06ce9553" providerId="LiveId" clId="{59C6006A-8280-461D-B9B0-C2A78E17F9E2}" dt="2026-09-21T09:55:30.636" v="132" actId="22"/>
          <ac:spMkLst>
            <pc:docMk/>
            <pc:sldMk cId="1831653442" sldId="908"/>
            <ac:spMk id="3" creationId="{3153F221-6183-06EA-F88D-4B1274FBC97B}"/>
          </ac:spMkLst>
        </pc:spChg>
        <pc:picChg chg="add mod ord">
          <ac:chgData name="Srikar Reddy" userId="239fc87a06ce9553" providerId="LiveId" clId="{59C6006A-8280-461D-B9B0-C2A78E17F9E2}" dt="2026-09-21T09:56:08.229" v="178" actId="14100"/>
          <ac:picMkLst>
            <pc:docMk/>
            <pc:sldMk cId="1831653442" sldId="908"/>
            <ac:picMk id="5" creationId="{823C8338-A6D0-2E5A-0AF7-B0A1BC91679F}"/>
          </ac:picMkLst>
        </pc:picChg>
      </pc:sldChg>
      <pc:sldChg chg="addSp delSp modSp new mod">
        <pc:chgData name="Srikar Reddy" userId="239fc87a06ce9553" providerId="LiveId" clId="{59C6006A-8280-461D-B9B0-C2A78E17F9E2}" dt="2026-09-21T09:57:06.729" v="217" actId="14100"/>
        <pc:sldMkLst>
          <pc:docMk/>
          <pc:sldMk cId="3944207318" sldId="909"/>
        </pc:sldMkLst>
        <pc:spChg chg="mod">
          <ac:chgData name="Srikar Reddy" userId="239fc87a06ce9553" providerId="LiveId" clId="{59C6006A-8280-461D-B9B0-C2A78E17F9E2}" dt="2026-09-21T09:56:40.112" v="209" actId="20577"/>
          <ac:spMkLst>
            <pc:docMk/>
            <pc:sldMk cId="3944207318" sldId="909"/>
            <ac:spMk id="2" creationId="{D66E91C8-A59B-AFD2-62C6-787FD34B9A29}"/>
          </ac:spMkLst>
        </pc:spChg>
        <pc:spChg chg="del mod">
          <ac:chgData name="Srikar Reddy" userId="239fc87a06ce9553" providerId="LiveId" clId="{59C6006A-8280-461D-B9B0-C2A78E17F9E2}" dt="2026-09-21T09:56:58.531" v="214" actId="22"/>
          <ac:spMkLst>
            <pc:docMk/>
            <pc:sldMk cId="3944207318" sldId="909"/>
            <ac:spMk id="3" creationId="{2A8A33B3-D189-50A0-8279-BDEA64AA9933}"/>
          </ac:spMkLst>
        </pc:spChg>
        <pc:picChg chg="add mod ord">
          <ac:chgData name="Srikar Reddy" userId="239fc87a06ce9553" providerId="LiveId" clId="{59C6006A-8280-461D-B9B0-C2A78E17F9E2}" dt="2026-09-21T09:57:06.729" v="217" actId="14100"/>
          <ac:picMkLst>
            <pc:docMk/>
            <pc:sldMk cId="3944207318" sldId="909"/>
            <ac:picMk id="5" creationId="{D6AAF220-3FFD-737E-B52D-86792DA14E53}"/>
          </ac:picMkLst>
        </pc:picChg>
      </pc:sldChg>
      <pc:sldChg chg="addSp delSp modSp new mod">
        <pc:chgData name="Srikar Reddy" userId="239fc87a06ce9553" providerId="LiveId" clId="{59C6006A-8280-461D-B9B0-C2A78E17F9E2}" dt="2026-09-21T09:58:50.564" v="254" actId="20577"/>
        <pc:sldMkLst>
          <pc:docMk/>
          <pc:sldMk cId="3929242567" sldId="910"/>
        </pc:sldMkLst>
        <pc:spChg chg="mod">
          <ac:chgData name="Srikar Reddy" userId="239fc87a06ce9553" providerId="LiveId" clId="{59C6006A-8280-461D-B9B0-C2A78E17F9E2}" dt="2026-09-21T09:58:50.564" v="254" actId="20577"/>
          <ac:spMkLst>
            <pc:docMk/>
            <pc:sldMk cId="3929242567" sldId="910"/>
            <ac:spMk id="2" creationId="{03D9FB8C-8D71-4B52-078C-5E278EE0BA33}"/>
          </ac:spMkLst>
        </pc:spChg>
        <pc:spChg chg="del">
          <ac:chgData name="Srikar Reddy" userId="239fc87a06ce9553" providerId="LiveId" clId="{59C6006A-8280-461D-B9B0-C2A78E17F9E2}" dt="2026-09-21T09:57:48.823" v="231" actId="22"/>
          <ac:spMkLst>
            <pc:docMk/>
            <pc:sldMk cId="3929242567" sldId="910"/>
            <ac:spMk id="3" creationId="{B8AD3358-1AC5-BB6D-CEA9-8C2E44858C81}"/>
          </ac:spMkLst>
        </pc:spChg>
        <pc:picChg chg="add del">
          <ac:chgData name="Srikar Reddy" userId="239fc87a06ce9553" providerId="LiveId" clId="{59C6006A-8280-461D-B9B0-C2A78E17F9E2}" dt="2026-09-21T09:57:33.791" v="220" actId="22"/>
          <ac:picMkLst>
            <pc:docMk/>
            <pc:sldMk cId="3929242567" sldId="910"/>
            <ac:picMk id="5" creationId="{986BA86C-5A91-84E9-BB78-D95884E21DCF}"/>
          </ac:picMkLst>
        </pc:picChg>
        <pc:picChg chg="add mod ord">
          <ac:chgData name="Srikar Reddy" userId="239fc87a06ce9553" providerId="LiveId" clId="{59C6006A-8280-461D-B9B0-C2A78E17F9E2}" dt="2026-09-21T09:57:48.823" v="231" actId="22"/>
          <ac:picMkLst>
            <pc:docMk/>
            <pc:sldMk cId="3929242567" sldId="910"/>
            <ac:picMk id="7" creationId="{387874BB-21E9-27E9-80CF-5DA13ADB7F06}"/>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22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22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22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22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22/09/2026 – 1:20 </a:t>
            </a:r>
            <a:r>
              <a:rPr lang="en-IN" sz="2000" b="1" dirty="0" err="1">
                <a:solidFill>
                  <a:srgbClr val="FF0000"/>
                </a:solidFill>
                <a:latin typeface="Times New Roman" panose="02020603050405020304" pitchFamily="18" charset="0"/>
                <a:cs typeface="Times New Roman" panose="02020603050405020304" pitchFamily="18" charset="0"/>
              </a:rPr>
              <a:t>p.m</a:t>
            </a:r>
            <a:endParaRPr lang="en-IN"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170912796"/>
              </p:ext>
            </p:extLst>
          </p:nvPr>
        </p:nvGraphicFramePr>
        <p:xfrm>
          <a:off x="8193271" y="4898509"/>
          <a:ext cx="3702050" cy="149352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 G Anirudh, Ch Srikar Reddy, M Mahidhar</a:t>
                      </a:r>
                    </a:p>
                    <a:p>
                      <a:pPr marL="0" algn="l" defTabSz="914400" rtl="0" eaLnBrk="1" latinLnBrk="0" hangingPunct="1"/>
                      <a:endParaRPr lang="en-IN" sz="16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Number:2420030758,2420030509,2420030756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68939543"/>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Ms. </a:t>
                      </a:r>
                      <a:r>
                        <a:rPr lang="en-IN" sz="1400" b="1" i="0" kern="1200" dirty="0">
                          <a:solidFill>
                            <a:schemeClr val="tx1"/>
                          </a:solidFill>
                          <a:effectLst/>
                          <a:latin typeface="Times New Roman" panose="02020603050405020304" pitchFamily="18" charset="0"/>
                          <a:ea typeface="+mn-ea"/>
                          <a:cs typeface="Times New Roman" panose="02020603050405020304" pitchFamily="18" charset="0"/>
                        </a:rPr>
                        <a:t>K </a:t>
                      </a:r>
                      <a:r>
                        <a:rPr lang="en-IN" sz="1400" b="1" i="0" kern="1200" dirty="0" err="1">
                          <a:solidFill>
                            <a:schemeClr val="tx1"/>
                          </a:solidFill>
                          <a:effectLst/>
                          <a:latin typeface="Times New Roman" panose="02020603050405020304" pitchFamily="18" charset="0"/>
                          <a:ea typeface="+mn-ea"/>
                          <a:cs typeface="Times New Roman" panose="02020603050405020304" pitchFamily="18" charset="0"/>
                        </a:rPr>
                        <a:t>Venkateswari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AI-Powered Campus Event Management and Recommendation System</a:t>
            </a: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Review-2</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C12DB255-7392-B2FF-FF2C-9731A740533C}"/>
              </a:ext>
            </a:extLst>
          </p:cNvPr>
          <p:cNvSpPr txBox="1"/>
          <p:nvPr/>
        </p:nvSpPr>
        <p:spPr>
          <a:xfrm>
            <a:off x="511278" y="1641987"/>
            <a:ext cx="6764594" cy="2862322"/>
          </a:xfrm>
          <a:prstGeom prst="rect">
            <a:avLst/>
          </a:prstGeom>
          <a:noFill/>
        </p:spPr>
        <p:txBody>
          <a:bodyPr wrap="square" rtlCol="0">
            <a:spAutoFit/>
          </a:bodyPr>
          <a:lstStyle/>
          <a:p>
            <a:r>
              <a:rPr lang="en-IN" b="1" dirty="0"/>
              <a:t>The Central Problem:</a:t>
            </a:r>
            <a:br>
              <a:rPr lang="en-IN" dirty="0"/>
            </a:br>
            <a:r>
              <a:rPr lang="en-IN" dirty="0"/>
              <a:t>Campus events are often announced through multiple disconnected channels such as WhatsApp groups, social media, notices, and separate registration links. This makes it difficult for students to discover events relevant to their interests and can result in missed participation opportunities.</a:t>
            </a:r>
          </a:p>
          <a:p>
            <a:endParaRPr lang="en-IN" dirty="0"/>
          </a:p>
          <a:p>
            <a:r>
              <a:rPr lang="en-IN" dirty="0"/>
              <a:t>At the same time, event organizers have to manage event creation, registrations, updates, and participation data across different platforms, making the overall process inefficient.</a:t>
            </a:r>
          </a:p>
        </p:txBody>
      </p:sp>
      <p:pic>
        <p:nvPicPr>
          <p:cNvPr id="4" name="Picture 3" descr="EVENT MANAGEMENT SYSTEM">
            <a:extLst>
              <a:ext uri="{FF2B5EF4-FFF2-40B4-BE49-F238E27FC236}">
                <a16:creationId xmlns:a16="http://schemas.microsoft.com/office/drawing/2014/main" id="{CEC51C7A-65AD-5E57-5AE8-9249FBAB625E}"/>
              </a:ext>
            </a:extLst>
          </p:cNvPr>
          <p:cNvPicPr>
            <a:picLocks noChangeAspect="1"/>
          </p:cNvPicPr>
          <p:nvPr/>
        </p:nvPicPr>
        <p:blipFill>
          <a:blip r:embed="rId3"/>
          <a:stretch>
            <a:fillRect/>
          </a:stretch>
        </p:blipFill>
        <p:spPr>
          <a:xfrm>
            <a:off x="7168106" y="1662526"/>
            <a:ext cx="4614933" cy="3076622"/>
          </a:xfrm>
          <a:prstGeom prst="rect">
            <a:avLst/>
          </a:prstGeom>
        </p:spPr>
      </p:pic>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939845" y="311275"/>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00E20CA-D13B-AC16-6DCD-0DAE1F09F4A0}"/>
              </a:ext>
            </a:extLst>
          </p:cNvPr>
          <p:cNvSpPr txBox="1"/>
          <p:nvPr/>
        </p:nvSpPr>
        <p:spPr>
          <a:xfrm>
            <a:off x="648929" y="948690"/>
            <a:ext cx="10137058" cy="5355312"/>
          </a:xfrm>
          <a:prstGeom prst="rect">
            <a:avLst/>
          </a:prstGeom>
          <a:noFill/>
        </p:spPr>
        <p:txBody>
          <a:bodyPr wrap="square" rtlCol="0">
            <a:spAutoFit/>
          </a:bodyPr>
          <a:lstStyle/>
          <a:p>
            <a:r>
              <a:rPr lang="en-IN" b="1" dirty="0"/>
              <a:t>Research &amp; System Design</a:t>
            </a:r>
          </a:p>
          <a:p>
            <a:pPr marL="742950" lvl="1" indent="-285750">
              <a:buFont typeface="Arial" panose="020B0604020202020204" pitchFamily="34" charset="0"/>
              <a:buChar char="•"/>
            </a:pPr>
            <a:r>
              <a:rPr lang="en-IN" dirty="0"/>
              <a:t>Study existing campus event-management and event-recommendation systems. </a:t>
            </a:r>
          </a:p>
          <a:p>
            <a:pPr marL="742950" lvl="1" indent="-285750">
              <a:buFont typeface="Arial" panose="020B0604020202020204" pitchFamily="34" charset="0"/>
              <a:buChar char="•"/>
            </a:pPr>
            <a:r>
              <a:rPr lang="en-IN" dirty="0"/>
              <a:t>Identify gaps in current methods of campus event discovery and management. </a:t>
            </a:r>
          </a:p>
          <a:p>
            <a:pPr marL="742950" lvl="1" indent="-285750">
              <a:buFont typeface="Arial" panose="020B0604020202020204" pitchFamily="34" charset="0"/>
              <a:buChar char="•"/>
            </a:pPr>
            <a:r>
              <a:rPr lang="en-IN" dirty="0" err="1"/>
              <a:t>Analyze</a:t>
            </a:r>
            <a:r>
              <a:rPr lang="en-IN" dirty="0"/>
              <a:t> student preferences and event characteristics relevant to personalized recommendations. </a:t>
            </a:r>
          </a:p>
          <a:p>
            <a:pPr marL="742950" lvl="1" indent="-285750">
              <a:buFont typeface="Arial" panose="020B0604020202020204" pitchFamily="34" charset="0"/>
              <a:buChar char="•"/>
            </a:pPr>
            <a:r>
              <a:rPr lang="en-IN" dirty="0"/>
              <a:t>Design a modular architecture integrating event management, registration, recommendation, and participation tracking. </a:t>
            </a:r>
          </a:p>
          <a:p>
            <a:pPr marL="742950" lvl="1" indent="-285750">
              <a:buFont typeface="Arial" panose="020B0604020202020204" pitchFamily="34" charset="0"/>
              <a:buChar char="•"/>
            </a:pPr>
            <a:r>
              <a:rPr lang="en-IN" dirty="0"/>
              <a:t>Develop an AI-based recommendation approach to suggest relevant events to students. </a:t>
            </a:r>
          </a:p>
          <a:p>
            <a:pPr marL="742950" lvl="1" indent="-285750">
              <a:buFont typeface="Arial" panose="020B0604020202020204" pitchFamily="34" charset="0"/>
              <a:buChar char="•"/>
            </a:pPr>
            <a:r>
              <a:rPr lang="en-IN" dirty="0"/>
              <a:t>Define evaluation metrics for recommendation relevance, usability, engagement, and system performance. </a:t>
            </a:r>
          </a:p>
          <a:p>
            <a:pPr marL="742950" lvl="1" indent="-285750">
              <a:buFont typeface="Arial" panose="020B0604020202020204" pitchFamily="34" charset="0"/>
              <a:buChar char="•"/>
            </a:pPr>
            <a:endParaRPr lang="en-IN" dirty="0"/>
          </a:p>
          <a:p>
            <a:r>
              <a:rPr lang="en-IN" b="1" dirty="0"/>
              <a:t>Implementation &amp; Evaluation</a:t>
            </a:r>
          </a:p>
          <a:p>
            <a:pPr marL="742950" lvl="1" indent="-285750">
              <a:buFont typeface="Arial" panose="020B0604020202020204" pitchFamily="34" charset="0"/>
              <a:buChar char="•"/>
            </a:pPr>
            <a:r>
              <a:rPr lang="en-IN" dirty="0"/>
              <a:t>Implement student, organizer, and administrator modules. </a:t>
            </a:r>
          </a:p>
          <a:p>
            <a:pPr marL="742950" lvl="1" indent="-285750">
              <a:buFont typeface="Arial" panose="020B0604020202020204" pitchFamily="34" charset="0"/>
              <a:buChar char="•"/>
            </a:pPr>
            <a:r>
              <a:rPr lang="en-IN" dirty="0"/>
              <a:t>Develop event creation, discovery, registration, and notification functionalities. </a:t>
            </a:r>
          </a:p>
          <a:p>
            <a:pPr marL="742950" lvl="1" indent="-285750">
              <a:buFont typeface="Arial" panose="020B0604020202020204" pitchFamily="34" charset="0"/>
              <a:buChar char="•"/>
            </a:pPr>
            <a:r>
              <a:rPr lang="en-IN" dirty="0"/>
              <a:t>Integrate the AI recommendation module with the event-management system. </a:t>
            </a:r>
          </a:p>
          <a:p>
            <a:pPr marL="742950" lvl="1" indent="-285750">
              <a:buFont typeface="Arial" panose="020B0604020202020204" pitchFamily="34" charset="0"/>
              <a:buChar char="•"/>
            </a:pPr>
            <a:r>
              <a:rPr lang="en-IN" dirty="0"/>
              <a:t>Evaluate the system using recommendation accuracy, response time, user satisfaction, and participation/engagement. </a:t>
            </a:r>
          </a:p>
          <a:p>
            <a:pPr marL="742950" lvl="1" indent="-285750">
              <a:buFont typeface="Arial" panose="020B0604020202020204" pitchFamily="34" charset="0"/>
              <a:buChar char="•"/>
            </a:pPr>
            <a:r>
              <a:rPr lang="en-IN" dirty="0"/>
              <a:t>Maintain a reproducible workflow covering development, testing, evaluation, and documentation.</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600898398"/>
              </p:ext>
            </p:extLst>
          </p:nvPr>
        </p:nvGraphicFramePr>
        <p:xfrm>
          <a:off x="274646" y="689466"/>
          <a:ext cx="11642705" cy="4656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solidFill>
                            <a:srgbClr val="FF0000"/>
                          </a:solidFill>
                        </a:rPr>
                        <a:t>Qiao et al. [1]</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b="1" dirty="0">
                          <a:solidFill>
                            <a:srgbClr val="FF0000"/>
                          </a:solidFill>
                          <a:latin typeface="Times New Roman" panose="02020603050405020304" pitchFamily="18" charset="0"/>
                          <a:cs typeface="Times New Roman" panose="02020603050405020304" pitchFamily="18" charset="0"/>
                        </a:rPr>
                        <a:t>Event Recommendation in Event-Based Social Networks</a:t>
                      </a:r>
                      <a:r>
                        <a:rPr lang="en-IN" sz="1400" dirty="0">
                          <a:solidFill>
                            <a:srgbClr val="FF0000"/>
                          </a:solidFill>
                          <a:latin typeface="Times New Roman" panose="02020603050405020304" pitchFamily="18" charset="0"/>
                          <a:cs typeface="Times New Roman" panose="02020603050405020304" pitchFamily="18" charset="0"/>
                        </a:rPr>
                        <a:t>, AAAI, 2014</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•Bayesian probabilistic model</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•Heterogeneous social relationships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Implicit user feedback</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Recommends events using social relationships and user feedback.</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Demonstrates the usefulness of heterogeneous social information for event recommendation.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Focuses mainly on social-network event recommendation.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Campus-specific event management and student engagement are not addressed.</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solidFill>
                            <a:srgbClr val="FF0000"/>
                          </a:solidFill>
                          <a:latin typeface="Times New Roman" panose="02020603050405020304" pitchFamily="18" charset="0"/>
                          <a:cs typeface="Times New Roman" panose="02020603050405020304" pitchFamily="18" charset="0"/>
                        </a:rPr>
                        <a:t>Liu et al. [2]</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solidFill>
                            <a:srgbClr val="FF0000"/>
                          </a:solidFill>
                          <a:latin typeface="Times New Roman" panose="02020603050405020304" pitchFamily="18" charset="0"/>
                          <a:cs typeface="Times New Roman" panose="02020603050405020304" pitchFamily="18" charset="0"/>
                        </a:rPr>
                        <a:t>Combining Heterogeneous Social and Geographical Information for Event Recommendation</a:t>
                      </a:r>
                      <a:r>
                        <a:rPr lang="en-IN" sz="1400" dirty="0">
                          <a:solidFill>
                            <a:srgbClr val="FF0000"/>
                          </a:solidFill>
                          <a:latin typeface="Times New Roman" panose="02020603050405020304" pitchFamily="18" charset="0"/>
                          <a:cs typeface="Times New Roman" panose="02020603050405020304" pitchFamily="18" charset="0"/>
                        </a:rPr>
                        <a:t>, AAAI, 2014</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Social relationship </a:t>
                      </a:r>
                      <a:r>
                        <a:rPr lang="en-IN" sz="1400" dirty="0" err="1">
                          <a:solidFill>
                            <a:srgbClr val="FF0000"/>
                          </a:solidFill>
                          <a:latin typeface="Times New Roman" panose="02020603050405020304" pitchFamily="18" charset="0"/>
                          <a:cs typeface="Times New Roman" panose="02020603050405020304" pitchFamily="18" charset="0"/>
                        </a:rPr>
                        <a:t>modeling</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Geographical information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Implicit feedback</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Combines social and geographical factors to improve event recommendation.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Shows that contextual information can improve recommendation relevance.</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Geographical and social factors may not fully represent individual campus preferences.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Does not provide an integrated campus event-management platform</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solidFill>
                            <a:srgbClr val="FF0000"/>
                          </a:solidFill>
                          <a:latin typeface="Times New Roman" panose="02020603050405020304" pitchFamily="18" charset="0"/>
                          <a:cs typeface="Times New Roman" panose="02020603050405020304" pitchFamily="18" charset="0"/>
                        </a:rPr>
                        <a:t>Macedo et al. [3]</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b="1" dirty="0">
                          <a:solidFill>
                            <a:srgbClr val="FF0000"/>
                          </a:solidFill>
                          <a:latin typeface="Times New Roman" panose="02020603050405020304" pitchFamily="18" charset="0"/>
                          <a:cs typeface="Times New Roman" panose="02020603050405020304" pitchFamily="18" charset="0"/>
                        </a:rPr>
                        <a:t>Context-Aware Event Recommendation in Event-Based Social Networks</a:t>
                      </a:r>
                      <a:r>
                        <a:rPr lang="en-IN" sz="1400" dirty="0">
                          <a:solidFill>
                            <a:srgbClr val="FF0000"/>
                          </a:solidFill>
                          <a:latin typeface="Times New Roman" panose="02020603050405020304" pitchFamily="18" charset="0"/>
                          <a:cs typeface="Times New Roman" panose="02020603050405020304" pitchFamily="18" charset="0"/>
                        </a:rPr>
                        <a:t>, ACM </a:t>
                      </a:r>
                      <a:r>
                        <a:rPr lang="en-IN" sz="1400" dirty="0" err="1">
                          <a:solidFill>
                            <a:srgbClr val="FF0000"/>
                          </a:solidFill>
                          <a:latin typeface="Times New Roman" panose="02020603050405020304" pitchFamily="18" charset="0"/>
                          <a:cs typeface="Times New Roman" panose="02020603050405020304" pitchFamily="18" charset="0"/>
                        </a:rPr>
                        <a:t>RecSys</a:t>
                      </a:r>
                      <a:r>
                        <a:rPr lang="en-IN" sz="1400" dirty="0">
                          <a:solidFill>
                            <a:srgbClr val="FF0000"/>
                          </a:solidFill>
                          <a:latin typeface="Times New Roman" panose="02020603050405020304" pitchFamily="18" charset="0"/>
                          <a:cs typeface="Times New Roman" panose="02020603050405020304" pitchFamily="18" charset="0"/>
                        </a:rPr>
                        <a:t>, 2015</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Context-aware recommendation</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User preferences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Event context</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Cold-start handling</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Uses contextual information to improve event recommendations.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Addresses the difficulty of recommending newly created events with limited interaction history.</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solidFill>
                            <a:srgbClr val="FF0000"/>
                          </a:solidFill>
                          <a:latin typeface="Times New Roman" panose="02020603050405020304" pitchFamily="18" charset="0"/>
                          <a:cs typeface="Times New Roman" panose="02020603050405020304" pitchFamily="18" charset="0"/>
                        </a:rPr>
                        <a:t>• Designed for general event-based social networks.</a:t>
                      </a:r>
                      <a:br>
                        <a:rPr lang="en-IN" sz="1400" dirty="0">
                          <a:solidFill>
                            <a:srgbClr val="FF0000"/>
                          </a:solidFill>
                          <a:latin typeface="Times New Roman" panose="02020603050405020304" pitchFamily="18" charset="0"/>
                          <a:cs typeface="Times New Roman" panose="02020603050405020304" pitchFamily="18" charset="0"/>
                        </a:rPr>
                      </a:br>
                      <a:r>
                        <a:rPr lang="en-IN" sz="1400" dirty="0">
                          <a:solidFill>
                            <a:srgbClr val="FF0000"/>
                          </a:solidFill>
                          <a:latin typeface="Times New Roman" panose="02020603050405020304" pitchFamily="18" charset="0"/>
                          <a:cs typeface="Times New Roman" panose="02020603050405020304" pitchFamily="18" charset="0"/>
                        </a:rPr>
                        <a:t>• Institutional event administration and participation tracking are outside the scope.</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19742"/>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8ACA949-94C8-AD43-00D0-AA5FDFDE4766}"/>
              </a:ext>
            </a:extLst>
          </p:cNvPr>
          <p:cNvSpPr txBox="1"/>
          <p:nvPr/>
        </p:nvSpPr>
        <p:spPr>
          <a:xfrm>
            <a:off x="639097" y="1494503"/>
            <a:ext cx="10451690" cy="4524315"/>
          </a:xfrm>
          <a:prstGeom prst="rect">
            <a:avLst/>
          </a:prstGeom>
          <a:noFill/>
        </p:spPr>
        <p:txBody>
          <a:bodyPr wrap="square" rtlCol="0">
            <a:spAutoFit/>
          </a:bodyPr>
          <a:lstStyle/>
          <a:p>
            <a:r>
              <a:rPr lang="en-IN" b="1" dirty="0"/>
              <a:t>Existing Research</a:t>
            </a:r>
          </a:p>
          <a:p>
            <a:endParaRPr lang="en-IN" b="1" dirty="0"/>
          </a:p>
          <a:p>
            <a:pPr marL="285750" lvl="0" indent="-285750">
              <a:buFont typeface="Arial" panose="020B0604020202020204" pitchFamily="34" charset="0"/>
              <a:buChar char="•"/>
            </a:pPr>
            <a:r>
              <a:rPr lang="en-IN" dirty="0"/>
              <a:t>Existing studies focus mainly on event recommendation using social, geographical, contextual, and user-preference information. </a:t>
            </a:r>
          </a:p>
          <a:p>
            <a:pPr marL="285750" lvl="0" indent="-285750">
              <a:buFont typeface="Arial" panose="020B0604020202020204" pitchFamily="34" charset="0"/>
              <a:buChar char="•"/>
            </a:pPr>
            <a:r>
              <a:rPr lang="en-IN" dirty="0"/>
              <a:t>Context-aware approaches improve recommendation relevance and help address the cold-start problem for new events. </a:t>
            </a:r>
          </a:p>
          <a:p>
            <a:pPr marL="285750" lvl="0" indent="-285750">
              <a:buFont typeface="Arial" panose="020B0604020202020204" pitchFamily="34" charset="0"/>
              <a:buChar char="•"/>
            </a:pPr>
            <a:r>
              <a:rPr lang="en-IN" dirty="0"/>
              <a:t>Most research evaluates recommendation techniques as a standalone recommendation problem. </a:t>
            </a:r>
          </a:p>
          <a:p>
            <a:pPr lvl="0"/>
            <a:endParaRPr lang="en-IN" dirty="0"/>
          </a:p>
          <a:p>
            <a:r>
              <a:rPr lang="en-IN" b="1" dirty="0"/>
              <a:t>Identified Gap</a:t>
            </a:r>
          </a:p>
          <a:p>
            <a:endParaRPr lang="en-IN" b="1" dirty="0"/>
          </a:p>
          <a:p>
            <a:pPr marL="285750" lvl="0" indent="-285750">
              <a:buFont typeface="Arial" panose="020B0604020202020204" pitchFamily="34" charset="0"/>
              <a:buChar char="•"/>
            </a:pPr>
            <a:r>
              <a:rPr lang="en-IN" dirty="0"/>
              <a:t>Limited focus on campus-specific event management and student engagement. </a:t>
            </a:r>
          </a:p>
          <a:p>
            <a:pPr marL="285750" lvl="0" indent="-285750">
              <a:buFont typeface="Arial" panose="020B0604020202020204" pitchFamily="34" charset="0"/>
              <a:buChar char="•"/>
            </a:pPr>
            <a:r>
              <a:rPr lang="en-IN" dirty="0"/>
              <a:t>Event creation, discovery, registration, participation tracking, and recommendation are not integrated into one system. </a:t>
            </a:r>
          </a:p>
          <a:p>
            <a:pPr marL="285750" lvl="0" indent="-285750">
              <a:buFont typeface="Arial" panose="020B0604020202020204" pitchFamily="34" charset="0"/>
              <a:buChar char="•"/>
            </a:pPr>
            <a:r>
              <a:rPr lang="en-IN" dirty="0"/>
              <a:t>Existing approaches do not sufficiently address the requirements of a controlled institutional environment such as a college campus. </a:t>
            </a:r>
          </a:p>
          <a:p>
            <a:pPr marL="285750" lvl="0" indent="-285750">
              <a:buFont typeface="Arial" panose="020B0604020202020204" pitchFamily="34" charset="0"/>
              <a:buChar char="•"/>
            </a:pPr>
            <a:r>
              <a:rPr lang="en-IN" dirty="0"/>
              <a:t>There is a need to combine personalized event recommendation with centralized event management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00FE4CE-6B6D-7E79-99CF-5A723F2C1050}"/>
              </a:ext>
            </a:extLst>
          </p:cNvPr>
          <p:cNvSpPr txBox="1"/>
          <p:nvPr/>
        </p:nvSpPr>
        <p:spPr>
          <a:xfrm>
            <a:off x="816076" y="1474839"/>
            <a:ext cx="10087897" cy="4801314"/>
          </a:xfrm>
          <a:prstGeom prst="rect">
            <a:avLst/>
          </a:prstGeom>
          <a:noFill/>
        </p:spPr>
        <p:txBody>
          <a:bodyPr wrap="square" rtlCol="0">
            <a:spAutoFit/>
          </a:bodyPr>
          <a:lstStyle/>
          <a:p>
            <a:r>
              <a:rPr lang="en-IN" b="1" dirty="0"/>
              <a:t>Key Innovative Features</a:t>
            </a:r>
          </a:p>
          <a:p>
            <a:pPr marL="285750" lvl="0" indent="-285750">
              <a:buFont typeface="Arial" panose="020B0604020202020204" pitchFamily="34" charset="0"/>
              <a:buChar char="•"/>
            </a:pPr>
            <a:r>
              <a:rPr lang="en-IN" b="1" dirty="0"/>
              <a:t>AI-Based Personalized Recommendations</a:t>
            </a:r>
            <a:br>
              <a:rPr lang="en-IN" dirty="0"/>
            </a:br>
            <a:r>
              <a:rPr lang="en-IN" dirty="0"/>
              <a:t>Recommends relevant campus events based on student interests, preferences, and previous participation. </a:t>
            </a:r>
          </a:p>
          <a:p>
            <a:pPr marL="285750" lvl="0" indent="-285750">
              <a:buFont typeface="Arial" panose="020B0604020202020204" pitchFamily="34" charset="0"/>
              <a:buChar char="•"/>
            </a:pPr>
            <a:r>
              <a:rPr lang="en-IN" b="1" dirty="0"/>
              <a:t>Centralized Event Management</a:t>
            </a:r>
            <a:br>
              <a:rPr lang="en-IN" dirty="0"/>
            </a:br>
            <a:r>
              <a:rPr lang="en-IN" dirty="0"/>
              <a:t>Combines event creation, discovery, registration, updates, and participation tracking in a single platform. </a:t>
            </a:r>
          </a:p>
          <a:p>
            <a:pPr marL="285750" lvl="0" indent="-285750">
              <a:buFont typeface="Arial" panose="020B0604020202020204" pitchFamily="34" charset="0"/>
              <a:buChar char="•"/>
            </a:pPr>
            <a:r>
              <a:rPr lang="en-IN" b="1" dirty="0"/>
              <a:t>Context-Aware Event Ranking</a:t>
            </a:r>
            <a:br>
              <a:rPr lang="en-IN" dirty="0"/>
            </a:br>
            <a:r>
              <a:rPr lang="en-IN" dirty="0"/>
              <a:t>Considers factors such as event category, student interests, timing, and participation history to improve recommendations. </a:t>
            </a:r>
          </a:p>
          <a:p>
            <a:pPr marL="285750" lvl="0" indent="-285750">
              <a:buFont typeface="Arial" panose="020B0604020202020204" pitchFamily="34" charset="0"/>
              <a:buChar char="•"/>
            </a:pPr>
            <a:r>
              <a:rPr lang="en-IN" b="1" dirty="0"/>
              <a:t>New-Event Recommendation</a:t>
            </a:r>
            <a:br>
              <a:rPr lang="en-IN" dirty="0"/>
            </a:br>
            <a:r>
              <a:rPr lang="en-IN" dirty="0"/>
              <a:t>Uses event attributes and content to recommend newly created events even when sufficient historical participation data is unavailable. </a:t>
            </a:r>
          </a:p>
          <a:p>
            <a:pPr marL="285750" lvl="0" indent="-285750">
              <a:buFont typeface="Arial" panose="020B0604020202020204" pitchFamily="34" charset="0"/>
              <a:buChar char="•"/>
            </a:pPr>
            <a:r>
              <a:rPr lang="en-IN" b="1" dirty="0"/>
              <a:t>Student Engagement Analytics</a:t>
            </a:r>
            <a:br>
              <a:rPr lang="en-IN" dirty="0"/>
            </a:br>
            <a:r>
              <a:rPr lang="en-IN" dirty="0" err="1"/>
              <a:t>Analyzes</a:t>
            </a:r>
            <a:r>
              <a:rPr lang="en-IN" dirty="0"/>
              <a:t> registrations and participation patterns to provide useful insights for event organizers. </a:t>
            </a:r>
          </a:p>
          <a:p>
            <a:pPr marL="285750" lvl="0" indent="-285750">
              <a:buFont typeface="Arial" panose="020B0604020202020204" pitchFamily="34" charset="0"/>
              <a:buChar char="•"/>
            </a:pPr>
            <a:r>
              <a:rPr lang="en-IN" b="1" dirty="0"/>
              <a:t>Scalable Campus Architecture</a:t>
            </a:r>
            <a:br>
              <a:rPr lang="en-IN" dirty="0"/>
            </a:br>
            <a:r>
              <a:rPr lang="en-IN" dirty="0"/>
              <a:t>The modular design can be extended from a single campus to multiple colleges or institutions.</a:t>
            </a:r>
          </a:p>
        </p:txBody>
      </p:sp>
      <p:pic>
        <p:nvPicPr>
          <p:cNvPr id="6" name="Picture 5">
            <a:extLst>
              <a:ext uri="{FF2B5EF4-FFF2-40B4-BE49-F238E27FC236}">
                <a16:creationId xmlns:a16="http://schemas.microsoft.com/office/drawing/2014/main" id="{F356C823-5136-D509-9130-4584E0EB8D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787" y="0"/>
            <a:ext cx="10166555" cy="6858000"/>
          </a:xfrm>
          <a:prstGeom prst="rect">
            <a:avLst/>
          </a:prstGeom>
        </p:spPr>
      </p:pic>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096000" y="311275"/>
            <a:ext cx="8000000" cy="646331"/>
          </a:xfrm>
          <a:prstGeom prst="rect">
            <a:avLst/>
          </a:prstGeom>
          <a:noFill/>
        </p:spPr>
        <p:txBody>
          <a:bodyPr wrap="square">
            <a:spAutoFit/>
          </a:bodyPr>
          <a:lstStyle/>
          <a:p>
            <a:pPr algn="ctr"/>
            <a:r>
              <a:rPr lang="en-US" sz="3600" b="1" dirty="0"/>
              <a:t>Progress Since Review-1</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00E20CA-D13B-AC16-6DCD-0DAE1F09F4A0}"/>
              </a:ext>
            </a:extLst>
          </p:cNvPr>
          <p:cNvSpPr txBox="1"/>
          <p:nvPr/>
        </p:nvSpPr>
        <p:spPr>
          <a:xfrm>
            <a:off x="648929" y="948690"/>
            <a:ext cx="10137058" cy="5355312"/>
          </a:xfrm>
          <a:prstGeom prst="rect">
            <a:avLst/>
          </a:prstGeom>
          <a:noFill/>
        </p:spPr>
        <p:txBody>
          <a:bodyPr wrap="square" rtlCol="0">
            <a:spAutoFit/>
          </a:bodyPr>
          <a:lstStyle/>
          <a:p>
            <a:r>
              <a:rPr lang="en-IN" b="1" dirty="0"/>
              <a:t>Completed Since Review-1</a:t>
            </a:r>
          </a:p>
          <a:p>
            <a:pPr marL="742950" lvl="1" indent="-285750">
              <a:buFont typeface="Arial" panose="020B0604020202020204" pitchFamily="34" charset="0"/>
              <a:buChar char="•"/>
            </a:pPr>
            <a:r>
              <a:rPr lang="en-IN" dirty="0"/>
              <a:t>Generated and structured three core datasets — Attendance, Events, and Interactions — that will train and evaluate the recommendation engine. </a:t>
            </a:r>
          </a:p>
          <a:p>
            <a:pPr marL="742950" lvl="1" indent="-285750">
              <a:buFont typeface="Arial" panose="020B0604020202020204" pitchFamily="34" charset="0"/>
              <a:buChar char="•"/>
            </a:pPr>
            <a:r>
              <a:rPr lang="en-IN" dirty="0"/>
              <a:t>Implemented the AI recommendation engine using sentence-transformer embeddings (all-MiniLM-L6-v2) with cosine similarity, plus a survey-based cold-start path for new users. </a:t>
            </a:r>
          </a:p>
          <a:p>
            <a:pPr marL="742950" lvl="1" indent="-285750">
              <a:buFont typeface="Arial" panose="020B0604020202020204" pitchFamily="34" charset="0"/>
              <a:buChar char="•"/>
            </a:pPr>
            <a:r>
              <a:rPr lang="en-IN" dirty="0"/>
              <a:t>Built and deployed a functional front-end (CampusConnect) covering the landing page and the interest/event-mode onboarding flow. </a:t>
            </a:r>
          </a:p>
          <a:p>
            <a:pPr marL="742950" lvl="1" indent="-285750">
              <a:buFont typeface="Arial" panose="020B0604020202020204" pitchFamily="34" charset="0"/>
              <a:buChar char="•"/>
            </a:pPr>
            <a:r>
              <a:rPr lang="en-IN" dirty="0"/>
              <a:t>Verified end-to-end user flow: interest capture → event-mode preference → personalized recommendations, running locally end to end. </a:t>
            </a:r>
          </a:p>
          <a:p>
            <a:pPr marL="742950" lvl="1" indent="-285750">
              <a:buFont typeface="Arial" panose="020B0604020202020204" pitchFamily="34" charset="0"/>
              <a:buChar char="•"/>
            </a:pPr>
            <a:endParaRPr lang="en-IN" dirty="0"/>
          </a:p>
          <a:p>
            <a:r>
              <a:rPr lang="en-IN" b="1" dirty="0"/>
              <a:t>Planned for Review-2</a:t>
            </a:r>
          </a:p>
          <a:p>
            <a:pPr marL="742950" lvl="1" indent="-285750">
              <a:buFont typeface="Arial" panose="020B0604020202020204" pitchFamily="34" charset="0"/>
              <a:buChar char="•"/>
            </a:pPr>
            <a:r>
              <a:rPr lang="en-IN" dirty="0"/>
              <a:t>Complete the organizer and administrator modules (event creation, registration management, participation tracking). </a:t>
            </a:r>
          </a:p>
          <a:p>
            <a:pPr marL="742950" lvl="1" indent="-285750">
              <a:buFont typeface="Arial" panose="020B0604020202020204" pitchFamily="34" charset="0"/>
              <a:buChar char="•"/>
            </a:pPr>
            <a:r>
              <a:rPr lang="en-IN" dirty="0"/>
              <a:t>Evaluate recommendation accuracy, response time, and user satisfaction against the defined metrics. </a:t>
            </a:r>
          </a:p>
          <a:p>
            <a:pPr marL="742950" lvl="1" indent="-285750">
              <a:buFont typeface="Arial" panose="020B0604020202020204" pitchFamily="34" charset="0"/>
              <a:buChar char="•"/>
            </a:pPr>
            <a:r>
              <a:rPr lang="en-IN" dirty="0"/>
              <a:t>Finalize documentation and prepare the reproducible workflow for final submission.</a:t>
            </a:r>
          </a:p>
        </p:txBody>
      </p:sp>
    </p:spTree>
    <p:extLst>
      <p:ext uri="{BB962C8B-B14F-4D97-AF65-F5344CB8AC3E}">
        <p14:creationId xmlns:p14="http://schemas.microsoft.com/office/powerpoint/2010/main" val="3917782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txBox="1"/>
          <p:nvPr/>
        </p:nvSpPr>
        <p:spPr>
          <a:xfrm>
            <a:off x="648929" y="311275"/>
            <a:ext cx="9300000" cy="646331"/>
          </a:xfrm>
          <a:prstGeom prst="rect">
            <a:avLst/>
          </a:prstGeom>
          <a:noFill/>
        </p:spPr>
        <p:txBody>
          <a:bodyPr wrap="square">
            <a:spAutoFit/>
          </a:bodyPr>
          <a:lstStyle/>
          <a:p>
            <a:r>
              <a:rPr lang="en-US" sz="3200" b="1" dirty="0"/>
              <a:t>Dataset Details — Attendance</a:t>
            </a:r>
          </a:p>
        </p:txBody>
      </p:sp>
      <p:pic>
        <p:nvPicPr>
          <p:cNvPr id="3" name="Logo"/>
          <p:cNvPicPr>
            <a:picLocks noChangeAspect="1"/>
          </p:cNvPicPr>
          <p:nvPr/>
        </p:nvPicPr>
        <p:blipFill>
          <a:blip r:embed="rId2"/>
          <a:stretch>
            <a:fillRect/>
          </a:stretch>
        </p:blipFill>
        <p:spPr>
          <a:xfrm>
            <a:off x="10249380" y="0"/>
            <a:ext cx="1942620" cy="622550"/>
          </a:xfrm>
          <a:prstGeom prst="rect">
            <a:avLst/>
          </a:prstGeom>
        </p:spPr>
      </p:pic>
      <p:pic>
        <p:nvPicPr>
          <p:cNvPr id="4" name="ContentImage"/>
          <p:cNvPicPr>
            <a:picLocks noChangeAspect="1"/>
          </p:cNvPicPr>
          <p:nvPr/>
        </p:nvPicPr>
        <p:blipFill>
          <a:blip r:embed="rId3"/>
          <a:stretch>
            <a:fillRect/>
          </a:stretch>
        </p:blipFill>
        <p:spPr>
          <a:xfrm>
            <a:off x="450000" y="1060000"/>
            <a:ext cx="7100000" cy="4733333"/>
          </a:xfrm>
          <a:prstGeom prst="rect">
            <a:avLst/>
          </a:prstGeom>
          <a:ln w="12700">
            <a:solidFill>
              <a:srgbClr val="D9D9D9"/>
            </a:solidFill>
          </a:ln>
        </p:spPr>
      </p:pic>
      <p:sp>
        <p:nvSpPr>
          <p:cNvPr id="5" name="Panel"/>
          <p:cNvSpPr/>
          <p:nvPr/>
        </p:nvSpPr>
        <p:spPr>
          <a:xfrm>
            <a:off x="7780000" y="1060000"/>
            <a:ext cx="3962000" cy="5320000"/>
          </a:xfrm>
          <a:prstGeom prst="roundRect">
            <a:avLst>
              <a:gd name="adj" fmla="val 4000"/>
            </a:avLst>
          </a:prstGeom>
          <a:solidFill>
            <a:srgbClr val="1E2761"/>
          </a:solidFill>
          <a:ln>
            <a:noFill/>
          </a:ln>
        </p:spPr>
        <p:txBody>
          <a:bodyPr wrap="square" lIns="228600" tIns="228600" rIns="228600" bIns="228600" anchor="t">
            <a:normAutofit/>
          </a:bodyPr>
          <a:lstStyle/>
          <a:p>
            <a:pPr marL="0" indent="0">
              <a:buNone/>
            </a:pPr>
            <a:r>
              <a:rPr lang="en-US" sz="1800" b="1" dirty="0">
                <a:solidFill>
                  <a:srgbClr val="FFFFFF"/>
                </a:solidFill>
              </a:rPr>
              <a:t>Attendance Dataset</a:t>
            </a:r>
          </a:p>
          <a:p>
            <a:pPr marL="285750" indent="-285750">
              <a:buFont typeface="Arial" panose="020B0604020202020204" pitchFamily="34" charset="0"/>
              <a:buChar char="•"/>
            </a:pPr>
            <a:r>
              <a:rPr lang="en-US" sz="1500" dirty="0">
                <a:solidFill>
                  <a:srgbClr val="E8ECF7"/>
                </a:solidFill>
              </a:rPr>
              <a:t>Logs entry and exit activity for every student against each event using QR-based verification.</a:t>
            </a:r>
          </a:p>
          <a:p>
            <a:pPr marL="285750" indent="-285750">
              <a:buFont typeface="Arial" panose="020B0604020202020204" pitchFamily="34" charset="0"/>
              <a:buChar char="•"/>
            </a:pPr>
            <a:r>
              <a:rPr lang="en-US" sz="1500" dirty="0">
                <a:solidFill>
                  <a:srgbClr val="E8ECF7"/>
                </a:solidFill>
              </a:rPr>
              <a:t>Key fields: attendance_id, user_id, event_id, entry_time, exit_time, entry_verified, exit_verified, attendance_confirmed, sil_credit.</a:t>
            </a:r>
          </a:p>
          <a:p>
            <a:pPr marL="285750" indent="-285750">
              <a:buFont typeface="Arial" panose="020B0604020202020204" pitchFamily="34" charset="0"/>
              <a:buChar char="•"/>
            </a:pPr>
            <a:r>
              <a:rPr lang="en-US" sz="1500" dirty="0">
                <a:solidFill>
                  <a:srgbClr val="E8ECF7"/>
                </a:solidFill>
              </a:rPr>
              <a:t>Dual entry/exit verification flags let the system confirm genuine, full-duration participation, not just a sign-in.</a:t>
            </a:r>
          </a:p>
          <a:p>
            <a:pPr marL="285750" indent="-285750">
              <a:buFont typeface="Arial" panose="020B0604020202020204" pitchFamily="34" charset="0"/>
              <a:buChar char="•"/>
            </a:pPr>
            <a:r>
              <a:rPr lang="en-US" sz="1500" dirty="0">
                <a:solidFill>
                  <a:srgbClr val="E8ECF7"/>
                </a:solidFill>
              </a:rPr>
              <a:t>Feeds the “attended” signal used downstream by the interaction and recommendation datasets.</a:t>
            </a:r>
          </a:p>
        </p:txBody>
      </p:sp>
    </p:spTree>
    <p:extLst>
      <p:ext uri="{BB962C8B-B14F-4D97-AF65-F5344CB8AC3E}">
        <p14:creationId xmlns:p14="http://schemas.microsoft.com/office/powerpoint/2010/main" val="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txBox="1"/>
          <p:nvPr/>
        </p:nvSpPr>
        <p:spPr>
          <a:xfrm>
            <a:off x="648929" y="311275"/>
            <a:ext cx="9300000" cy="646331"/>
          </a:xfrm>
          <a:prstGeom prst="rect">
            <a:avLst/>
          </a:prstGeom>
          <a:noFill/>
        </p:spPr>
        <p:txBody>
          <a:bodyPr wrap="square">
            <a:spAutoFit/>
          </a:bodyPr>
          <a:lstStyle/>
          <a:p>
            <a:r>
              <a:rPr lang="en-US" sz="3200" b="1" dirty="0"/>
              <a:t>Dataset Details — Events</a:t>
            </a:r>
          </a:p>
        </p:txBody>
      </p:sp>
      <p:pic>
        <p:nvPicPr>
          <p:cNvPr id="3" name="Logo"/>
          <p:cNvPicPr>
            <a:picLocks noChangeAspect="1"/>
          </p:cNvPicPr>
          <p:nvPr/>
        </p:nvPicPr>
        <p:blipFill>
          <a:blip r:embed="rId2"/>
          <a:stretch>
            <a:fillRect/>
          </a:stretch>
        </p:blipFill>
        <p:spPr>
          <a:xfrm>
            <a:off x="10249380" y="0"/>
            <a:ext cx="1942620" cy="622550"/>
          </a:xfrm>
          <a:prstGeom prst="rect">
            <a:avLst/>
          </a:prstGeom>
        </p:spPr>
      </p:pic>
      <p:pic>
        <p:nvPicPr>
          <p:cNvPr id="4" name="ContentImage"/>
          <p:cNvPicPr>
            <a:picLocks noChangeAspect="1"/>
          </p:cNvPicPr>
          <p:nvPr/>
        </p:nvPicPr>
        <p:blipFill>
          <a:blip r:embed="rId3"/>
          <a:stretch>
            <a:fillRect/>
          </a:stretch>
        </p:blipFill>
        <p:spPr>
          <a:xfrm>
            <a:off x="450000" y="1060000"/>
            <a:ext cx="7100000" cy="2945390"/>
          </a:xfrm>
          <a:prstGeom prst="rect">
            <a:avLst/>
          </a:prstGeom>
          <a:ln w="12700">
            <a:solidFill>
              <a:srgbClr val="D9D9D9"/>
            </a:solidFill>
          </a:ln>
        </p:spPr>
      </p:pic>
      <p:sp>
        <p:nvSpPr>
          <p:cNvPr id="5" name="Panel"/>
          <p:cNvSpPr/>
          <p:nvPr/>
        </p:nvSpPr>
        <p:spPr>
          <a:xfrm>
            <a:off x="7780000" y="1060000"/>
            <a:ext cx="3962000" cy="5320000"/>
          </a:xfrm>
          <a:prstGeom prst="roundRect">
            <a:avLst>
              <a:gd name="adj" fmla="val 4000"/>
            </a:avLst>
          </a:prstGeom>
          <a:solidFill>
            <a:srgbClr val="1E2761"/>
          </a:solidFill>
          <a:ln>
            <a:noFill/>
          </a:ln>
        </p:spPr>
        <p:txBody>
          <a:bodyPr wrap="square" lIns="228600" tIns="228600" rIns="228600" bIns="228600" anchor="t">
            <a:normAutofit/>
          </a:bodyPr>
          <a:lstStyle/>
          <a:p>
            <a:pPr marL="0" indent="0">
              <a:buNone/>
            </a:pPr>
            <a:r>
              <a:rPr lang="en-US" sz="1800" b="1" dirty="0">
                <a:solidFill>
                  <a:srgbClr val="FFFFFF"/>
                </a:solidFill>
              </a:rPr>
              <a:t>Events Dataset</a:t>
            </a:r>
          </a:p>
          <a:p>
            <a:pPr marL="285750" indent="-285750">
              <a:buFont typeface="Arial" panose="020B0604020202020204" pitchFamily="34" charset="0"/>
              <a:buChar char="•"/>
            </a:pPr>
            <a:r>
              <a:rPr lang="en-US" sz="1500" dirty="0">
                <a:solidFill>
                  <a:srgbClr val="E8ECF7"/>
                </a:solidFill>
              </a:rPr>
              <a:t>Captures full event metadata: title, description, category, tags, mode (online/offline/hybrid), schedule, and capacity.</a:t>
            </a:r>
          </a:p>
          <a:p>
            <a:pPr marL="285750" indent="-285750">
              <a:buFont typeface="Arial" panose="020B0604020202020204" pitchFamily="34" charset="0"/>
              <a:buChar char="•"/>
            </a:pPr>
            <a:r>
              <a:rPr lang="en-US" sz="1500" dirty="0">
                <a:solidFill>
                  <a:srgbClr val="E8ECF7"/>
                </a:solidFill>
              </a:rPr>
              <a:t>Spans a wide category mix — hackathons, workshops, technical talks, cultural, sports, placements, and startup/pitch events.</a:t>
            </a:r>
          </a:p>
          <a:p>
            <a:pPr marL="285750" indent="-285750">
              <a:buFont typeface="Arial" panose="020B0604020202020204" pitchFamily="34" charset="0"/>
              <a:buChar char="•"/>
            </a:pPr>
            <a:r>
              <a:rPr lang="en-US" sz="1500" dirty="0">
                <a:solidFill>
                  <a:srgbClr val="E8ECF7"/>
                </a:solidFill>
              </a:rPr>
              <a:t>Each event is linked to an organizer (ACM India, IEEE, HackClub, NASSCOM, Microsoft Learn, and others) and a college-specific flag.</a:t>
            </a:r>
          </a:p>
          <a:p>
            <a:pPr marL="285750" indent="-285750">
              <a:buFont typeface="Arial" panose="020B0604020202020204" pitchFamily="34" charset="0"/>
              <a:buChar char="•"/>
            </a:pPr>
            <a:r>
              <a:rPr lang="en-US" sz="1500" dirty="0">
                <a:solidFill>
                  <a:srgbClr val="E8ECF7"/>
                </a:solidFill>
              </a:rPr>
              <a:t>Content-rich fields (title, description, tags) are what the recommendation engine embeds for similarity matching.</a:t>
            </a:r>
          </a:p>
        </p:txBody>
      </p:sp>
    </p:spTree>
    <p:extLst>
      <p:ext uri="{BB962C8B-B14F-4D97-AF65-F5344CB8AC3E}">
        <p14:creationId xmlns:p14="http://schemas.microsoft.com/office/powerpoint/2010/main" val="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txBox="1"/>
          <p:nvPr/>
        </p:nvSpPr>
        <p:spPr>
          <a:xfrm>
            <a:off x="648929" y="311275"/>
            <a:ext cx="9300000" cy="646331"/>
          </a:xfrm>
          <a:prstGeom prst="rect">
            <a:avLst/>
          </a:prstGeom>
          <a:noFill/>
        </p:spPr>
        <p:txBody>
          <a:bodyPr wrap="square">
            <a:spAutoFit/>
          </a:bodyPr>
          <a:lstStyle/>
          <a:p>
            <a:r>
              <a:rPr lang="en-US" sz="3200" b="1" dirty="0"/>
              <a:t>Dataset Details — Interactions</a:t>
            </a:r>
          </a:p>
        </p:txBody>
      </p:sp>
      <p:pic>
        <p:nvPicPr>
          <p:cNvPr id="3" name="Logo"/>
          <p:cNvPicPr>
            <a:picLocks noChangeAspect="1"/>
          </p:cNvPicPr>
          <p:nvPr/>
        </p:nvPicPr>
        <p:blipFill>
          <a:blip r:embed="rId2"/>
          <a:stretch>
            <a:fillRect/>
          </a:stretch>
        </p:blipFill>
        <p:spPr>
          <a:xfrm>
            <a:off x="10249380" y="0"/>
            <a:ext cx="1942620" cy="622550"/>
          </a:xfrm>
          <a:prstGeom prst="rect">
            <a:avLst/>
          </a:prstGeom>
        </p:spPr>
      </p:pic>
      <p:pic>
        <p:nvPicPr>
          <p:cNvPr id="4" name="ContentImage"/>
          <p:cNvPicPr>
            <a:picLocks noChangeAspect="1"/>
          </p:cNvPicPr>
          <p:nvPr/>
        </p:nvPicPr>
        <p:blipFill>
          <a:blip r:embed="rId3"/>
          <a:stretch>
            <a:fillRect/>
          </a:stretch>
        </p:blipFill>
        <p:spPr>
          <a:xfrm>
            <a:off x="1569670" y="1060000"/>
            <a:ext cx="4860659" cy="5320000"/>
          </a:xfrm>
          <a:prstGeom prst="rect">
            <a:avLst/>
          </a:prstGeom>
          <a:ln w="12700">
            <a:solidFill>
              <a:srgbClr val="D9D9D9"/>
            </a:solidFill>
          </a:ln>
        </p:spPr>
      </p:pic>
      <p:sp>
        <p:nvSpPr>
          <p:cNvPr id="5" name="Panel"/>
          <p:cNvSpPr/>
          <p:nvPr/>
        </p:nvSpPr>
        <p:spPr>
          <a:xfrm>
            <a:off x="7780000" y="1060000"/>
            <a:ext cx="3962000" cy="5320000"/>
          </a:xfrm>
          <a:prstGeom prst="roundRect">
            <a:avLst>
              <a:gd name="adj" fmla="val 4000"/>
            </a:avLst>
          </a:prstGeom>
          <a:solidFill>
            <a:srgbClr val="1E2761"/>
          </a:solidFill>
          <a:ln>
            <a:noFill/>
          </a:ln>
        </p:spPr>
        <p:txBody>
          <a:bodyPr wrap="square" lIns="228600" tIns="228600" rIns="228600" bIns="228600" anchor="t">
            <a:normAutofit/>
          </a:bodyPr>
          <a:lstStyle/>
          <a:p>
            <a:pPr marL="0" indent="0">
              <a:buNone/>
            </a:pPr>
            <a:r>
              <a:rPr lang="en-US" sz="1800" b="1" dirty="0">
                <a:solidFill>
                  <a:srgbClr val="FFFFFF"/>
                </a:solidFill>
              </a:rPr>
              <a:t>Interactions Dataset</a:t>
            </a:r>
          </a:p>
          <a:p>
            <a:pPr marL="285750" indent="-285750">
              <a:buFont typeface="Arial" panose="020B0604020202020204" pitchFamily="34" charset="0"/>
              <a:buChar char="•"/>
            </a:pPr>
            <a:r>
              <a:rPr lang="en-US" sz="1500" dirty="0">
                <a:solidFill>
                  <a:srgbClr val="E8ECF7"/>
                </a:solidFill>
              </a:rPr>
              <a:t>Tracks each user's engagement funnel per event through four boolean flags: viewed, saved, registered, attended.</a:t>
            </a:r>
          </a:p>
          <a:p>
            <a:pPr marL="285750" indent="-285750">
              <a:buFont typeface="Arial" panose="020B0604020202020204" pitchFamily="34" charset="0"/>
              <a:buChar char="•"/>
            </a:pPr>
            <a:r>
              <a:rPr lang="en-US" sz="1500" dirty="0">
                <a:solidFill>
                  <a:srgbClr val="E8ECF7"/>
                </a:solidFill>
              </a:rPr>
              <a:t>Implicit signals (viewed, saved) combine with explicit signals (registered, attended) to describe real interest.</a:t>
            </a:r>
          </a:p>
          <a:p>
            <a:pPr marL="285750" indent="-285750">
              <a:buFont typeface="Arial" panose="020B0604020202020204" pitchFamily="34" charset="0"/>
              <a:buChar char="•"/>
            </a:pPr>
            <a:r>
              <a:rPr lang="en-US" sz="1500" dirty="0">
                <a:solidFill>
                  <a:srgbClr val="E8ECF7"/>
                </a:solidFill>
              </a:rPr>
              <a:t>Forms the core training signal for the AI recommendation engine, paired with the interaction-weighting scheme.</a:t>
            </a:r>
          </a:p>
          <a:p>
            <a:pPr marL="285750" indent="-285750">
              <a:buFont typeface="Arial" panose="020B0604020202020204" pitchFamily="34" charset="0"/>
              <a:buChar char="•"/>
            </a:pPr>
            <a:r>
              <a:rPr lang="en-US" sz="1500" dirty="0">
                <a:solidFill>
                  <a:srgbClr val="E8ECF7"/>
                </a:solidFill>
              </a:rPr>
              <a:t>Links directly to the Attendance and Events datasets via shared user_id and event_id keys.</a:t>
            </a:r>
          </a:p>
        </p:txBody>
      </p:sp>
    </p:spTree>
    <p:extLst>
      <p:ext uri="{BB962C8B-B14F-4D97-AF65-F5344CB8AC3E}">
        <p14:creationId xmlns:p14="http://schemas.microsoft.com/office/powerpoint/2010/main" val="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txBox="1"/>
          <p:nvPr/>
        </p:nvSpPr>
        <p:spPr>
          <a:xfrm>
            <a:off x="648929" y="311275"/>
            <a:ext cx="9300000" cy="646331"/>
          </a:xfrm>
          <a:prstGeom prst="rect">
            <a:avLst/>
          </a:prstGeom>
          <a:noFill/>
        </p:spPr>
        <p:txBody>
          <a:bodyPr wrap="square">
            <a:spAutoFit/>
          </a:bodyPr>
          <a:lstStyle/>
          <a:p>
            <a:r>
              <a:rPr lang="en-US" sz="2800" b="1" dirty="0"/>
              <a:t>Front-End Implementation — Home Page</a:t>
            </a:r>
          </a:p>
        </p:txBody>
      </p:sp>
      <p:pic>
        <p:nvPicPr>
          <p:cNvPr id="3" name="Logo"/>
          <p:cNvPicPr>
            <a:picLocks noChangeAspect="1"/>
          </p:cNvPicPr>
          <p:nvPr/>
        </p:nvPicPr>
        <p:blipFill>
          <a:blip r:embed="rId2"/>
          <a:stretch>
            <a:fillRect/>
          </a:stretch>
        </p:blipFill>
        <p:spPr>
          <a:xfrm>
            <a:off x="10249380" y="0"/>
            <a:ext cx="1942620" cy="622550"/>
          </a:xfrm>
          <a:prstGeom prst="rect">
            <a:avLst/>
          </a:prstGeom>
        </p:spPr>
      </p:pic>
      <p:pic>
        <p:nvPicPr>
          <p:cNvPr id="4" name="ContentImage"/>
          <p:cNvPicPr>
            <a:picLocks noChangeAspect="1"/>
          </p:cNvPicPr>
          <p:nvPr/>
        </p:nvPicPr>
        <p:blipFill>
          <a:blip r:embed="rId3"/>
          <a:stretch>
            <a:fillRect/>
          </a:stretch>
        </p:blipFill>
        <p:spPr>
          <a:xfrm>
            <a:off x="450000" y="1060000"/>
            <a:ext cx="7100000" cy="3993750"/>
          </a:xfrm>
          <a:prstGeom prst="rect">
            <a:avLst/>
          </a:prstGeom>
          <a:ln w="12700">
            <a:solidFill>
              <a:srgbClr val="D9D9D9"/>
            </a:solidFill>
          </a:ln>
        </p:spPr>
      </p:pic>
      <p:sp>
        <p:nvSpPr>
          <p:cNvPr id="5" name="Panel"/>
          <p:cNvSpPr/>
          <p:nvPr/>
        </p:nvSpPr>
        <p:spPr>
          <a:xfrm>
            <a:off x="7780000" y="1060000"/>
            <a:ext cx="3962000" cy="5320000"/>
          </a:xfrm>
          <a:prstGeom prst="roundRect">
            <a:avLst>
              <a:gd name="adj" fmla="val 4000"/>
            </a:avLst>
          </a:prstGeom>
          <a:solidFill>
            <a:srgbClr val="1E2761"/>
          </a:solidFill>
          <a:ln>
            <a:noFill/>
          </a:ln>
        </p:spPr>
        <p:txBody>
          <a:bodyPr wrap="square" lIns="228600" tIns="228600" rIns="228600" bIns="228600" anchor="t">
            <a:normAutofit/>
          </a:bodyPr>
          <a:lstStyle/>
          <a:p>
            <a:pPr marL="0" indent="0">
              <a:buNone/>
            </a:pPr>
            <a:r>
              <a:rPr lang="en-US" sz="1800" b="1" dirty="0">
                <a:solidFill>
                  <a:srgbClr val="FFFFFF"/>
                </a:solidFill>
              </a:rPr>
              <a:t>Home Page</a:t>
            </a:r>
          </a:p>
          <a:p>
            <a:pPr marL="285750" indent="-285750">
              <a:buFont typeface="Arial" panose="020B0604020202020204" pitchFamily="34" charset="0"/>
              <a:buChar char="•"/>
            </a:pPr>
            <a:r>
              <a:rPr lang="en-US" sz="1500" dirty="0">
                <a:solidFill>
                  <a:srgbClr val="E8ECF7"/>
                </a:solidFill>
              </a:rPr>
              <a:t>Landing page for CampusConnect, the AI-powered event platform built for KL University.</a:t>
            </a:r>
          </a:p>
          <a:p>
            <a:pPr marL="285750" indent="-285750">
              <a:buFont typeface="Arial" panose="020B0604020202020204" pitchFamily="34" charset="0"/>
              <a:buChar char="•"/>
            </a:pPr>
            <a:r>
              <a:rPr lang="en-US" sz="1500" dirty="0">
                <a:solidFill>
                  <a:srgbClr val="E8ECF7"/>
                </a:solidFill>
              </a:rPr>
              <a:t>Surfaces platform scale at a glance: 100+ events, 25+ categories, 2-step QR attendance, AI-powered recommendations.</a:t>
            </a:r>
          </a:p>
          <a:p>
            <a:pPr marL="285750" indent="-285750">
              <a:buFont typeface="Arial" panose="020B0604020202020204" pitchFamily="34" charset="0"/>
              <a:buChar char="•"/>
            </a:pPr>
            <a:r>
              <a:rPr lang="en-US" sz="1500" dirty="0">
                <a:solidFill>
                  <a:srgbClr val="E8ECF7"/>
                </a:solidFill>
              </a:rPr>
              <a:t>Primary calls to action — “Explore Events” and “Join Your College” — route new users straight into the funnel.</a:t>
            </a:r>
          </a:p>
          <a:p>
            <a:pPr marL="285750" indent="-285750">
              <a:buFont typeface="Arial" panose="020B0604020202020204" pitchFamily="34" charset="0"/>
              <a:buChar char="•"/>
            </a:pPr>
            <a:r>
              <a:rPr lang="en-US" sz="1500" dirty="0">
                <a:solidFill>
                  <a:srgbClr val="E8ECF7"/>
                </a:solidFill>
              </a:rPr>
              <a:t>Running end to end on a local dev server, confirming the front end is functional and demo-ready.</a:t>
            </a:r>
          </a:p>
        </p:txBody>
      </p:sp>
    </p:spTree>
    <p:extLst>
      <p:ext uri="{BB962C8B-B14F-4D97-AF65-F5344CB8AC3E}">
        <p14:creationId xmlns:p14="http://schemas.microsoft.com/office/powerpoint/2010/main" val="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txBox="1"/>
          <p:nvPr/>
        </p:nvSpPr>
        <p:spPr>
          <a:xfrm>
            <a:off x="648929" y="311275"/>
            <a:ext cx="9300000" cy="646331"/>
          </a:xfrm>
          <a:prstGeom prst="rect">
            <a:avLst/>
          </a:prstGeom>
          <a:noFill/>
        </p:spPr>
        <p:txBody>
          <a:bodyPr wrap="square">
            <a:spAutoFit/>
          </a:bodyPr>
          <a:lstStyle/>
          <a:p>
            <a:r>
              <a:rPr lang="en-US" sz="2800" b="1" dirty="0"/>
              <a:t>Front-End Implementation — Event Personalization</a:t>
            </a:r>
          </a:p>
        </p:txBody>
      </p:sp>
      <p:pic>
        <p:nvPicPr>
          <p:cNvPr id="3" name="Logo"/>
          <p:cNvPicPr>
            <a:picLocks noChangeAspect="1"/>
          </p:cNvPicPr>
          <p:nvPr/>
        </p:nvPicPr>
        <p:blipFill>
          <a:blip r:embed="rId2"/>
          <a:stretch>
            <a:fillRect/>
          </a:stretch>
        </p:blipFill>
        <p:spPr>
          <a:xfrm>
            <a:off x="10249380" y="0"/>
            <a:ext cx="1942620" cy="622550"/>
          </a:xfrm>
          <a:prstGeom prst="rect">
            <a:avLst/>
          </a:prstGeom>
        </p:spPr>
      </p:pic>
      <p:pic>
        <p:nvPicPr>
          <p:cNvPr id="4" name="ContentImage"/>
          <p:cNvPicPr>
            <a:picLocks noChangeAspect="1"/>
          </p:cNvPicPr>
          <p:nvPr/>
        </p:nvPicPr>
        <p:blipFill>
          <a:blip r:embed="rId3"/>
          <a:stretch>
            <a:fillRect/>
          </a:stretch>
        </p:blipFill>
        <p:spPr>
          <a:xfrm>
            <a:off x="450000" y="1060000"/>
            <a:ext cx="7100000" cy="4010390"/>
          </a:xfrm>
          <a:prstGeom prst="rect">
            <a:avLst/>
          </a:prstGeom>
          <a:ln w="12700">
            <a:solidFill>
              <a:srgbClr val="D9D9D9"/>
            </a:solidFill>
          </a:ln>
        </p:spPr>
      </p:pic>
      <p:sp>
        <p:nvSpPr>
          <p:cNvPr id="5" name="Panel"/>
          <p:cNvSpPr/>
          <p:nvPr/>
        </p:nvSpPr>
        <p:spPr>
          <a:xfrm>
            <a:off x="7780000" y="1060000"/>
            <a:ext cx="3962000" cy="5320000"/>
          </a:xfrm>
          <a:prstGeom prst="roundRect">
            <a:avLst>
              <a:gd name="adj" fmla="val 4000"/>
            </a:avLst>
          </a:prstGeom>
          <a:solidFill>
            <a:srgbClr val="1E2761"/>
          </a:solidFill>
          <a:ln>
            <a:noFill/>
          </a:ln>
        </p:spPr>
        <p:txBody>
          <a:bodyPr wrap="square" lIns="228600" tIns="228600" rIns="228600" bIns="228600" anchor="t">
            <a:normAutofit/>
          </a:bodyPr>
          <a:lstStyle/>
          <a:p>
            <a:pPr marL="0" indent="0">
              <a:buNone/>
            </a:pPr>
            <a:r>
              <a:rPr lang="en-US" sz="1800" b="1" dirty="0">
                <a:solidFill>
                  <a:srgbClr val="FFFFFF"/>
                </a:solidFill>
              </a:rPr>
              <a:t>Onboarding – Interests</a:t>
            </a:r>
          </a:p>
          <a:p>
            <a:pPr marL="285750" indent="-285750">
              <a:buFont typeface="Arial" panose="020B0604020202020204" pitchFamily="34" charset="0"/>
              <a:buChar char="•"/>
            </a:pPr>
            <a:r>
              <a:rPr lang="en-US" sz="1500" dirty="0">
                <a:solidFill>
                  <a:srgbClr val="E8ECF7"/>
                </a:solidFill>
              </a:rPr>
              <a:t>Step 1 of the onboarding flow: new users select interest tags (AI, ML, Web Dev, Hackathons, Cultural, Sports, and more).</a:t>
            </a:r>
          </a:p>
          <a:p>
            <a:pPr marL="285750" indent="-285750">
              <a:buFont typeface="Arial" panose="020B0604020202020204" pitchFamily="34" charset="0"/>
              <a:buChar char="•"/>
            </a:pPr>
            <a:r>
              <a:rPr lang="en-US" sz="1500" dirty="0">
                <a:solidFill>
                  <a:srgbClr val="E8ECF7"/>
                </a:solidFill>
              </a:rPr>
              <a:t>Multi-select interface feeds directly into the recommendation engine's cold-start preference vector.</a:t>
            </a:r>
          </a:p>
          <a:p>
            <a:pPr marL="285750" indent="-285750">
              <a:buFont typeface="Arial" panose="020B0604020202020204" pitchFamily="34" charset="0"/>
              <a:buChar char="•"/>
            </a:pPr>
            <a:r>
              <a:rPr lang="en-US" sz="1500" dirty="0">
                <a:solidFill>
                  <a:srgbClr val="E8ECF7"/>
                </a:solidFill>
              </a:rPr>
              <a:t>At least one interest is required before continuing, guaranteeing every profile starts with usable signal.</a:t>
            </a:r>
          </a:p>
        </p:txBody>
      </p:sp>
    </p:spTree>
    <p:extLst>
      <p:ext uri="{BB962C8B-B14F-4D97-AF65-F5344CB8AC3E}">
        <p14:creationId xmlns:p14="http://schemas.microsoft.com/office/powerpoint/2010/main" val="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txBox="1"/>
          <p:nvPr/>
        </p:nvSpPr>
        <p:spPr>
          <a:xfrm>
            <a:off x="648929" y="311275"/>
            <a:ext cx="9300000" cy="646331"/>
          </a:xfrm>
          <a:prstGeom prst="rect">
            <a:avLst/>
          </a:prstGeom>
          <a:noFill/>
        </p:spPr>
        <p:txBody>
          <a:bodyPr wrap="square">
            <a:spAutoFit/>
          </a:bodyPr>
          <a:lstStyle/>
          <a:p>
            <a:r>
              <a:rPr lang="en-US" sz="2800" b="1" dirty="0"/>
              <a:t>Front-End Implementation — Mode of Event</a:t>
            </a:r>
          </a:p>
        </p:txBody>
      </p:sp>
      <p:pic>
        <p:nvPicPr>
          <p:cNvPr id="3" name="Logo"/>
          <p:cNvPicPr>
            <a:picLocks noChangeAspect="1"/>
          </p:cNvPicPr>
          <p:nvPr/>
        </p:nvPicPr>
        <p:blipFill>
          <a:blip r:embed="rId2"/>
          <a:stretch>
            <a:fillRect/>
          </a:stretch>
        </p:blipFill>
        <p:spPr>
          <a:xfrm>
            <a:off x="10249380" y="0"/>
            <a:ext cx="1942620" cy="622550"/>
          </a:xfrm>
          <a:prstGeom prst="rect">
            <a:avLst/>
          </a:prstGeom>
        </p:spPr>
      </p:pic>
      <p:pic>
        <p:nvPicPr>
          <p:cNvPr id="4" name="ContentImage"/>
          <p:cNvPicPr>
            <a:picLocks noChangeAspect="1"/>
          </p:cNvPicPr>
          <p:nvPr/>
        </p:nvPicPr>
        <p:blipFill>
          <a:blip r:embed="rId3"/>
          <a:stretch>
            <a:fillRect/>
          </a:stretch>
        </p:blipFill>
        <p:spPr>
          <a:xfrm>
            <a:off x="450000" y="1060000"/>
            <a:ext cx="7100000" cy="4717647"/>
          </a:xfrm>
          <a:prstGeom prst="rect">
            <a:avLst/>
          </a:prstGeom>
          <a:ln w="12700">
            <a:solidFill>
              <a:srgbClr val="D9D9D9"/>
            </a:solidFill>
          </a:ln>
        </p:spPr>
      </p:pic>
      <p:sp>
        <p:nvSpPr>
          <p:cNvPr id="5" name="Panel"/>
          <p:cNvSpPr/>
          <p:nvPr/>
        </p:nvSpPr>
        <p:spPr>
          <a:xfrm>
            <a:off x="7780000" y="1060000"/>
            <a:ext cx="3962000" cy="5320000"/>
          </a:xfrm>
          <a:prstGeom prst="roundRect">
            <a:avLst>
              <a:gd name="adj" fmla="val 4000"/>
            </a:avLst>
          </a:prstGeom>
          <a:solidFill>
            <a:srgbClr val="1E2761"/>
          </a:solidFill>
          <a:ln>
            <a:noFill/>
          </a:ln>
        </p:spPr>
        <p:txBody>
          <a:bodyPr wrap="square" lIns="228600" tIns="228600" rIns="228600" bIns="228600" anchor="t">
            <a:normAutofit/>
          </a:bodyPr>
          <a:lstStyle/>
          <a:p>
            <a:pPr marL="0" indent="0">
              <a:buNone/>
            </a:pPr>
            <a:r>
              <a:rPr lang="en-US" sz="1800" b="1" dirty="0">
                <a:solidFill>
                  <a:srgbClr val="FFFFFF"/>
                </a:solidFill>
              </a:rPr>
              <a:t>Onboarding – Event Mode</a:t>
            </a:r>
          </a:p>
          <a:p>
            <a:pPr marL="285750" indent="-285750">
              <a:buFont typeface="Arial" panose="020B0604020202020204" pitchFamily="34" charset="0"/>
              <a:buChar char="•"/>
            </a:pPr>
            <a:r>
              <a:rPr lang="en-US" sz="1500" dirty="0">
                <a:solidFill>
                  <a:srgbClr val="E8ECF7"/>
                </a:solidFill>
              </a:rPr>
              <a:t>Step 2 of onboarding: captures the student's preferred event mode — Online, Offline, or Both.</a:t>
            </a:r>
          </a:p>
          <a:p>
            <a:pPr marL="285750" indent="-285750">
              <a:buFont typeface="Arial" panose="020B0604020202020204" pitchFamily="34" charset="0"/>
              <a:buChar char="•"/>
            </a:pPr>
            <a:r>
              <a:rPr lang="en-US" sz="1500" dirty="0">
                <a:solidFill>
                  <a:srgbClr val="E8ECF7"/>
                </a:solidFill>
              </a:rPr>
              <a:t>Combines with the interest tags from step 1 to shape the personalized event feed shown next.</a:t>
            </a:r>
          </a:p>
          <a:p>
            <a:pPr marL="285750" indent="-285750">
              <a:buFont typeface="Arial" panose="020B0604020202020204" pitchFamily="34" charset="0"/>
              <a:buChar char="•"/>
            </a:pPr>
            <a:r>
              <a:rPr lang="en-US" sz="1500" dirty="0">
                <a:solidFill>
                  <a:srgbClr val="E8ECF7"/>
                </a:solidFill>
              </a:rPr>
              <a:t>A progress indicator keeps users oriented on how many onboarding steps remain.</a:t>
            </a:r>
          </a:p>
        </p:txBody>
      </p:sp>
    </p:spTree>
    <p:extLst>
      <p:ext uri="{BB962C8B-B14F-4D97-AF65-F5344CB8AC3E}">
        <p14:creationId xmlns:p14="http://schemas.microsoft.com/office/powerpoint/2010/main" val="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ox"/>
          <p:cNvSpPr txBox="1"/>
          <p:nvPr/>
        </p:nvSpPr>
        <p:spPr>
          <a:xfrm>
            <a:off x="648929" y="311275"/>
            <a:ext cx="9300000" cy="646331"/>
          </a:xfrm>
          <a:prstGeom prst="rect">
            <a:avLst/>
          </a:prstGeom>
          <a:noFill/>
        </p:spPr>
        <p:txBody>
          <a:bodyPr wrap="square">
            <a:spAutoFit/>
          </a:bodyPr>
          <a:lstStyle/>
          <a:p>
            <a:r>
              <a:rPr lang="en-US" sz="2800" b="1" dirty="0"/>
              <a:t>Front-End Implementation — Algorithm Used</a:t>
            </a:r>
          </a:p>
        </p:txBody>
      </p:sp>
      <p:pic>
        <p:nvPicPr>
          <p:cNvPr id="3" name="Logo"/>
          <p:cNvPicPr>
            <a:picLocks noChangeAspect="1"/>
          </p:cNvPicPr>
          <p:nvPr/>
        </p:nvPicPr>
        <p:blipFill>
          <a:blip r:embed="rId2"/>
          <a:stretch>
            <a:fillRect/>
          </a:stretch>
        </p:blipFill>
        <p:spPr>
          <a:xfrm>
            <a:off x="10249380" y="0"/>
            <a:ext cx="1942620" cy="622550"/>
          </a:xfrm>
          <a:prstGeom prst="rect">
            <a:avLst/>
          </a:prstGeom>
        </p:spPr>
      </p:pic>
      <p:pic>
        <p:nvPicPr>
          <p:cNvPr id="4" name="ContentImage"/>
          <p:cNvPicPr>
            <a:picLocks noChangeAspect="1"/>
          </p:cNvPicPr>
          <p:nvPr/>
        </p:nvPicPr>
        <p:blipFill>
          <a:blip r:embed="rId3"/>
          <a:stretch>
            <a:fillRect/>
          </a:stretch>
        </p:blipFill>
        <p:spPr>
          <a:xfrm>
            <a:off x="450000" y="1060000"/>
            <a:ext cx="7100000" cy="1967680"/>
          </a:xfrm>
          <a:prstGeom prst="rect">
            <a:avLst/>
          </a:prstGeom>
          <a:ln w="12700">
            <a:solidFill>
              <a:srgbClr val="D9D9D9"/>
            </a:solidFill>
          </a:ln>
        </p:spPr>
      </p:pic>
      <p:sp>
        <p:nvSpPr>
          <p:cNvPr id="5" name="Panel"/>
          <p:cNvSpPr/>
          <p:nvPr/>
        </p:nvSpPr>
        <p:spPr>
          <a:xfrm>
            <a:off x="7780000" y="1060000"/>
            <a:ext cx="3962000" cy="5320000"/>
          </a:xfrm>
          <a:prstGeom prst="roundRect">
            <a:avLst>
              <a:gd name="adj" fmla="val 4000"/>
            </a:avLst>
          </a:prstGeom>
          <a:solidFill>
            <a:srgbClr val="1E2761"/>
          </a:solidFill>
          <a:ln>
            <a:noFill/>
          </a:ln>
        </p:spPr>
        <p:txBody>
          <a:bodyPr wrap="square" lIns="228600" tIns="228600" rIns="228600" bIns="228600" anchor="t">
            <a:normAutofit/>
          </a:bodyPr>
          <a:lstStyle/>
          <a:p>
            <a:pPr marL="0" indent="0">
              <a:buNone/>
            </a:pPr>
            <a:r>
              <a:rPr lang="en-US" sz="1800" b="1" dirty="0">
                <a:solidFill>
                  <a:srgbClr val="FFFFFF"/>
                </a:solidFill>
              </a:rPr>
              <a:t>AI Recommendation Engine</a:t>
            </a:r>
          </a:p>
          <a:p>
            <a:pPr marL="285750" indent="-285750">
              <a:buFont typeface="Arial" panose="020B0604020202020204" pitchFamily="34" charset="0"/>
              <a:buChar char="•"/>
            </a:pPr>
            <a:r>
              <a:rPr lang="en-US" sz="1500" dirty="0">
                <a:solidFill>
                  <a:srgbClr val="E8ECF7"/>
                </a:solidFill>
              </a:rPr>
              <a:t>Embedding model: all-MiniLM-L6-v2 (sentence transformers) encodes event content for similarity matching.</a:t>
            </a:r>
          </a:p>
          <a:p>
            <a:pPr marL="285750" indent="-285750">
              <a:buFont typeface="Arial" panose="020B0604020202020204" pitchFamily="34" charset="0"/>
              <a:buChar char="•"/>
            </a:pPr>
            <a:r>
              <a:rPr lang="en-US" sz="1500" dirty="0">
                <a:solidFill>
                  <a:srgbClr val="E8ECF7"/>
                </a:solidFill>
              </a:rPr>
              <a:t>Similarity metric: cosine similarity between user and event embeddings.</a:t>
            </a:r>
          </a:p>
          <a:p>
            <a:pPr marL="285750" indent="-285750">
              <a:buFont typeface="Arial" panose="020B0604020202020204" pitchFamily="34" charset="0"/>
              <a:buChar char="•"/>
            </a:pPr>
            <a:r>
              <a:rPr lang="en-US" sz="1500" dirty="0">
                <a:solidFill>
                  <a:srgbClr val="E8ECF7"/>
                </a:solidFill>
              </a:rPr>
              <a:t>Cold start: new users are matched using survey-based preferences from onboarding.</a:t>
            </a:r>
          </a:p>
          <a:p>
            <a:pPr marL="285750" indent="-285750">
              <a:buFont typeface="Arial" panose="020B0604020202020204" pitchFamily="34" charset="0"/>
              <a:buChar char="•"/>
            </a:pPr>
            <a:r>
              <a:rPr lang="en-US" sz="1500" dirty="0">
                <a:solidFill>
                  <a:srgbClr val="E8ECF7"/>
                </a:solidFill>
              </a:rPr>
              <a:t>Existing users: recommendations blend 70% interaction history with 30% survey signal, switching modes after a 5-interaction threshold.</a:t>
            </a:r>
          </a:p>
        </p:txBody>
      </p:sp>
    </p:spTree>
    <p:extLst>
      <p:ext uri="{BB962C8B-B14F-4D97-AF65-F5344CB8AC3E}">
        <p14:creationId xmlns:p14="http://schemas.microsoft.com/office/powerpoint/2010/main" val="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1498</Words>
  <Application>Microsoft Office PowerPoint</Application>
  <PresentationFormat>Widescreen</PresentationFormat>
  <Paragraphs>155</Paragraphs>
  <Slides>15</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Anirudh Guthula</cp:lastModifiedBy>
  <cp:revision>37</cp:revision>
  <dcterms:created xsi:type="dcterms:W3CDTF">2026-08-08T06:33:56Z</dcterms:created>
  <dcterms:modified xsi:type="dcterms:W3CDTF">2026-09-22T09:35:08Z</dcterms:modified>
</cp:coreProperties>
</file>