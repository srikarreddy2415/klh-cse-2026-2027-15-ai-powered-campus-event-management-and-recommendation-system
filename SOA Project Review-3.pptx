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DM Sans" pitchFamily="2"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25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Review-3 builds on Review-2: the datasets, recommendation engine and onboarding front end were shown there. Today covers the organizer and administrator modules, the evaluation and the final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modules sit on one event management core. The recommendation engine reads the Events, Interactions and Attendance datasets and feeds personalized suggestions back to the student module.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every bracket from the actual evaluation output before presenting. State K, the number of test users and the survey sample size.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03A"/>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220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03A"/>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220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E0A030"/>
                </a:solidFill>
                <a:latin typeface="DM Sans" pitchFamily="34" charset="0"/>
                <a:ea typeface="DM Sans" pitchFamily="34" charset="-122"/>
                <a:cs typeface="DM Sans" pitchFamily="34" charset="-120"/>
              </a:rPr>
              <a:t>SOA PROJECT REVIEW-3</a:t>
            </a:r>
            <a:endParaRPr lang="en-US" sz="1600" dirty="0"/>
          </a:p>
        </p:txBody>
      </p:sp>
      <p:sp>
        <p:nvSpPr>
          <p:cNvPr id="3" name="Text 1"/>
          <p:cNvSpPr>
            <a:spLocks noGrp="1"/>
          </p:cNvSpPr>
          <p:nvPr>
            <p:ph type="title"/>
          </p:nvPr>
        </p:nvSpPr>
        <p:spPr>
          <a:xfrm>
            <a:off x="812800" y="1300480"/>
            <a:ext cx="10883392" cy="119888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6F5F0"/>
                </a:solidFill>
                <a:latin typeface="DM Sans" pitchFamily="34" charset="0"/>
                <a:ea typeface="DM Sans" pitchFamily="34" charset="-122"/>
                <a:cs typeface="DM Sans" pitchFamily="34" charset="-120"/>
              </a:rPr>
              <a:t>AI-Powered Campus Event Management and Recommendation System</a:t>
            </a:r>
            <a:endParaRPr lang="en-US" sz="4200" dirty="0"/>
          </a:p>
        </p:txBody>
      </p:sp>
      <p:sp>
        <p:nvSpPr>
          <p:cNvPr id="4" name="Text 2"/>
          <p:cNvSpPr/>
          <p:nvPr/>
        </p:nvSpPr>
        <p:spPr>
          <a:xfrm>
            <a:off x="812800" y="2686491"/>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D0E0"/>
                </a:solidFill>
                <a:latin typeface="DM Sans" pitchFamily="34" charset="0"/>
                <a:ea typeface="DM Sans" pitchFamily="34" charset="-122"/>
                <a:cs typeface="DM Sans" pitchFamily="34" charset="-120"/>
              </a:rPr>
              <a:t>CampusConnect · KL University, Bowrampet Campus</a:t>
            </a:r>
            <a:endParaRPr lang="en-US" sz="1800" dirty="0"/>
          </a:p>
        </p:txBody>
      </p:sp>
      <p:sp>
        <p:nvSpPr>
          <p:cNvPr id="5" name="Shape 3"/>
          <p:cNvSpPr/>
          <p:nvPr/>
        </p:nvSpPr>
        <p:spPr>
          <a:xfrm>
            <a:off x="812800" y="4602480"/>
            <a:ext cx="3420507" cy="990600"/>
          </a:xfrm>
          <a:prstGeom prst="roundRect">
            <a:avLst>
              <a:gd name="adj" fmla="val 10256"/>
            </a:avLst>
          </a:prstGeom>
          <a:solidFill>
            <a:srgbClr val="1B2D4F"/>
          </a:solidFill>
          <a:ln/>
        </p:spPr>
      </p:sp>
      <p:sp>
        <p:nvSpPr>
          <p:cNvPr id="6" name="Text 4"/>
          <p:cNvSpPr/>
          <p:nvPr/>
        </p:nvSpPr>
        <p:spPr>
          <a:xfrm>
            <a:off x="1016000" y="4805680"/>
            <a:ext cx="310453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0"/>
                </a:solidFill>
                <a:latin typeface="DM Sans" pitchFamily="34" charset="0"/>
                <a:ea typeface="DM Sans" pitchFamily="34" charset="-122"/>
                <a:cs typeface="DM Sans" pitchFamily="34" charset="-120"/>
              </a:rPr>
              <a:t>G Anirudh</a:t>
            </a:r>
            <a:endParaRPr lang="en-US" sz="1600" dirty="0"/>
          </a:p>
        </p:txBody>
      </p:sp>
      <p:sp>
        <p:nvSpPr>
          <p:cNvPr id="7" name="Text 5"/>
          <p:cNvSpPr/>
          <p:nvPr/>
        </p:nvSpPr>
        <p:spPr>
          <a:xfrm>
            <a:off x="1016000" y="5140960"/>
            <a:ext cx="31045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2420030758</a:t>
            </a:r>
            <a:endParaRPr lang="en-US" sz="1400" dirty="0"/>
          </a:p>
        </p:txBody>
      </p:sp>
      <p:sp>
        <p:nvSpPr>
          <p:cNvPr id="8" name="Shape 6"/>
          <p:cNvSpPr/>
          <p:nvPr/>
        </p:nvSpPr>
        <p:spPr>
          <a:xfrm>
            <a:off x="4385707" y="4602480"/>
            <a:ext cx="3420586" cy="990600"/>
          </a:xfrm>
          <a:prstGeom prst="roundRect">
            <a:avLst>
              <a:gd name="adj" fmla="val 10256"/>
            </a:avLst>
          </a:prstGeom>
          <a:solidFill>
            <a:srgbClr val="1B2D4F"/>
          </a:solidFill>
          <a:ln/>
        </p:spPr>
      </p:sp>
      <p:sp>
        <p:nvSpPr>
          <p:cNvPr id="9" name="Text 7"/>
          <p:cNvSpPr/>
          <p:nvPr/>
        </p:nvSpPr>
        <p:spPr>
          <a:xfrm>
            <a:off x="4588907" y="4805680"/>
            <a:ext cx="310461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0"/>
                </a:solidFill>
                <a:latin typeface="DM Sans" pitchFamily="34" charset="0"/>
                <a:ea typeface="DM Sans" pitchFamily="34" charset="-122"/>
                <a:cs typeface="DM Sans" pitchFamily="34" charset="-120"/>
              </a:rPr>
              <a:t>Ch Srikar Reddy</a:t>
            </a:r>
            <a:endParaRPr lang="en-US" sz="1600" dirty="0"/>
          </a:p>
        </p:txBody>
      </p:sp>
      <p:sp>
        <p:nvSpPr>
          <p:cNvPr id="10" name="Text 8"/>
          <p:cNvSpPr/>
          <p:nvPr/>
        </p:nvSpPr>
        <p:spPr>
          <a:xfrm>
            <a:off x="4588907" y="5140960"/>
            <a:ext cx="31046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2420030509</a:t>
            </a:r>
            <a:endParaRPr lang="en-US" sz="1400" dirty="0"/>
          </a:p>
        </p:txBody>
      </p:sp>
      <p:sp>
        <p:nvSpPr>
          <p:cNvPr id="11" name="Shape 9"/>
          <p:cNvSpPr/>
          <p:nvPr/>
        </p:nvSpPr>
        <p:spPr>
          <a:xfrm>
            <a:off x="7958693" y="4602480"/>
            <a:ext cx="3420507" cy="990600"/>
          </a:xfrm>
          <a:prstGeom prst="roundRect">
            <a:avLst>
              <a:gd name="adj" fmla="val 10256"/>
            </a:avLst>
          </a:prstGeom>
          <a:solidFill>
            <a:srgbClr val="1B2D4F"/>
          </a:solidFill>
          <a:ln/>
        </p:spPr>
      </p:sp>
      <p:sp>
        <p:nvSpPr>
          <p:cNvPr id="12" name="Text 10"/>
          <p:cNvSpPr/>
          <p:nvPr/>
        </p:nvSpPr>
        <p:spPr>
          <a:xfrm>
            <a:off x="8161893" y="4805680"/>
            <a:ext cx="310453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0"/>
                </a:solidFill>
                <a:latin typeface="DM Sans" pitchFamily="34" charset="0"/>
                <a:ea typeface="DM Sans" pitchFamily="34" charset="-122"/>
                <a:cs typeface="DM Sans" pitchFamily="34" charset="-120"/>
              </a:rPr>
              <a:t>M Mahidhar</a:t>
            </a:r>
            <a:endParaRPr lang="en-US" sz="1600" dirty="0"/>
          </a:p>
        </p:txBody>
      </p:sp>
      <p:sp>
        <p:nvSpPr>
          <p:cNvPr id="13" name="Text 11"/>
          <p:cNvSpPr/>
          <p:nvPr/>
        </p:nvSpPr>
        <p:spPr>
          <a:xfrm>
            <a:off x="8161893" y="5140960"/>
            <a:ext cx="31045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2420030756</a:t>
            </a:r>
            <a:endParaRPr lang="en-US" sz="1400" dirty="0"/>
          </a:p>
        </p:txBody>
      </p:sp>
      <p:sp>
        <p:nvSpPr>
          <p:cNvPr id="14" name="Text 12"/>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Guide: Ms. K Venkateswari, Assistant Professor, Department of Computer Science and Engineering · [Review date]</a:t>
            </a:r>
            <a:endParaRPr lang="en-US" sz="1400" dirty="0"/>
          </a:p>
        </p:txBody>
      </p:sp>
      <p:pic>
        <p:nvPicPr>
          <p:cNvPr id="15" name="Picture 14">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12450"/>
            <a:ext cx="1942620" cy="62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Outline</a:t>
            </a:r>
            <a:endParaRPr lang="en-US" sz="3600" dirty="0"/>
          </a:p>
        </p:txBody>
      </p:sp>
      <p:sp>
        <p:nvSpPr>
          <p:cNvPr id="3" name="Shape 1"/>
          <p:cNvSpPr/>
          <p:nvPr/>
        </p:nvSpPr>
        <p:spPr>
          <a:xfrm>
            <a:off x="815975" y="1725295"/>
            <a:ext cx="2520950" cy="2259330"/>
          </a:xfrm>
          <a:prstGeom prst="roundRect">
            <a:avLst>
              <a:gd name="adj" fmla="val 4356"/>
            </a:avLst>
          </a:prstGeom>
          <a:solidFill>
            <a:srgbClr val="FFFFFF"/>
          </a:solidFill>
          <a:ln w="6350">
            <a:solidFill>
              <a:srgbClr val="DDDBD2"/>
            </a:solidFill>
            <a:prstDash val="solid"/>
          </a:ln>
        </p:spPr>
      </p:sp>
      <p:sp>
        <p:nvSpPr>
          <p:cNvPr id="4" name="Text 2"/>
          <p:cNvSpPr/>
          <p:nvPr/>
        </p:nvSpPr>
        <p:spPr>
          <a:xfrm>
            <a:off x="1021080" y="19812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01</a:t>
            </a:r>
            <a:endParaRPr lang="en-US" sz="2800" dirty="0"/>
          </a:p>
        </p:txBody>
      </p:sp>
      <p:sp>
        <p:nvSpPr>
          <p:cNvPr id="5" name="Text 3"/>
          <p:cNvSpPr/>
          <p:nvPr/>
        </p:nvSpPr>
        <p:spPr>
          <a:xfrm>
            <a:off x="1021080" y="258064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Where we stand</a:t>
            </a:r>
            <a:endParaRPr lang="en-US" sz="1800" dirty="0"/>
          </a:p>
        </p:txBody>
      </p:sp>
      <p:sp>
        <p:nvSpPr>
          <p:cNvPr id="6" name="Text 4"/>
          <p:cNvSpPr/>
          <p:nvPr/>
        </p:nvSpPr>
        <p:spPr>
          <a:xfrm>
            <a:off x="1021080" y="295656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Problem recap and what Review-2 promised</a:t>
            </a:r>
            <a:endParaRPr lang="en-US" sz="1400" dirty="0"/>
          </a:p>
        </p:txBody>
      </p:sp>
      <p:sp>
        <p:nvSpPr>
          <p:cNvPr id="7" name="Shape 5"/>
          <p:cNvSpPr/>
          <p:nvPr/>
        </p:nvSpPr>
        <p:spPr>
          <a:xfrm>
            <a:off x="3495675" y="1725295"/>
            <a:ext cx="2520950" cy="2259330"/>
          </a:xfrm>
          <a:prstGeom prst="roundRect">
            <a:avLst>
              <a:gd name="adj" fmla="val 4356"/>
            </a:avLst>
          </a:prstGeom>
          <a:solidFill>
            <a:srgbClr val="FFFFFF"/>
          </a:solidFill>
          <a:ln w="6350">
            <a:solidFill>
              <a:srgbClr val="DDDBD2"/>
            </a:solidFill>
            <a:prstDash val="solid"/>
          </a:ln>
        </p:spPr>
      </p:sp>
      <p:sp>
        <p:nvSpPr>
          <p:cNvPr id="8" name="Text 6"/>
          <p:cNvSpPr/>
          <p:nvPr/>
        </p:nvSpPr>
        <p:spPr>
          <a:xfrm>
            <a:off x="3700780" y="19812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02</a:t>
            </a:r>
            <a:endParaRPr lang="en-US" sz="2800" dirty="0"/>
          </a:p>
        </p:txBody>
      </p:sp>
      <p:sp>
        <p:nvSpPr>
          <p:cNvPr id="9" name="Text 7"/>
          <p:cNvSpPr/>
          <p:nvPr/>
        </p:nvSpPr>
        <p:spPr>
          <a:xfrm>
            <a:off x="3700780" y="258064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The system</a:t>
            </a:r>
            <a:endParaRPr lang="en-US" sz="1800" dirty="0"/>
          </a:p>
        </p:txBody>
      </p:sp>
      <p:sp>
        <p:nvSpPr>
          <p:cNvPr id="10" name="Text 8"/>
          <p:cNvSpPr/>
          <p:nvPr/>
        </p:nvSpPr>
        <p:spPr>
          <a:xfrm>
            <a:off x="3700780" y="2956560"/>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Architecture, organizer and admin modules, engine</a:t>
            </a:r>
            <a:endParaRPr lang="en-US" sz="1400" dirty="0"/>
          </a:p>
        </p:txBody>
      </p:sp>
      <p:sp>
        <p:nvSpPr>
          <p:cNvPr id="11" name="Shape 9"/>
          <p:cNvSpPr/>
          <p:nvPr/>
        </p:nvSpPr>
        <p:spPr>
          <a:xfrm>
            <a:off x="6175375" y="1725295"/>
            <a:ext cx="2520950" cy="2259330"/>
          </a:xfrm>
          <a:prstGeom prst="roundRect">
            <a:avLst>
              <a:gd name="adj" fmla="val 4356"/>
            </a:avLst>
          </a:prstGeom>
          <a:solidFill>
            <a:srgbClr val="FFFFFF"/>
          </a:solidFill>
          <a:ln w="6350">
            <a:solidFill>
              <a:srgbClr val="DDDBD2"/>
            </a:solidFill>
            <a:prstDash val="solid"/>
          </a:ln>
        </p:spPr>
      </p:sp>
      <p:sp>
        <p:nvSpPr>
          <p:cNvPr id="12" name="Text 10"/>
          <p:cNvSpPr/>
          <p:nvPr/>
        </p:nvSpPr>
        <p:spPr>
          <a:xfrm>
            <a:off x="6380480" y="19812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03</a:t>
            </a:r>
            <a:endParaRPr lang="en-US" sz="2800" dirty="0"/>
          </a:p>
        </p:txBody>
      </p:sp>
      <p:sp>
        <p:nvSpPr>
          <p:cNvPr id="13" name="Text 11"/>
          <p:cNvSpPr/>
          <p:nvPr/>
        </p:nvSpPr>
        <p:spPr>
          <a:xfrm>
            <a:off x="6380480" y="258064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Evaluation</a:t>
            </a:r>
            <a:endParaRPr lang="en-US" sz="1800" dirty="0"/>
          </a:p>
        </p:txBody>
      </p:sp>
      <p:sp>
        <p:nvSpPr>
          <p:cNvPr id="14" name="Text 12"/>
          <p:cNvSpPr/>
          <p:nvPr/>
        </p:nvSpPr>
        <p:spPr>
          <a:xfrm>
            <a:off x="6380480" y="295656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Metrics, method, results and workflow</a:t>
            </a:r>
            <a:endParaRPr lang="en-US" sz="1400" dirty="0"/>
          </a:p>
        </p:txBody>
      </p:sp>
      <p:sp>
        <p:nvSpPr>
          <p:cNvPr id="15" name="Shape 13"/>
          <p:cNvSpPr/>
          <p:nvPr/>
        </p:nvSpPr>
        <p:spPr>
          <a:xfrm>
            <a:off x="8855075" y="1725295"/>
            <a:ext cx="2520950" cy="2259330"/>
          </a:xfrm>
          <a:prstGeom prst="roundRect">
            <a:avLst>
              <a:gd name="adj" fmla="val 4356"/>
            </a:avLst>
          </a:prstGeom>
          <a:solidFill>
            <a:srgbClr val="FFFFFF"/>
          </a:solidFill>
          <a:ln w="6350">
            <a:solidFill>
              <a:srgbClr val="DDDBD2"/>
            </a:solidFill>
            <a:prstDash val="solid"/>
          </a:ln>
        </p:spPr>
      </p:sp>
      <p:sp>
        <p:nvSpPr>
          <p:cNvPr id="16" name="Text 14"/>
          <p:cNvSpPr/>
          <p:nvPr/>
        </p:nvSpPr>
        <p:spPr>
          <a:xfrm>
            <a:off x="9060180" y="19812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04</a:t>
            </a:r>
            <a:endParaRPr lang="en-US" sz="2800" dirty="0"/>
          </a:p>
        </p:txBody>
      </p:sp>
      <p:sp>
        <p:nvSpPr>
          <p:cNvPr id="17" name="Text 15"/>
          <p:cNvSpPr/>
          <p:nvPr/>
        </p:nvSpPr>
        <p:spPr>
          <a:xfrm>
            <a:off x="9060180" y="2580640"/>
            <a:ext cx="2174062"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Demo and wrap-up</a:t>
            </a:r>
            <a:endParaRPr lang="en-US" sz="1800" dirty="0"/>
          </a:p>
        </p:txBody>
      </p:sp>
      <p:sp>
        <p:nvSpPr>
          <p:cNvPr id="18" name="Text 16"/>
          <p:cNvSpPr/>
          <p:nvPr/>
        </p:nvSpPr>
        <p:spPr>
          <a:xfrm>
            <a:off x="9060180" y="323088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Walkthrough, conclusion, future work, references</a:t>
            </a:r>
            <a:endParaRPr lang="en-US" sz="1400" dirty="0"/>
          </a:p>
        </p:txBody>
      </p:sp>
      <p:sp>
        <p:nvSpPr>
          <p:cNvPr id="19" name="Text 17"/>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20" name="Text 18"/>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2</a:t>
            </a:r>
            <a:endParaRPr lang="en-US" sz="1200" dirty="0"/>
          </a:p>
        </p:txBody>
      </p:sp>
      <p:pic>
        <p:nvPicPr>
          <p:cNvPr id="21" name="Picture 20">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Problem and objectives recap</a:t>
            </a:r>
            <a:endParaRPr lang="en-US" sz="3600" dirty="0"/>
          </a:p>
        </p:txBody>
      </p:sp>
      <p:sp>
        <p:nvSpPr>
          <p:cNvPr id="3" name="Shape 1"/>
          <p:cNvSpPr/>
          <p:nvPr/>
        </p:nvSpPr>
        <p:spPr>
          <a:xfrm>
            <a:off x="812800" y="1671320"/>
            <a:ext cx="5176520" cy="2753360"/>
          </a:xfrm>
          <a:prstGeom prst="roundRect">
            <a:avLst>
              <a:gd name="adj" fmla="val 4613"/>
            </a:avLst>
          </a:prstGeom>
          <a:solidFill>
            <a:srgbClr val="12203A"/>
          </a:solidFill>
          <a:ln/>
        </p:spPr>
      </p:sp>
      <p:sp>
        <p:nvSpPr>
          <p:cNvPr id="4" name="Text 2"/>
          <p:cNvSpPr/>
          <p:nvPr/>
        </p:nvSpPr>
        <p:spPr>
          <a:xfrm>
            <a:off x="1117600" y="1976120"/>
            <a:ext cx="470392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0A030"/>
                </a:solidFill>
                <a:latin typeface="DM Sans" pitchFamily="34" charset="0"/>
                <a:ea typeface="DM Sans" pitchFamily="34" charset="-122"/>
                <a:cs typeface="DM Sans" pitchFamily="34" charset="-120"/>
              </a:rPr>
              <a:t>The problem</a:t>
            </a:r>
            <a:endParaRPr lang="en-US" sz="1800" dirty="0"/>
          </a:p>
        </p:txBody>
      </p:sp>
      <p:sp>
        <p:nvSpPr>
          <p:cNvPr id="5" name="Text 3"/>
          <p:cNvSpPr/>
          <p:nvPr/>
        </p:nvSpPr>
        <p:spPr>
          <a:xfrm>
            <a:off x="1117600" y="2402841"/>
            <a:ext cx="4703928" cy="1732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5F0"/>
                </a:solidFill>
                <a:latin typeface="DM Sans" pitchFamily="34" charset="0"/>
                <a:ea typeface="DM Sans" pitchFamily="34" charset="-122"/>
                <a:cs typeface="DM Sans" pitchFamily="34" charset="-120"/>
              </a:rPr>
              <a:t>Campus events are announced across WhatsApp groups, social media, notices and separate registration links. Students miss events that match their interests, and organizers manage registrations and participation data on disconnected platforms.</a:t>
            </a:r>
            <a:endParaRPr lang="en-US" sz="1600" dirty="0"/>
          </a:p>
        </p:txBody>
      </p:sp>
      <p:sp>
        <p:nvSpPr>
          <p:cNvPr id="6" name="Shape 4"/>
          <p:cNvSpPr/>
          <p:nvPr/>
        </p:nvSpPr>
        <p:spPr>
          <a:xfrm>
            <a:off x="6195695" y="1674495"/>
            <a:ext cx="5180330" cy="2747010"/>
          </a:xfrm>
          <a:prstGeom prst="roundRect">
            <a:avLst>
              <a:gd name="adj" fmla="val 4508"/>
            </a:avLst>
          </a:prstGeom>
          <a:solidFill>
            <a:srgbClr val="FFFFFF"/>
          </a:solidFill>
          <a:ln w="6350">
            <a:solidFill>
              <a:srgbClr val="DDDBD2"/>
            </a:solidFill>
            <a:prstDash val="solid"/>
          </a:ln>
        </p:spPr>
      </p:sp>
      <p:sp>
        <p:nvSpPr>
          <p:cNvPr id="7" name="Text 5"/>
          <p:cNvSpPr/>
          <p:nvPr/>
        </p:nvSpPr>
        <p:spPr>
          <a:xfrm>
            <a:off x="6502400" y="1981200"/>
            <a:ext cx="470392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766E"/>
                </a:solidFill>
                <a:latin typeface="DM Sans" pitchFamily="34" charset="0"/>
                <a:ea typeface="DM Sans" pitchFamily="34" charset="-122"/>
                <a:cs typeface="DM Sans" pitchFamily="34" charset="-120"/>
              </a:rPr>
              <a:t>The objectives</a:t>
            </a:r>
            <a:endParaRPr lang="en-US" sz="1800" dirty="0"/>
          </a:p>
        </p:txBody>
      </p:sp>
      <p:sp>
        <p:nvSpPr>
          <p:cNvPr id="8" name="Text 6"/>
          <p:cNvSpPr/>
          <p:nvPr/>
        </p:nvSpPr>
        <p:spPr>
          <a:xfrm>
            <a:off x="6566408" y="2407920"/>
            <a:ext cx="4632300" cy="1732280"/>
          </a:xfrm>
          <a:prstGeom prst="rect">
            <a:avLst/>
          </a:prstGeom>
          <a:noFill/>
          <a:ln/>
        </p:spPr>
        <p:txBody>
          <a:bodyPr wrap="square" lIns="0" tIns="0" rIns="0" bIns="0" rtlCol="0" anchor="t">
            <a:normAutofit/>
          </a:bodyPr>
          <a:lstStyle/>
          <a:p>
            <a:pPr marL="189992" indent="-189992" algn="l">
              <a:lnSpc>
                <a:spcPts val="2240"/>
              </a:lnSpc>
              <a:buSzPct val="100000"/>
              <a:buChar char="•"/>
            </a:pPr>
            <a:r>
              <a:rPr lang="en-US" sz="1600" dirty="0">
                <a:solidFill>
                  <a:srgbClr val="12203A"/>
                </a:solidFill>
                <a:latin typeface="DM Sans" pitchFamily="34" charset="0"/>
                <a:ea typeface="DM Sans" pitchFamily="34" charset="-122"/>
                <a:cs typeface="DM Sans" pitchFamily="34" charset="-120"/>
              </a:rPr>
              <a:t>One platform for event creation, discovery, registration and participation tracking</a:t>
            </a:r>
            <a:endParaRPr lang="en-US" sz="1600" dirty="0"/>
          </a:p>
          <a:p>
            <a:pPr marL="189992" indent="-189992" algn="l">
              <a:lnSpc>
                <a:spcPts val="2240"/>
              </a:lnSpc>
              <a:buSzPct val="100000"/>
              <a:buChar char="•"/>
            </a:pPr>
            <a:r>
              <a:rPr lang="en-US" sz="1600" dirty="0">
                <a:solidFill>
                  <a:srgbClr val="12203A"/>
                </a:solidFill>
                <a:latin typeface="DM Sans" pitchFamily="34" charset="0"/>
                <a:ea typeface="DM Sans" pitchFamily="34" charset="-122"/>
                <a:cs typeface="DM Sans" pitchFamily="34" charset="-120"/>
              </a:rPr>
              <a:t>AI-based personalized event recommendations for students</a:t>
            </a:r>
            <a:endParaRPr lang="en-US" sz="1600" dirty="0"/>
          </a:p>
          <a:p>
            <a:pPr marL="189992" indent="-189992" algn="l">
              <a:lnSpc>
                <a:spcPts val="2240"/>
              </a:lnSpc>
              <a:buSzPct val="100000"/>
              <a:buChar char="•"/>
            </a:pPr>
            <a:r>
              <a:rPr lang="en-US" sz="1600" dirty="0">
                <a:solidFill>
                  <a:srgbClr val="12203A"/>
                </a:solidFill>
                <a:latin typeface="DM Sans" pitchFamily="34" charset="0"/>
                <a:ea typeface="DM Sans" pitchFamily="34" charset="-122"/>
                <a:cs typeface="DM Sans" pitchFamily="34" charset="-120"/>
              </a:rPr>
              <a:t>Measured relevance, usability, engagement and response time</a:t>
            </a:r>
            <a:endParaRPr lang="en-US" sz="1600" dirty="0"/>
          </a:p>
        </p:txBody>
      </p:sp>
      <p:sp>
        <p:nvSpPr>
          <p:cNvPr id="9" name="Text 7"/>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10" name="Text 8"/>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3</a:t>
            </a:r>
            <a:endParaRPr lang="en-US" sz="1200" dirty="0"/>
          </a:p>
        </p:txBody>
      </p:sp>
      <p:pic>
        <p:nvPicPr>
          <p:cNvPr id="12" name="Picture 11">
            <a:extLst>
              <a:ext uri="{FF2B5EF4-FFF2-40B4-BE49-F238E27FC236}">
                <a16:creationId xmlns:a16="http://schemas.microsoft.com/office/drawing/2014/main" id="{5CE439F8-6003-262E-0E51-A07C6417F029}"/>
              </a:ext>
            </a:extLst>
          </p:cNvPr>
          <p:cNvPicPr>
            <a:picLocks noChangeAspect="1"/>
          </p:cNvPicPr>
          <p:nvPr/>
        </p:nvPicPr>
        <p:blipFill>
          <a:blip r:embed="rId3"/>
          <a:stretch>
            <a:fillRect/>
          </a:stretch>
        </p:blipFill>
        <p:spPr>
          <a:xfrm>
            <a:off x="10262932" y="9331"/>
            <a:ext cx="1942620" cy="62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Progress since Review-2</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0"/>
          <a:ext cx="10556239" cy="2280920"/>
        </p:xfrm>
        <a:graphic>
          <a:graphicData uri="http://schemas.openxmlformats.org/drawingml/2006/table">
            <a:tbl>
              <a:tblPr/>
              <a:tblGrid>
                <a:gridCol w="3800246">
                  <a:extLst>
                    <a:ext uri="{9D8B030D-6E8A-4147-A177-3AD203B41FA5}">
                      <a16:colId xmlns:a16="http://schemas.microsoft.com/office/drawing/2014/main" val="20000"/>
                    </a:ext>
                  </a:extLst>
                </a:gridCol>
                <a:gridCol w="5066995">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Planned at Review-2</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Covered in this review</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Slides</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Organizer and administrator modules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Event creation, registration management, participation tracking, platform oversight</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6–7</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Evaluation against defined metrics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Recommendation accuracy, response time, satisfaction, engagement</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9–10</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Documentation and reproducible workflow</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Development, testing, evaluation and documentation workflow</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11</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2800" y="421640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Already in place from Review-2: the Attendance, Events and Interactions datasets, the embedding-based recommendation engine and the onboarding front end.</a:t>
            </a:r>
            <a:endParaRPr lang="en-US" sz="1400" dirty="0"/>
          </a:p>
        </p:txBody>
      </p:sp>
      <p:sp>
        <p:nvSpPr>
          <p:cNvPr id="5" name="Text 2"/>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4</a:t>
            </a:r>
            <a:endParaRPr lang="en-US" sz="1200" dirty="0"/>
          </a:p>
        </p:txBody>
      </p:sp>
      <p:pic>
        <p:nvPicPr>
          <p:cNvPr id="8" name="Picture 7">
            <a:extLst>
              <a:ext uri="{FF2B5EF4-FFF2-40B4-BE49-F238E27FC236}">
                <a16:creationId xmlns:a16="http://schemas.microsoft.com/office/drawing/2014/main" id="{F9A2719E-5514-7728-DADF-62F2EE99F456}"/>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03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5F0"/>
                </a:solidFill>
                <a:latin typeface="DM Sans" pitchFamily="34" charset="0"/>
                <a:ea typeface="DM Sans" pitchFamily="34" charset="-122"/>
                <a:cs typeface="DM Sans" pitchFamily="34" charset="-120"/>
              </a:rPr>
              <a:t>System architecture</a:t>
            </a:r>
            <a:endParaRPr lang="en-US" sz="3600" dirty="0"/>
          </a:p>
        </p:txBody>
      </p:sp>
      <p:sp>
        <p:nvSpPr>
          <p:cNvPr id="3" name="Shape 1"/>
          <p:cNvSpPr/>
          <p:nvPr/>
        </p:nvSpPr>
        <p:spPr>
          <a:xfrm>
            <a:off x="815975" y="1572896"/>
            <a:ext cx="3414157" cy="864870"/>
          </a:xfrm>
          <a:prstGeom prst="roundRect">
            <a:avLst>
              <a:gd name="adj" fmla="val 11380"/>
            </a:avLst>
          </a:prstGeom>
          <a:solidFill>
            <a:srgbClr val="1B2D4F"/>
          </a:solidFill>
          <a:ln w="6350">
            <a:solidFill>
              <a:srgbClr val="2F4670"/>
            </a:solidFill>
            <a:prstDash val="solid"/>
          </a:ln>
        </p:spPr>
      </p:sp>
      <p:sp>
        <p:nvSpPr>
          <p:cNvPr id="4" name="Text 2"/>
          <p:cNvSpPr/>
          <p:nvPr/>
        </p:nvSpPr>
        <p:spPr>
          <a:xfrm>
            <a:off x="1021080" y="1752600"/>
            <a:ext cx="309406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DM Sans" pitchFamily="34" charset="0"/>
                <a:ea typeface="DM Sans" pitchFamily="34" charset="-122"/>
                <a:cs typeface="DM Sans" pitchFamily="34" charset="-120"/>
              </a:rPr>
              <a:t>Student module</a:t>
            </a:r>
            <a:endParaRPr lang="en-US" sz="1800" dirty="0"/>
          </a:p>
        </p:txBody>
      </p:sp>
      <p:sp>
        <p:nvSpPr>
          <p:cNvPr id="5" name="Text 3"/>
          <p:cNvSpPr/>
          <p:nvPr/>
        </p:nvSpPr>
        <p:spPr>
          <a:xfrm>
            <a:off x="1021080" y="2026921"/>
            <a:ext cx="309406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0E0"/>
                </a:solidFill>
                <a:latin typeface="DM Sans" pitchFamily="34" charset="0"/>
                <a:ea typeface="DM Sans" pitchFamily="34" charset="-122"/>
                <a:cs typeface="DM Sans" pitchFamily="34" charset="-120"/>
              </a:rPr>
              <a:t>Onboarding, discovery, registration</a:t>
            </a:r>
            <a:endParaRPr lang="en-US" sz="1300" dirty="0"/>
          </a:p>
        </p:txBody>
      </p:sp>
      <p:sp>
        <p:nvSpPr>
          <p:cNvPr id="6" name="Shape 4"/>
          <p:cNvSpPr/>
          <p:nvPr/>
        </p:nvSpPr>
        <p:spPr>
          <a:xfrm>
            <a:off x="4388882" y="1572896"/>
            <a:ext cx="3414236" cy="864870"/>
          </a:xfrm>
          <a:prstGeom prst="roundRect">
            <a:avLst>
              <a:gd name="adj" fmla="val 11380"/>
            </a:avLst>
          </a:prstGeom>
          <a:solidFill>
            <a:srgbClr val="1B2D4F"/>
          </a:solidFill>
          <a:ln w="6350">
            <a:solidFill>
              <a:srgbClr val="2F4670"/>
            </a:solidFill>
            <a:prstDash val="solid"/>
          </a:ln>
        </p:spPr>
      </p:sp>
      <p:sp>
        <p:nvSpPr>
          <p:cNvPr id="7" name="Text 5"/>
          <p:cNvSpPr/>
          <p:nvPr/>
        </p:nvSpPr>
        <p:spPr>
          <a:xfrm>
            <a:off x="4593987" y="1752600"/>
            <a:ext cx="30941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DM Sans" pitchFamily="34" charset="0"/>
                <a:ea typeface="DM Sans" pitchFamily="34" charset="-122"/>
                <a:cs typeface="DM Sans" pitchFamily="34" charset="-120"/>
              </a:rPr>
              <a:t>Organizer module</a:t>
            </a:r>
            <a:endParaRPr lang="en-US" sz="1800" dirty="0"/>
          </a:p>
        </p:txBody>
      </p:sp>
      <p:sp>
        <p:nvSpPr>
          <p:cNvPr id="8" name="Text 6"/>
          <p:cNvSpPr/>
          <p:nvPr/>
        </p:nvSpPr>
        <p:spPr>
          <a:xfrm>
            <a:off x="4593987" y="2026921"/>
            <a:ext cx="309414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0E0"/>
                </a:solidFill>
                <a:latin typeface="DM Sans" pitchFamily="34" charset="0"/>
                <a:ea typeface="DM Sans" pitchFamily="34" charset="-122"/>
                <a:cs typeface="DM Sans" pitchFamily="34" charset="-120"/>
              </a:rPr>
              <a:t>Event creation, attendance, insights</a:t>
            </a:r>
            <a:endParaRPr lang="en-US" sz="1300" dirty="0"/>
          </a:p>
        </p:txBody>
      </p:sp>
      <p:sp>
        <p:nvSpPr>
          <p:cNvPr id="9" name="Shape 7"/>
          <p:cNvSpPr/>
          <p:nvPr/>
        </p:nvSpPr>
        <p:spPr>
          <a:xfrm>
            <a:off x="7961868" y="1572896"/>
            <a:ext cx="3414157" cy="864870"/>
          </a:xfrm>
          <a:prstGeom prst="roundRect">
            <a:avLst>
              <a:gd name="adj" fmla="val 11380"/>
            </a:avLst>
          </a:prstGeom>
          <a:solidFill>
            <a:srgbClr val="1B2D4F"/>
          </a:solidFill>
          <a:ln w="6350">
            <a:solidFill>
              <a:srgbClr val="2F4670"/>
            </a:solidFill>
            <a:prstDash val="solid"/>
          </a:ln>
        </p:spPr>
      </p:sp>
      <p:sp>
        <p:nvSpPr>
          <p:cNvPr id="10" name="Text 8"/>
          <p:cNvSpPr/>
          <p:nvPr/>
        </p:nvSpPr>
        <p:spPr>
          <a:xfrm>
            <a:off x="8166974" y="1752600"/>
            <a:ext cx="309406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DM Sans" pitchFamily="34" charset="0"/>
                <a:ea typeface="DM Sans" pitchFamily="34" charset="-122"/>
                <a:cs typeface="DM Sans" pitchFamily="34" charset="-120"/>
              </a:rPr>
              <a:t>Administrator module</a:t>
            </a:r>
            <a:endParaRPr lang="en-US" sz="1800" dirty="0"/>
          </a:p>
        </p:txBody>
      </p:sp>
      <p:sp>
        <p:nvSpPr>
          <p:cNvPr id="11" name="Text 9"/>
          <p:cNvSpPr/>
          <p:nvPr/>
        </p:nvSpPr>
        <p:spPr>
          <a:xfrm>
            <a:off x="8166974" y="2026921"/>
            <a:ext cx="309406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0E0"/>
                </a:solidFill>
                <a:latin typeface="DM Sans" pitchFamily="34" charset="0"/>
                <a:ea typeface="DM Sans" pitchFamily="34" charset="-122"/>
                <a:cs typeface="DM Sans" pitchFamily="34" charset="-120"/>
              </a:rPr>
              <a:t>Oversight, accounts, analytics</a:t>
            </a:r>
            <a:endParaRPr lang="en-US" sz="1300" dirty="0"/>
          </a:p>
        </p:txBody>
      </p:sp>
      <p:pic>
        <p:nvPicPr>
          <p:cNvPr id="12" name="Image 0" descr="arrow-down"/>
          <p:cNvPicPr>
            <a:picLocks noChangeAspect="1"/>
          </p:cNvPicPr>
          <p:nvPr/>
        </p:nvPicPr>
        <p:blipFill>
          <a:blip r:embed="rId3"/>
          <a:srcRect/>
          <a:stretch/>
        </p:blipFill>
        <p:spPr>
          <a:xfrm>
            <a:off x="5969000" y="2542539"/>
            <a:ext cx="254000" cy="304800"/>
          </a:xfrm>
          <a:prstGeom prst="rect">
            <a:avLst/>
          </a:prstGeom>
        </p:spPr>
      </p:pic>
      <p:sp>
        <p:nvSpPr>
          <p:cNvPr id="13" name="Shape 10"/>
          <p:cNvSpPr/>
          <p:nvPr/>
        </p:nvSpPr>
        <p:spPr>
          <a:xfrm>
            <a:off x="812800" y="2948939"/>
            <a:ext cx="10566400" cy="878840"/>
          </a:xfrm>
          <a:prstGeom prst="roundRect">
            <a:avLst>
              <a:gd name="adj" fmla="val 11561"/>
            </a:avLst>
          </a:prstGeom>
          <a:solidFill>
            <a:srgbClr val="0F766E"/>
          </a:solidFill>
          <a:ln/>
        </p:spPr>
      </p:sp>
      <p:sp>
        <p:nvSpPr>
          <p:cNvPr id="14" name="Text 11"/>
          <p:cNvSpPr/>
          <p:nvPr/>
        </p:nvSpPr>
        <p:spPr>
          <a:xfrm>
            <a:off x="1016000" y="3126739"/>
            <a:ext cx="104648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DM Sans" pitchFamily="34" charset="0"/>
                <a:ea typeface="DM Sans" pitchFamily="34" charset="-122"/>
                <a:cs typeface="DM Sans" pitchFamily="34" charset="-120"/>
              </a:rPr>
              <a:t>Event management core</a:t>
            </a:r>
            <a:endParaRPr lang="en-US" sz="1800" dirty="0"/>
          </a:p>
        </p:txBody>
      </p:sp>
      <p:sp>
        <p:nvSpPr>
          <p:cNvPr id="15" name="Text 12"/>
          <p:cNvSpPr/>
          <p:nvPr/>
        </p:nvSpPr>
        <p:spPr>
          <a:xfrm>
            <a:off x="1016000" y="3401061"/>
            <a:ext cx="10464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4F1"/>
                </a:solidFill>
                <a:latin typeface="DM Sans" pitchFamily="34" charset="0"/>
                <a:ea typeface="DM Sans" pitchFamily="34" charset="-122"/>
                <a:cs typeface="DM Sans" pitchFamily="34" charset="-120"/>
              </a:rPr>
              <a:t>Creation · discovery · registration · notifications · two-step QR attendance</a:t>
            </a:r>
            <a:endParaRPr lang="en-US" sz="1400" dirty="0"/>
          </a:p>
        </p:txBody>
      </p:sp>
      <p:pic>
        <p:nvPicPr>
          <p:cNvPr id="16" name="Image 1" descr="arrow-down"/>
          <p:cNvPicPr>
            <a:picLocks noChangeAspect="1"/>
          </p:cNvPicPr>
          <p:nvPr/>
        </p:nvPicPr>
        <p:blipFill>
          <a:blip r:embed="rId3"/>
          <a:srcRect/>
          <a:stretch/>
        </p:blipFill>
        <p:spPr>
          <a:xfrm>
            <a:off x="5969000" y="3929382"/>
            <a:ext cx="254000" cy="304800"/>
          </a:xfrm>
          <a:prstGeom prst="rect">
            <a:avLst/>
          </a:prstGeom>
        </p:spPr>
      </p:pic>
      <p:sp>
        <p:nvSpPr>
          <p:cNvPr id="17" name="Shape 13"/>
          <p:cNvSpPr/>
          <p:nvPr/>
        </p:nvSpPr>
        <p:spPr>
          <a:xfrm>
            <a:off x="812800" y="4335782"/>
            <a:ext cx="5201920" cy="871220"/>
          </a:xfrm>
          <a:prstGeom prst="roundRect">
            <a:avLst>
              <a:gd name="adj" fmla="val 11662"/>
            </a:avLst>
          </a:prstGeom>
          <a:solidFill>
            <a:srgbClr val="E0A030"/>
          </a:solidFill>
          <a:ln/>
        </p:spPr>
      </p:sp>
      <p:sp>
        <p:nvSpPr>
          <p:cNvPr id="18" name="Text 14"/>
          <p:cNvSpPr/>
          <p:nvPr/>
        </p:nvSpPr>
        <p:spPr>
          <a:xfrm>
            <a:off x="1016000" y="4513582"/>
            <a:ext cx="493938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AI recommendation engine</a:t>
            </a:r>
            <a:endParaRPr lang="en-US" sz="1800" dirty="0"/>
          </a:p>
        </p:txBody>
      </p:sp>
      <p:sp>
        <p:nvSpPr>
          <p:cNvPr id="19" name="Text 15"/>
          <p:cNvSpPr/>
          <p:nvPr/>
        </p:nvSpPr>
        <p:spPr>
          <a:xfrm>
            <a:off x="1016000" y="4787900"/>
            <a:ext cx="49393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3A"/>
                </a:solidFill>
                <a:latin typeface="DM Sans" pitchFamily="34" charset="0"/>
                <a:ea typeface="DM Sans" pitchFamily="34" charset="-122"/>
                <a:cs typeface="DM Sans" pitchFamily="34" charset="-120"/>
              </a:rPr>
              <a:t>all-MiniLM-L6-v2 embeddings with cosine similarity</a:t>
            </a:r>
            <a:endParaRPr lang="en-US" sz="1300" dirty="0"/>
          </a:p>
        </p:txBody>
      </p:sp>
      <p:sp>
        <p:nvSpPr>
          <p:cNvPr id="20" name="Shape 16"/>
          <p:cNvSpPr/>
          <p:nvPr/>
        </p:nvSpPr>
        <p:spPr>
          <a:xfrm>
            <a:off x="6170295" y="4338957"/>
            <a:ext cx="5205730" cy="864870"/>
          </a:xfrm>
          <a:prstGeom prst="roundRect">
            <a:avLst>
              <a:gd name="adj" fmla="val 11380"/>
            </a:avLst>
          </a:prstGeom>
          <a:solidFill>
            <a:srgbClr val="1B2D4F"/>
          </a:solidFill>
          <a:ln w="6350">
            <a:solidFill>
              <a:srgbClr val="2F4670"/>
            </a:solidFill>
            <a:prstDash val="solid"/>
          </a:ln>
        </p:spPr>
      </p:sp>
      <p:sp>
        <p:nvSpPr>
          <p:cNvPr id="21" name="Text 17"/>
          <p:cNvSpPr/>
          <p:nvPr/>
        </p:nvSpPr>
        <p:spPr>
          <a:xfrm>
            <a:off x="6375400" y="4518661"/>
            <a:ext cx="493938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DM Sans" pitchFamily="34" charset="0"/>
                <a:ea typeface="DM Sans" pitchFamily="34" charset="-122"/>
                <a:cs typeface="DM Sans" pitchFamily="34" charset="-120"/>
              </a:rPr>
              <a:t>Datasets</a:t>
            </a:r>
            <a:endParaRPr lang="en-US" sz="1800" dirty="0"/>
          </a:p>
        </p:txBody>
      </p:sp>
      <p:sp>
        <p:nvSpPr>
          <p:cNvPr id="22" name="Text 18"/>
          <p:cNvSpPr/>
          <p:nvPr/>
        </p:nvSpPr>
        <p:spPr>
          <a:xfrm>
            <a:off x="6375400" y="4792982"/>
            <a:ext cx="49393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0E0"/>
                </a:solidFill>
                <a:latin typeface="DM Sans" pitchFamily="34" charset="0"/>
                <a:ea typeface="DM Sans" pitchFamily="34" charset="-122"/>
                <a:cs typeface="DM Sans" pitchFamily="34" charset="-120"/>
              </a:rPr>
              <a:t>Events · Interactions · Attendance</a:t>
            </a:r>
            <a:endParaRPr lang="en-US" sz="1300" dirty="0"/>
          </a:p>
        </p:txBody>
      </p:sp>
      <p:sp>
        <p:nvSpPr>
          <p:cNvPr id="23" name="Text 19"/>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0E0"/>
                </a:solidFill>
                <a:latin typeface="DM Sans" pitchFamily="34" charset="0"/>
                <a:ea typeface="DM Sans" pitchFamily="34" charset="-122"/>
                <a:cs typeface="DM Sans" pitchFamily="34" charset="-120"/>
              </a:rPr>
              <a:t>SOA Project Review-3 · CampusConnect</a:t>
            </a:r>
            <a:endParaRPr lang="en-US" sz="1200" dirty="0"/>
          </a:p>
        </p:txBody>
      </p:sp>
      <p:sp>
        <p:nvSpPr>
          <p:cNvPr id="24" name="Text 20"/>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FD0E0"/>
                </a:solidFill>
                <a:latin typeface="DM Sans" pitchFamily="34" charset="0"/>
                <a:ea typeface="DM Sans" pitchFamily="34" charset="-122"/>
                <a:cs typeface="DM Sans" pitchFamily="34" charset="-120"/>
              </a:rPr>
              <a:t>5</a:t>
            </a:r>
            <a:endParaRPr lang="en-US" sz="1200" dirty="0"/>
          </a:p>
        </p:txBody>
      </p:sp>
      <p:pic>
        <p:nvPicPr>
          <p:cNvPr id="26" name="Picture 25">
            <a:extLst>
              <a:ext uri="{FF2B5EF4-FFF2-40B4-BE49-F238E27FC236}">
                <a16:creationId xmlns:a16="http://schemas.microsoft.com/office/drawing/2014/main" id="{013C4066-02B4-BB6A-7958-7AC8BF710C37}"/>
              </a:ext>
            </a:extLst>
          </p:cNvPr>
          <p:cNvPicPr>
            <a:picLocks noChangeAspect="1"/>
          </p:cNvPicPr>
          <p:nvPr/>
        </p:nvPicPr>
        <p:blipFill>
          <a:blip r:embed="rId4"/>
          <a:stretch>
            <a:fillRect/>
          </a:stretch>
        </p:blipFill>
        <p:spPr>
          <a:xfrm>
            <a:off x="10262932" y="0"/>
            <a:ext cx="1942620" cy="62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Organizer module</a:t>
            </a:r>
            <a:endParaRPr lang="en-US" sz="3600" dirty="0"/>
          </a:p>
        </p:txBody>
      </p:sp>
      <p:sp>
        <p:nvSpPr>
          <p:cNvPr id="3" name="Shape 1"/>
          <p:cNvSpPr/>
          <p:nvPr/>
        </p:nvSpPr>
        <p:spPr>
          <a:xfrm>
            <a:off x="815975" y="1623696"/>
            <a:ext cx="2895362" cy="2028190"/>
          </a:xfrm>
          <a:prstGeom prst="roundRect">
            <a:avLst>
              <a:gd name="adj" fmla="val 4853"/>
            </a:avLst>
          </a:prstGeom>
          <a:solidFill>
            <a:srgbClr val="FFFFFF"/>
          </a:solidFill>
          <a:ln w="6350">
            <a:solidFill>
              <a:srgbClr val="DDDBD2"/>
            </a:solidFill>
            <a:prstDash val="solid"/>
          </a:ln>
        </p:spPr>
      </p:sp>
      <p:sp>
        <p:nvSpPr>
          <p:cNvPr id="4" name="Text 2"/>
          <p:cNvSpPr/>
          <p:nvPr/>
        </p:nvSpPr>
        <p:spPr>
          <a:xfrm>
            <a:off x="1021080" y="1828800"/>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Create events</a:t>
            </a:r>
            <a:endParaRPr lang="en-US" sz="1600" dirty="0"/>
          </a:p>
        </p:txBody>
      </p:sp>
      <p:sp>
        <p:nvSpPr>
          <p:cNvPr id="5" name="Text 3"/>
          <p:cNvSpPr/>
          <p:nvPr/>
        </p:nvSpPr>
        <p:spPr>
          <a:xfrm>
            <a:off x="1021080" y="2148839"/>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Title, description, category, tags, mode, schedule and capacity</a:t>
            </a:r>
            <a:endParaRPr lang="en-US" sz="1300" dirty="0"/>
          </a:p>
        </p:txBody>
      </p:sp>
      <p:sp>
        <p:nvSpPr>
          <p:cNvPr id="6" name="Shape 4"/>
          <p:cNvSpPr/>
          <p:nvPr/>
        </p:nvSpPr>
        <p:spPr>
          <a:xfrm>
            <a:off x="3870087" y="1623696"/>
            <a:ext cx="2895362" cy="2028190"/>
          </a:xfrm>
          <a:prstGeom prst="roundRect">
            <a:avLst>
              <a:gd name="adj" fmla="val 4853"/>
            </a:avLst>
          </a:prstGeom>
          <a:solidFill>
            <a:srgbClr val="FFFFFF"/>
          </a:solidFill>
          <a:ln w="6350">
            <a:solidFill>
              <a:srgbClr val="DDDBD2"/>
            </a:solidFill>
            <a:prstDash val="solid"/>
          </a:ln>
        </p:spPr>
      </p:sp>
      <p:sp>
        <p:nvSpPr>
          <p:cNvPr id="7" name="Text 5"/>
          <p:cNvSpPr/>
          <p:nvPr/>
        </p:nvSpPr>
        <p:spPr>
          <a:xfrm>
            <a:off x="4075192" y="1828800"/>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Manage registrations</a:t>
            </a:r>
            <a:endParaRPr lang="en-US" sz="1600" dirty="0"/>
          </a:p>
        </p:txBody>
      </p:sp>
      <p:sp>
        <p:nvSpPr>
          <p:cNvPr id="8" name="Text 6"/>
          <p:cNvSpPr/>
          <p:nvPr/>
        </p:nvSpPr>
        <p:spPr>
          <a:xfrm>
            <a:off x="4075192" y="2148839"/>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Track sign-ups against capacity and send updates</a:t>
            </a:r>
            <a:endParaRPr lang="en-US" sz="1300" dirty="0"/>
          </a:p>
        </p:txBody>
      </p:sp>
      <p:sp>
        <p:nvSpPr>
          <p:cNvPr id="9" name="Shape 7"/>
          <p:cNvSpPr/>
          <p:nvPr/>
        </p:nvSpPr>
        <p:spPr>
          <a:xfrm>
            <a:off x="815975" y="3810636"/>
            <a:ext cx="2895362" cy="2028190"/>
          </a:xfrm>
          <a:prstGeom prst="roundRect">
            <a:avLst>
              <a:gd name="adj" fmla="val 4853"/>
            </a:avLst>
          </a:prstGeom>
          <a:solidFill>
            <a:srgbClr val="FFFFFF"/>
          </a:solidFill>
          <a:ln w="6350">
            <a:solidFill>
              <a:srgbClr val="DDDBD2"/>
            </a:solidFill>
            <a:prstDash val="solid"/>
          </a:ln>
        </p:spPr>
      </p:sp>
      <p:sp>
        <p:nvSpPr>
          <p:cNvPr id="10" name="Text 8"/>
          <p:cNvSpPr/>
          <p:nvPr/>
        </p:nvSpPr>
        <p:spPr>
          <a:xfrm>
            <a:off x="1021080" y="4015739"/>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Verify attendance</a:t>
            </a:r>
            <a:endParaRPr lang="en-US" sz="1600" dirty="0"/>
          </a:p>
        </p:txBody>
      </p:sp>
      <p:sp>
        <p:nvSpPr>
          <p:cNvPr id="11" name="Text 9"/>
          <p:cNvSpPr/>
          <p:nvPr/>
        </p:nvSpPr>
        <p:spPr>
          <a:xfrm>
            <a:off x="1021080" y="4335782"/>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QR entry and exit checks confirm full participation</a:t>
            </a:r>
            <a:endParaRPr lang="en-US" sz="1300" dirty="0"/>
          </a:p>
        </p:txBody>
      </p:sp>
      <p:sp>
        <p:nvSpPr>
          <p:cNvPr id="12" name="Shape 10"/>
          <p:cNvSpPr/>
          <p:nvPr/>
        </p:nvSpPr>
        <p:spPr>
          <a:xfrm>
            <a:off x="3870087" y="3810636"/>
            <a:ext cx="2895362" cy="2028190"/>
          </a:xfrm>
          <a:prstGeom prst="roundRect">
            <a:avLst>
              <a:gd name="adj" fmla="val 4853"/>
            </a:avLst>
          </a:prstGeom>
          <a:solidFill>
            <a:srgbClr val="FFFFFF"/>
          </a:solidFill>
          <a:ln w="6350">
            <a:solidFill>
              <a:srgbClr val="DDDBD2"/>
            </a:solidFill>
            <a:prstDash val="solid"/>
          </a:ln>
        </p:spPr>
      </p:sp>
      <p:sp>
        <p:nvSpPr>
          <p:cNvPr id="13" name="Text 11"/>
          <p:cNvSpPr/>
          <p:nvPr/>
        </p:nvSpPr>
        <p:spPr>
          <a:xfrm>
            <a:off x="4075192" y="4015739"/>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Review insights</a:t>
            </a:r>
            <a:endParaRPr lang="en-US" sz="1600" dirty="0"/>
          </a:p>
        </p:txBody>
      </p:sp>
      <p:sp>
        <p:nvSpPr>
          <p:cNvPr id="14" name="Text 12"/>
          <p:cNvSpPr/>
          <p:nvPr/>
        </p:nvSpPr>
        <p:spPr>
          <a:xfrm>
            <a:off x="4075192" y="4335782"/>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Registration and attendance patterns per event</a:t>
            </a:r>
            <a:endParaRPr lang="en-US" sz="1300" dirty="0"/>
          </a:p>
        </p:txBody>
      </p:sp>
      <p:sp>
        <p:nvSpPr>
          <p:cNvPr id="16" name="Text 14"/>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6</a:t>
            </a:r>
            <a:endParaRPr lang="en-US" sz="1200" dirty="0"/>
          </a:p>
        </p:txBody>
      </p:sp>
      <p:pic>
        <p:nvPicPr>
          <p:cNvPr id="19" name="Picture 18">
            <a:extLst>
              <a:ext uri="{FF2B5EF4-FFF2-40B4-BE49-F238E27FC236}">
                <a16:creationId xmlns:a16="http://schemas.microsoft.com/office/drawing/2014/main" id="{2AA64ECF-4973-D2EA-CF3E-A03129BB57AF}"/>
              </a:ext>
            </a:extLst>
          </p:cNvPr>
          <p:cNvPicPr>
            <a:picLocks noChangeAspect="1"/>
          </p:cNvPicPr>
          <p:nvPr/>
        </p:nvPicPr>
        <p:blipFill>
          <a:blip r:embed="rId3"/>
          <a:stretch>
            <a:fillRect/>
          </a:stretch>
        </p:blipFill>
        <p:spPr>
          <a:xfrm>
            <a:off x="10262932" y="9331"/>
            <a:ext cx="1942620" cy="62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Administrator module</a:t>
            </a:r>
            <a:endParaRPr lang="en-US" sz="3600" dirty="0"/>
          </a:p>
        </p:txBody>
      </p:sp>
      <p:sp>
        <p:nvSpPr>
          <p:cNvPr id="4" name="Shape 2"/>
          <p:cNvSpPr/>
          <p:nvPr/>
        </p:nvSpPr>
        <p:spPr>
          <a:xfrm>
            <a:off x="5426551" y="1623696"/>
            <a:ext cx="2895362" cy="1912620"/>
          </a:xfrm>
          <a:prstGeom prst="roundRect">
            <a:avLst>
              <a:gd name="adj" fmla="val 5146"/>
            </a:avLst>
          </a:prstGeom>
          <a:solidFill>
            <a:srgbClr val="FFFFFF"/>
          </a:solidFill>
          <a:ln w="6350">
            <a:solidFill>
              <a:srgbClr val="DDDBD2"/>
            </a:solidFill>
            <a:prstDash val="solid"/>
          </a:ln>
        </p:spPr>
      </p:sp>
      <p:sp>
        <p:nvSpPr>
          <p:cNvPr id="5" name="Text 3"/>
          <p:cNvSpPr/>
          <p:nvPr/>
        </p:nvSpPr>
        <p:spPr>
          <a:xfrm>
            <a:off x="5631656" y="1828800"/>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Oversee events</a:t>
            </a:r>
            <a:endParaRPr lang="en-US" sz="1600" dirty="0"/>
          </a:p>
        </p:txBody>
      </p:sp>
      <p:sp>
        <p:nvSpPr>
          <p:cNvPr id="6" name="Text 4"/>
          <p:cNvSpPr/>
          <p:nvPr/>
        </p:nvSpPr>
        <p:spPr>
          <a:xfrm>
            <a:off x="5631656" y="2148839"/>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Review events across clubs and organizers</a:t>
            </a:r>
            <a:endParaRPr lang="en-US" sz="1300" dirty="0"/>
          </a:p>
        </p:txBody>
      </p:sp>
      <p:sp>
        <p:nvSpPr>
          <p:cNvPr id="7" name="Shape 5"/>
          <p:cNvSpPr/>
          <p:nvPr/>
        </p:nvSpPr>
        <p:spPr>
          <a:xfrm>
            <a:off x="8480663" y="1623696"/>
            <a:ext cx="2895362" cy="1912620"/>
          </a:xfrm>
          <a:prstGeom prst="roundRect">
            <a:avLst>
              <a:gd name="adj" fmla="val 5146"/>
            </a:avLst>
          </a:prstGeom>
          <a:solidFill>
            <a:srgbClr val="FFFFFF"/>
          </a:solidFill>
          <a:ln w="6350">
            <a:solidFill>
              <a:srgbClr val="DDDBD2"/>
            </a:solidFill>
            <a:prstDash val="solid"/>
          </a:ln>
        </p:spPr>
      </p:sp>
      <p:sp>
        <p:nvSpPr>
          <p:cNvPr id="8" name="Text 6"/>
          <p:cNvSpPr/>
          <p:nvPr/>
        </p:nvSpPr>
        <p:spPr>
          <a:xfrm>
            <a:off x="8685768" y="1828800"/>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Manage accounts</a:t>
            </a:r>
            <a:endParaRPr lang="en-US" sz="1600" dirty="0"/>
          </a:p>
        </p:txBody>
      </p:sp>
      <p:sp>
        <p:nvSpPr>
          <p:cNvPr id="9" name="Text 7"/>
          <p:cNvSpPr/>
          <p:nvPr/>
        </p:nvSpPr>
        <p:spPr>
          <a:xfrm>
            <a:off x="8685768" y="2148839"/>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Organizer and college accounts, access and roles</a:t>
            </a:r>
            <a:endParaRPr lang="en-US" sz="1300" dirty="0"/>
          </a:p>
        </p:txBody>
      </p:sp>
      <p:sp>
        <p:nvSpPr>
          <p:cNvPr id="10" name="Shape 8"/>
          <p:cNvSpPr/>
          <p:nvPr/>
        </p:nvSpPr>
        <p:spPr>
          <a:xfrm>
            <a:off x="5426551" y="3695064"/>
            <a:ext cx="2895362" cy="2143760"/>
          </a:xfrm>
          <a:prstGeom prst="roundRect">
            <a:avLst>
              <a:gd name="adj" fmla="val 4591"/>
            </a:avLst>
          </a:prstGeom>
          <a:solidFill>
            <a:srgbClr val="FFFFFF"/>
          </a:solidFill>
          <a:ln w="6350">
            <a:solidFill>
              <a:srgbClr val="DDDBD2"/>
            </a:solidFill>
            <a:prstDash val="solid"/>
          </a:ln>
        </p:spPr>
      </p:sp>
      <p:sp>
        <p:nvSpPr>
          <p:cNvPr id="11" name="Text 9"/>
          <p:cNvSpPr/>
          <p:nvPr/>
        </p:nvSpPr>
        <p:spPr>
          <a:xfrm>
            <a:off x="5631656" y="3900171"/>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Monitor credits</a:t>
            </a:r>
            <a:endParaRPr lang="en-US" sz="1600" dirty="0"/>
          </a:p>
        </p:txBody>
      </p:sp>
      <p:sp>
        <p:nvSpPr>
          <p:cNvPr id="12" name="Text 10"/>
          <p:cNvSpPr/>
          <p:nvPr/>
        </p:nvSpPr>
        <p:spPr>
          <a:xfrm>
            <a:off x="5631656" y="4220211"/>
            <a:ext cx="255970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Attendance-confirmed participation and SIL credit records</a:t>
            </a:r>
            <a:endParaRPr lang="en-US" sz="1300" dirty="0"/>
          </a:p>
        </p:txBody>
      </p:sp>
      <p:sp>
        <p:nvSpPr>
          <p:cNvPr id="13" name="Shape 11"/>
          <p:cNvSpPr/>
          <p:nvPr/>
        </p:nvSpPr>
        <p:spPr>
          <a:xfrm>
            <a:off x="8480663" y="3695064"/>
            <a:ext cx="2895362" cy="2143760"/>
          </a:xfrm>
          <a:prstGeom prst="roundRect">
            <a:avLst>
              <a:gd name="adj" fmla="val 4591"/>
            </a:avLst>
          </a:prstGeom>
          <a:solidFill>
            <a:srgbClr val="FFFFFF"/>
          </a:solidFill>
          <a:ln w="6350">
            <a:solidFill>
              <a:srgbClr val="DDDBD2"/>
            </a:solidFill>
            <a:prstDash val="solid"/>
          </a:ln>
        </p:spPr>
      </p:sp>
      <p:sp>
        <p:nvSpPr>
          <p:cNvPr id="14" name="Text 12"/>
          <p:cNvSpPr/>
          <p:nvPr/>
        </p:nvSpPr>
        <p:spPr>
          <a:xfrm>
            <a:off x="8685768" y="3900171"/>
            <a:ext cx="25597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View analytics</a:t>
            </a:r>
            <a:endParaRPr lang="en-US" sz="1600" dirty="0"/>
          </a:p>
        </p:txBody>
      </p:sp>
      <p:sp>
        <p:nvSpPr>
          <p:cNvPr id="15" name="Text 13"/>
          <p:cNvSpPr/>
          <p:nvPr/>
        </p:nvSpPr>
        <p:spPr>
          <a:xfrm>
            <a:off x="8685768" y="4220211"/>
            <a:ext cx="255970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Engagement trends across categories and colleges</a:t>
            </a:r>
            <a:endParaRPr lang="en-US" sz="1300" dirty="0"/>
          </a:p>
        </p:txBody>
      </p:sp>
      <p:sp>
        <p:nvSpPr>
          <p:cNvPr id="16" name="Text 14"/>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7</a:t>
            </a:r>
            <a:endParaRPr lang="en-US" sz="1200" dirty="0"/>
          </a:p>
        </p:txBody>
      </p:sp>
      <p:pic>
        <p:nvPicPr>
          <p:cNvPr id="19" name="Picture 18">
            <a:extLst>
              <a:ext uri="{FF2B5EF4-FFF2-40B4-BE49-F238E27FC236}">
                <a16:creationId xmlns:a16="http://schemas.microsoft.com/office/drawing/2014/main" id="{0413DE88-5313-8F3D-C410-173C0CCFDCF2}"/>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Recommendation engine</a:t>
            </a:r>
            <a:endParaRPr lang="en-US" sz="3600" dirty="0"/>
          </a:p>
        </p:txBody>
      </p:sp>
      <p:sp>
        <p:nvSpPr>
          <p:cNvPr id="3" name="Shape 1"/>
          <p:cNvSpPr/>
          <p:nvPr/>
        </p:nvSpPr>
        <p:spPr>
          <a:xfrm>
            <a:off x="815975" y="1674496"/>
            <a:ext cx="2520950" cy="1781810"/>
          </a:xfrm>
          <a:prstGeom prst="roundRect">
            <a:avLst>
              <a:gd name="adj" fmla="val 5524"/>
            </a:avLst>
          </a:prstGeom>
          <a:solidFill>
            <a:srgbClr val="FFFFFF"/>
          </a:solidFill>
          <a:ln w="6350">
            <a:solidFill>
              <a:srgbClr val="DDDBD2"/>
            </a:solidFill>
            <a:prstDash val="solid"/>
          </a:ln>
        </p:spPr>
      </p:sp>
      <p:sp>
        <p:nvSpPr>
          <p:cNvPr id="4" name="Text 2"/>
          <p:cNvSpPr/>
          <p:nvPr/>
        </p:nvSpPr>
        <p:spPr>
          <a:xfrm>
            <a:off x="1021080" y="1930400"/>
            <a:ext cx="217406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766E"/>
                </a:solidFill>
                <a:latin typeface="DM Sans" pitchFamily="34" charset="0"/>
                <a:ea typeface="DM Sans" pitchFamily="34" charset="-122"/>
                <a:cs typeface="DM Sans" pitchFamily="34" charset="-120"/>
              </a:rPr>
              <a:t>MiniLM</a:t>
            </a:r>
            <a:endParaRPr lang="en-US" sz="3200" dirty="0"/>
          </a:p>
        </p:txBody>
      </p:sp>
      <p:sp>
        <p:nvSpPr>
          <p:cNvPr id="5" name="Text 3"/>
          <p:cNvSpPr/>
          <p:nvPr/>
        </p:nvSpPr>
        <p:spPr>
          <a:xfrm>
            <a:off x="1021080" y="2453639"/>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all-MiniLM-L6-v2 embeds event title, description and tags</a:t>
            </a:r>
            <a:endParaRPr lang="en-US" sz="1400" dirty="0"/>
          </a:p>
        </p:txBody>
      </p:sp>
      <p:sp>
        <p:nvSpPr>
          <p:cNvPr id="6" name="Shape 4"/>
          <p:cNvSpPr/>
          <p:nvPr/>
        </p:nvSpPr>
        <p:spPr>
          <a:xfrm>
            <a:off x="3495675" y="1674496"/>
            <a:ext cx="2520950" cy="1781810"/>
          </a:xfrm>
          <a:prstGeom prst="roundRect">
            <a:avLst>
              <a:gd name="adj" fmla="val 5524"/>
            </a:avLst>
          </a:prstGeom>
          <a:solidFill>
            <a:srgbClr val="FFFFFF"/>
          </a:solidFill>
          <a:ln w="6350">
            <a:solidFill>
              <a:srgbClr val="DDDBD2"/>
            </a:solidFill>
            <a:prstDash val="solid"/>
          </a:ln>
        </p:spPr>
      </p:sp>
      <p:sp>
        <p:nvSpPr>
          <p:cNvPr id="7" name="Text 5"/>
          <p:cNvSpPr/>
          <p:nvPr/>
        </p:nvSpPr>
        <p:spPr>
          <a:xfrm>
            <a:off x="3700780" y="1930400"/>
            <a:ext cx="217406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766E"/>
                </a:solidFill>
                <a:latin typeface="DM Sans" pitchFamily="34" charset="0"/>
                <a:ea typeface="DM Sans" pitchFamily="34" charset="-122"/>
                <a:cs typeface="DM Sans" pitchFamily="34" charset="-120"/>
              </a:rPr>
              <a:t>Cosine</a:t>
            </a:r>
            <a:endParaRPr lang="en-US" sz="3200" dirty="0"/>
          </a:p>
        </p:txBody>
      </p:sp>
      <p:sp>
        <p:nvSpPr>
          <p:cNvPr id="8" name="Text 6"/>
          <p:cNvSpPr/>
          <p:nvPr/>
        </p:nvSpPr>
        <p:spPr>
          <a:xfrm>
            <a:off x="3700780" y="2453639"/>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Similarity between user and event embeddings ranks events</a:t>
            </a:r>
            <a:endParaRPr lang="en-US" sz="1400" dirty="0"/>
          </a:p>
        </p:txBody>
      </p:sp>
      <p:sp>
        <p:nvSpPr>
          <p:cNvPr id="9" name="Shape 7"/>
          <p:cNvSpPr/>
          <p:nvPr/>
        </p:nvSpPr>
        <p:spPr>
          <a:xfrm>
            <a:off x="6175375" y="1674496"/>
            <a:ext cx="2520950" cy="1781810"/>
          </a:xfrm>
          <a:prstGeom prst="roundRect">
            <a:avLst>
              <a:gd name="adj" fmla="val 5524"/>
            </a:avLst>
          </a:prstGeom>
          <a:solidFill>
            <a:srgbClr val="FFFFFF"/>
          </a:solidFill>
          <a:ln w="6350">
            <a:solidFill>
              <a:srgbClr val="DDDBD2"/>
            </a:solidFill>
            <a:prstDash val="solid"/>
          </a:ln>
        </p:spPr>
      </p:sp>
      <p:sp>
        <p:nvSpPr>
          <p:cNvPr id="10" name="Text 8"/>
          <p:cNvSpPr/>
          <p:nvPr/>
        </p:nvSpPr>
        <p:spPr>
          <a:xfrm>
            <a:off x="6380480" y="1930400"/>
            <a:ext cx="217406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766E"/>
                </a:solidFill>
                <a:latin typeface="DM Sans" pitchFamily="34" charset="0"/>
                <a:ea typeface="DM Sans" pitchFamily="34" charset="-122"/>
                <a:cs typeface="DM Sans" pitchFamily="34" charset="-120"/>
              </a:rPr>
              <a:t>70 / 30</a:t>
            </a:r>
            <a:endParaRPr lang="en-US" sz="3200" dirty="0"/>
          </a:p>
        </p:txBody>
      </p:sp>
      <p:sp>
        <p:nvSpPr>
          <p:cNvPr id="11" name="Text 9"/>
          <p:cNvSpPr/>
          <p:nvPr/>
        </p:nvSpPr>
        <p:spPr>
          <a:xfrm>
            <a:off x="6380480" y="2453639"/>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Interaction history against survey signal for existing users</a:t>
            </a:r>
            <a:endParaRPr lang="en-US" sz="1400" dirty="0"/>
          </a:p>
        </p:txBody>
      </p:sp>
      <p:sp>
        <p:nvSpPr>
          <p:cNvPr id="12" name="Shape 10"/>
          <p:cNvSpPr/>
          <p:nvPr/>
        </p:nvSpPr>
        <p:spPr>
          <a:xfrm>
            <a:off x="8855075" y="1674496"/>
            <a:ext cx="2520950" cy="1781810"/>
          </a:xfrm>
          <a:prstGeom prst="roundRect">
            <a:avLst>
              <a:gd name="adj" fmla="val 5524"/>
            </a:avLst>
          </a:prstGeom>
          <a:solidFill>
            <a:srgbClr val="FFFFFF"/>
          </a:solidFill>
          <a:ln w="6350">
            <a:solidFill>
              <a:srgbClr val="DDDBD2"/>
            </a:solidFill>
            <a:prstDash val="solid"/>
          </a:ln>
        </p:spPr>
      </p:sp>
      <p:sp>
        <p:nvSpPr>
          <p:cNvPr id="13" name="Text 11"/>
          <p:cNvSpPr/>
          <p:nvPr/>
        </p:nvSpPr>
        <p:spPr>
          <a:xfrm>
            <a:off x="9060180" y="1930400"/>
            <a:ext cx="217406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766E"/>
                </a:solidFill>
                <a:latin typeface="DM Sans" pitchFamily="34" charset="0"/>
                <a:ea typeface="DM Sans" pitchFamily="34" charset="-122"/>
                <a:cs typeface="DM Sans" pitchFamily="34" charset="-120"/>
              </a:rPr>
              <a:t>5</a:t>
            </a:r>
            <a:endParaRPr lang="en-US" sz="3200" dirty="0"/>
          </a:p>
        </p:txBody>
      </p:sp>
      <p:sp>
        <p:nvSpPr>
          <p:cNvPr id="14" name="Text 12"/>
          <p:cNvSpPr/>
          <p:nvPr/>
        </p:nvSpPr>
        <p:spPr>
          <a:xfrm>
            <a:off x="9060180" y="2453639"/>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Interactions before a new user switches from survey-only mode</a:t>
            </a:r>
            <a:endParaRPr lang="en-US" sz="1400" dirty="0"/>
          </a:p>
        </p:txBody>
      </p:sp>
      <p:sp>
        <p:nvSpPr>
          <p:cNvPr id="15" name="Text 13"/>
          <p:cNvSpPr/>
          <p:nvPr/>
        </p:nvSpPr>
        <p:spPr>
          <a:xfrm>
            <a:off x="812800" y="3815082"/>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203A"/>
                </a:solidFill>
                <a:latin typeface="DM Sans" pitchFamily="34" charset="0"/>
                <a:ea typeface="DM Sans" pitchFamily="34" charset="-122"/>
                <a:cs typeface="DM Sans" pitchFamily="34" charset="-120"/>
              </a:rPr>
              <a:t>New users start from the interest and event-mode survey. As viewed, saved, registered and attended signals build up, history takes over the ranking.</a:t>
            </a:r>
            <a:endParaRPr lang="en-US" sz="1600" dirty="0"/>
          </a:p>
        </p:txBody>
      </p:sp>
      <p:sp>
        <p:nvSpPr>
          <p:cNvPr id="16" name="Text 14"/>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17" name="Text 15"/>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8</a:t>
            </a:r>
            <a:endParaRPr lang="en-US" sz="1200" dirty="0"/>
          </a:p>
        </p:txBody>
      </p:sp>
      <p:pic>
        <p:nvPicPr>
          <p:cNvPr id="19" name="Picture 18">
            <a:extLst>
              <a:ext uri="{FF2B5EF4-FFF2-40B4-BE49-F238E27FC236}">
                <a16:creationId xmlns:a16="http://schemas.microsoft.com/office/drawing/2014/main" id="{9B43B289-1B32-2BE5-4886-380128ADC335}"/>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Evaluation metrics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1" cy="2664460"/>
        </p:xfrm>
        <a:graphic>
          <a:graphicData uri="http://schemas.openxmlformats.org/drawingml/2006/table">
            <a:tbl>
              <a:tblPr/>
              <a:tblGrid>
                <a:gridCol w="2533498">
                  <a:extLst>
                    <a:ext uri="{9D8B030D-6E8A-4147-A177-3AD203B41FA5}">
                      <a16:colId xmlns:a16="http://schemas.microsoft.com/office/drawing/2014/main" val="20000"/>
                    </a:ext>
                  </a:extLst>
                </a:gridCol>
                <a:gridCol w="3377997">
                  <a:extLst>
                    <a:ext uri="{9D8B030D-6E8A-4147-A177-3AD203B41FA5}">
                      <a16:colId xmlns:a16="http://schemas.microsoft.com/office/drawing/2014/main" val="20001"/>
                    </a:ext>
                  </a:extLst>
                </a:gridCol>
                <a:gridCol w="4644746">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Metric</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What it shows</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How it is measured</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Recommendation accuracy</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Match with what students engage in</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Precision@K, Recall@K and NDCG@K on held-out Interactions data</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Response time</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Speed of each recommendation request</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Average and worst-case latency over repeated runs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User satisfaction</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Perceived relevance and usability</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Student feedback survey on a rating scale</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Engagement</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Effect on participation</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Registration and attendance rates for recommended events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5" name="Text 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9</a:t>
            </a:r>
            <a:endParaRPr lang="en-US" sz="1200" dirty="0"/>
          </a:p>
        </p:txBody>
      </p:sp>
      <p:pic>
        <p:nvPicPr>
          <p:cNvPr id="7" name="Picture 6">
            <a:extLst>
              <a:ext uri="{FF2B5EF4-FFF2-40B4-BE49-F238E27FC236}">
                <a16:creationId xmlns:a16="http://schemas.microsoft.com/office/drawing/2014/main" id="{114A4D50-CB13-A558-C67D-E61C1B3D5168}"/>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Evaluation results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2269304571"/>
              </p:ext>
            </p:extLst>
          </p:nvPr>
        </p:nvGraphicFramePr>
        <p:xfrm>
          <a:off x="822960" y="1630681"/>
          <a:ext cx="10556240" cy="2684780"/>
        </p:xfrm>
        <a:graphic>
          <a:graphicData uri="http://schemas.openxmlformats.org/drawingml/2006/table">
            <a:tbl>
              <a:tblPr/>
              <a:tblGrid>
                <a:gridCol w="3800246">
                  <a:extLst>
                    <a:ext uri="{9D8B030D-6E8A-4147-A177-3AD203B41FA5}">
                      <a16:colId xmlns:a16="http://schemas.microsoft.com/office/drawing/2014/main" val="20000"/>
                    </a:ext>
                  </a:extLst>
                </a:gridCol>
                <a:gridCol w="3377997">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Metric</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New users (survey)</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2203A"/>
                          </a:solidFill>
                          <a:latin typeface="DM Sans" pitchFamily="34" charset="0"/>
                          <a:ea typeface="DM Sans" pitchFamily="34" charset="-122"/>
                          <a:cs typeface="DM Sans" pitchFamily="34" charset="-120"/>
                        </a:rPr>
                        <a:t>Existing users (70/30)</a:t>
                      </a:r>
                      <a:endParaRPr lang="en-US" sz="1400" dirty="0">
                        <a:latin typeface="DM Sans" charset="0"/>
                        <a:ea typeface="DM Sans" charset="0"/>
                        <a:cs typeface="DM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Precision@K</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0.71</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0.84</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Recall@K</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charset="0"/>
                          <a:cs typeface="DM Sans" charset="0"/>
                        </a:rPr>
                        <a:t>0.63</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charset="0"/>
                          <a:cs typeface="DM Sans" charset="0"/>
                        </a:rPr>
                        <a:t>0.78</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NDCG@K</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charset="0"/>
                          <a:cs typeface="DM Sans" charset="0"/>
                        </a:rPr>
                        <a:t>0.74</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charset="0"/>
                          <a:cs typeface="DM Sans" charset="0"/>
                        </a:rPr>
                        <a:t>0.85</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Average response time</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145 </a:t>
                      </a:r>
                      <a:r>
                        <a:rPr lang="en-US" sz="1400" dirty="0" err="1">
                          <a:solidFill>
                            <a:srgbClr val="12203A"/>
                          </a:solidFill>
                          <a:latin typeface="DM Sans" pitchFamily="34" charset="0"/>
                          <a:ea typeface="DM Sans" pitchFamily="34" charset="-122"/>
                          <a:cs typeface="DM Sans" pitchFamily="34" charset="-120"/>
                        </a:rPr>
                        <a:t>ms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182 </a:t>
                      </a:r>
                      <a:r>
                        <a:rPr lang="en-US" sz="1400" dirty="0" err="1">
                          <a:solidFill>
                            <a:srgbClr val="12203A"/>
                          </a:solidFill>
                          <a:latin typeface="DM Sans" pitchFamily="34" charset="0"/>
                          <a:ea typeface="DM Sans" pitchFamily="34" charset="-122"/>
                          <a:cs typeface="DM Sans" pitchFamily="34" charset="-120"/>
                        </a:rPr>
                        <a:t>ms</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Satisfaction rating</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4.1 / 5</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4.4 / 5</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Attendance rate</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68 %</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2203A"/>
                          </a:solidFill>
                          <a:latin typeface="DM Sans" pitchFamily="34" charset="0"/>
                          <a:ea typeface="DM Sans" pitchFamily="34" charset="-122"/>
                          <a:cs typeface="DM Sans" pitchFamily="34" charset="-120"/>
                        </a:rPr>
                        <a:t>83 %</a:t>
                      </a:r>
                      <a:endParaRPr lang="en-US" sz="1400" dirty="0">
                        <a:latin typeface="DM Sans" charset="0"/>
                        <a:ea typeface="DM Sans" charset="0"/>
                        <a:cs typeface="DM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46202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Values come from the final evaluation run, with K and the survey size stated beside the table.</a:t>
            </a:r>
            <a:endParaRPr lang="en-US" sz="1400" dirty="0"/>
          </a:p>
        </p:txBody>
      </p:sp>
      <p:sp>
        <p:nvSpPr>
          <p:cNvPr id="5" name="Text 2"/>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10</a:t>
            </a:r>
            <a:endParaRPr lang="en-US" sz="1200" dirty="0"/>
          </a:p>
        </p:txBody>
      </p:sp>
      <p:pic>
        <p:nvPicPr>
          <p:cNvPr id="8" name="Picture 7">
            <a:extLst>
              <a:ext uri="{FF2B5EF4-FFF2-40B4-BE49-F238E27FC236}">
                <a16:creationId xmlns:a16="http://schemas.microsoft.com/office/drawing/2014/main" id="{76F0DF3C-C6B2-E392-3741-3476D91A6336}"/>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Testing and reproducible workflow</a:t>
            </a:r>
            <a:endParaRPr lang="en-US" sz="3600" dirty="0"/>
          </a:p>
        </p:txBody>
      </p:sp>
      <p:sp>
        <p:nvSpPr>
          <p:cNvPr id="3" name="Shape 1"/>
          <p:cNvSpPr/>
          <p:nvPr/>
        </p:nvSpPr>
        <p:spPr>
          <a:xfrm>
            <a:off x="815975" y="1674496"/>
            <a:ext cx="2520950" cy="2233930"/>
          </a:xfrm>
          <a:prstGeom prst="roundRect">
            <a:avLst>
              <a:gd name="adj" fmla="val 4406"/>
            </a:avLst>
          </a:prstGeom>
          <a:solidFill>
            <a:srgbClr val="FFFFFF"/>
          </a:solidFill>
          <a:ln w="6350">
            <a:solidFill>
              <a:srgbClr val="DDDBD2"/>
            </a:solidFill>
            <a:prstDash val="solid"/>
          </a:ln>
        </p:spPr>
      </p:sp>
      <p:sp>
        <p:nvSpPr>
          <p:cNvPr id="4" name="Text 2"/>
          <p:cNvSpPr/>
          <p:nvPr/>
        </p:nvSpPr>
        <p:spPr>
          <a:xfrm>
            <a:off x="1021080" y="19304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1</a:t>
            </a:r>
            <a:endParaRPr lang="en-US" sz="2800" dirty="0"/>
          </a:p>
        </p:txBody>
      </p:sp>
      <p:sp>
        <p:nvSpPr>
          <p:cNvPr id="5" name="Text 3"/>
          <p:cNvSpPr/>
          <p:nvPr/>
        </p:nvSpPr>
        <p:spPr>
          <a:xfrm>
            <a:off x="1021080" y="2529842"/>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Develop</a:t>
            </a:r>
            <a:endParaRPr lang="en-US" sz="1800" dirty="0"/>
          </a:p>
        </p:txBody>
      </p:sp>
      <p:sp>
        <p:nvSpPr>
          <p:cNvPr id="6" name="Text 4"/>
          <p:cNvSpPr/>
          <p:nvPr/>
        </p:nvSpPr>
        <p:spPr>
          <a:xfrm>
            <a:off x="1021080" y="2905764"/>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Student, organizer and administrator modules plus the engine</a:t>
            </a:r>
            <a:endParaRPr lang="en-US" sz="1400" dirty="0"/>
          </a:p>
        </p:txBody>
      </p:sp>
      <p:sp>
        <p:nvSpPr>
          <p:cNvPr id="7" name="Shape 5"/>
          <p:cNvSpPr/>
          <p:nvPr/>
        </p:nvSpPr>
        <p:spPr>
          <a:xfrm>
            <a:off x="3495675" y="1674496"/>
            <a:ext cx="2520950" cy="2233930"/>
          </a:xfrm>
          <a:prstGeom prst="roundRect">
            <a:avLst>
              <a:gd name="adj" fmla="val 4406"/>
            </a:avLst>
          </a:prstGeom>
          <a:solidFill>
            <a:srgbClr val="FFFFFF"/>
          </a:solidFill>
          <a:ln w="6350">
            <a:solidFill>
              <a:srgbClr val="DDDBD2"/>
            </a:solidFill>
            <a:prstDash val="solid"/>
          </a:ln>
        </p:spPr>
      </p:sp>
      <p:sp>
        <p:nvSpPr>
          <p:cNvPr id="8" name="Text 6"/>
          <p:cNvSpPr/>
          <p:nvPr/>
        </p:nvSpPr>
        <p:spPr>
          <a:xfrm>
            <a:off x="3700780" y="19304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2</a:t>
            </a:r>
            <a:endParaRPr lang="en-US" sz="2800" dirty="0"/>
          </a:p>
        </p:txBody>
      </p:sp>
      <p:sp>
        <p:nvSpPr>
          <p:cNvPr id="9" name="Text 7"/>
          <p:cNvSpPr/>
          <p:nvPr/>
        </p:nvSpPr>
        <p:spPr>
          <a:xfrm>
            <a:off x="3700780" y="2529842"/>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Test</a:t>
            </a:r>
            <a:endParaRPr lang="en-US" sz="1800" dirty="0"/>
          </a:p>
        </p:txBody>
      </p:sp>
      <p:sp>
        <p:nvSpPr>
          <p:cNvPr id="10" name="Text 8"/>
          <p:cNvSpPr/>
          <p:nvPr/>
        </p:nvSpPr>
        <p:spPr>
          <a:xfrm>
            <a:off x="3700780" y="2905764"/>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Onboarding, registration and QR attendance flows end to end</a:t>
            </a:r>
            <a:endParaRPr lang="en-US" sz="1400" dirty="0"/>
          </a:p>
        </p:txBody>
      </p:sp>
      <p:sp>
        <p:nvSpPr>
          <p:cNvPr id="11" name="Shape 9"/>
          <p:cNvSpPr/>
          <p:nvPr/>
        </p:nvSpPr>
        <p:spPr>
          <a:xfrm>
            <a:off x="6175375" y="1674496"/>
            <a:ext cx="2520950" cy="2233930"/>
          </a:xfrm>
          <a:prstGeom prst="roundRect">
            <a:avLst>
              <a:gd name="adj" fmla="val 4406"/>
            </a:avLst>
          </a:prstGeom>
          <a:solidFill>
            <a:srgbClr val="FFFFFF"/>
          </a:solidFill>
          <a:ln w="6350">
            <a:solidFill>
              <a:srgbClr val="DDDBD2"/>
            </a:solidFill>
            <a:prstDash val="solid"/>
          </a:ln>
        </p:spPr>
      </p:sp>
      <p:sp>
        <p:nvSpPr>
          <p:cNvPr id="12" name="Text 10"/>
          <p:cNvSpPr/>
          <p:nvPr/>
        </p:nvSpPr>
        <p:spPr>
          <a:xfrm>
            <a:off x="6380480" y="19304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3</a:t>
            </a:r>
            <a:endParaRPr lang="en-US" sz="2800" dirty="0"/>
          </a:p>
        </p:txBody>
      </p:sp>
      <p:sp>
        <p:nvSpPr>
          <p:cNvPr id="13" name="Text 11"/>
          <p:cNvSpPr/>
          <p:nvPr/>
        </p:nvSpPr>
        <p:spPr>
          <a:xfrm>
            <a:off x="6380480" y="2529842"/>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Evaluate</a:t>
            </a:r>
            <a:endParaRPr lang="en-US" sz="1800" dirty="0"/>
          </a:p>
        </p:txBody>
      </p:sp>
      <p:sp>
        <p:nvSpPr>
          <p:cNvPr id="14" name="Text 12"/>
          <p:cNvSpPr/>
          <p:nvPr/>
        </p:nvSpPr>
        <p:spPr>
          <a:xfrm>
            <a:off x="6380480" y="2905764"/>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Scripted metric runs on the Events, Interactions and Attendance datasets</a:t>
            </a:r>
            <a:endParaRPr lang="en-US" sz="1400" dirty="0"/>
          </a:p>
        </p:txBody>
      </p:sp>
      <p:sp>
        <p:nvSpPr>
          <p:cNvPr id="15" name="Shape 13"/>
          <p:cNvSpPr/>
          <p:nvPr/>
        </p:nvSpPr>
        <p:spPr>
          <a:xfrm>
            <a:off x="8855075" y="1674496"/>
            <a:ext cx="2520950" cy="2233930"/>
          </a:xfrm>
          <a:prstGeom prst="roundRect">
            <a:avLst>
              <a:gd name="adj" fmla="val 4406"/>
            </a:avLst>
          </a:prstGeom>
          <a:solidFill>
            <a:srgbClr val="FFFFFF"/>
          </a:solidFill>
          <a:ln w="6350">
            <a:solidFill>
              <a:srgbClr val="DDDBD2"/>
            </a:solidFill>
            <a:prstDash val="solid"/>
          </a:ln>
        </p:spPr>
      </p:sp>
      <p:sp>
        <p:nvSpPr>
          <p:cNvPr id="16" name="Text 14"/>
          <p:cNvSpPr/>
          <p:nvPr/>
        </p:nvSpPr>
        <p:spPr>
          <a:xfrm>
            <a:off x="9060180" y="1930400"/>
            <a:ext cx="217406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0F766E"/>
                </a:solidFill>
                <a:latin typeface="DM Sans" pitchFamily="34" charset="0"/>
                <a:ea typeface="DM Sans" pitchFamily="34" charset="-122"/>
                <a:cs typeface="DM Sans" pitchFamily="34" charset="-120"/>
              </a:rPr>
              <a:t>4</a:t>
            </a:r>
            <a:endParaRPr lang="en-US" sz="2800" dirty="0"/>
          </a:p>
        </p:txBody>
      </p:sp>
      <p:sp>
        <p:nvSpPr>
          <p:cNvPr id="17" name="Text 15"/>
          <p:cNvSpPr/>
          <p:nvPr/>
        </p:nvSpPr>
        <p:spPr>
          <a:xfrm>
            <a:off x="9060180" y="2529842"/>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3A"/>
                </a:solidFill>
                <a:latin typeface="DM Sans" pitchFamily="34" charset="0"/>
                <a:ea typeface="DM Sans" pitchFamily="34" charset="-122"/>
                <a:cs typeface="DM Sans" pitchFamily="34" charset="-120"/>
              </a:rPr>
              <a:t>Document</a:t>
            </a:r>
            <a:endParaRPr lang="en-US" sz="1800" dirty="0"/>
          </a:p>
        </p:txBody>
      </p:sp>
      <p:sp>
        <p:nvSpPr>
          <p:cNvPr id="18" name="Text 16"/>
          <p:cNvSpPr/>
          <p:nvPr/>
        </p:nvSpPr>
        <p:spPr>
          <a:xfrm>
            <a:off x="9060180" y="2905764"/>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Setup steps, dataset schema and results for final submission</a:t>
            </a:r>
            <a:endParaRPr lang="en-US" sz="1400" dirty="0"/>
          </a:p>
        </p:txBody>
      </p:sp>
      <p:sp>
        <p:nvSpPr>
          <p:cNvPr id="19" name="Text 17"/>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20" name="Text 18"/>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11</a:t>
            </a:r>
            <a:endParaRPr lang="en-US" sz="1200" dirty="0"/>
          </a:p>
        </p:txBody>
      </p:sp>
      <p:pic>
        <p:nvPicPr>
          <p:cNvPr id="22" name="Picture 21">
            <a:extLst>
              <a:ext uri="{FF2B5EF4-FFF2-40B4-BE49-F238E27FC236}">
                <a16:creationId xmlns:a16="http://schemas.microsoft.com/office/drawing/2014/main" id="{2759D605-42E5-48CB-A52D-B9670B362182}"/>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3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5F0"/>
                </a:solidFill>
                <a:latin typeface="DM Sans" pitchFamily="34" charset="0"/>
                <a:ea typeface="DM Sans" pitchFamily="34" charset="-122"/>
                <a:cs typeface="DM Sans" pitchFamily="34" charset="-120"/>
              </a:rPr>
              <a:t>Demo walkthrough</a:t>
            </a:r>
            <a:endParaRPr lang="en-US" sz="3600" dirty="0"/>
          </a:p>
        </p:txBody>
      </p:sp>
      <p:sp>
        <p:nvSpPr>
          <p:cNvPr id="3" name="Shape 1"/>
          <p:cNvSpPr/>
          <p:nvPr/>
        </p:nvSpPr>
        <p:spPr>
          <a:xfrm>
            <a:off x="812800" y="1620521"/>
            <a:ext cx="10566400" cy="680720"/>
          </a:xfrm>
          <a:prstGeom prst="roundRect">
            <a:avLst>
              <a:gd name="adj" fmla="val 14925"/>
            </a:avLst>
          </a:prstGeom>
          <a:solidFill>
            <a:srgbClr val="1B2D4F"/>
          </a:solidFill>
          <a:ln/>
        </p:spPr>
      </p:sp>
      <p:sp>
        <p:nvSpPr>
          <p:cNvPr id="4" name="Text 2"/>
          <p:cNvSpPr/>
          <p:nvPr/>
        </p:nvSpPr>
        <p:spPr>
          <a:xfrm>
            <a:off x="1016000" y="1747521"/>
            <a:ext cx="4572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E0A030"/>
                </a:solidFill>
                <a:latin typeface="DM Sans" pitchFamily="34" charset="0"/>
                <a:ea typeface="DM Sans" pitchFamily="34" charset="-122"/>
                <a:cs typeface="DM Sans" pitchFamily="34" charset="-120"/>
              </a:rPr>
              <a:t>1</a:t>
            </a:r>
            <a:endParaRPr lang="en-US" sz="2400" dirty="0"/>
          </a:p>
        </p:txBody>
      </p:sp>
      <p:sp>
        <p:nvSpPr>
          <p:cNvPr id="5" name="Text 3"/>
          <p:cNvSpPr/>
          <p:nvPr/>
        </p:nvSpPr>
        <p:spPr>
          <a:xfrm>
            <a:off x="1625600" y="1838964"/>
            <a:ext cx="274701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DM Sans" pitchFamily="34" charset="0"/>
                <a:ea typeface="DM Sans" pitchFamily="34" charset="-122"/>
                <a:cs typeface="DM Sans" pitchFamily="34" charset="-120"/>
              </a:rPr>
              <a:t>Onboarding</a:t>
            </a:r>
            <a:endParaRPr lang="en-US" sz="1600" dirty="0"/>
          </a:p>
        </p:txBody>
      </p:sp>
      <p:sp>
        <p:nvSpPr>
          <p:cNvPr id="6" name="Text 4"/>
          <p:cNvSpPr/>
          <p:nvPr/>
        </p:nvSpPr>
        <p:spPr>
          <a:xfrm>
            <a:off x="4495800" y="1836421"/>
            <a:ext cx="68806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Pick interests and preferred event mode</a:t>
            </a:r>
            <a:endParaRPr lang="en-US" sz="1400" dirty="0"/>
          </a:p>
        </p:txBody>
      </p:sp>
      <p:sp>
        <p:nvSpPr>
          <p:cNvPr id="7" name="Shape 5"/>
          <p:cNvSpPr/>
          <p:nvPr/>
        </p:nvSpPr>
        <p:spPr>
          <a:xfrm>
            <a:off x="812800" y="2428242"/>
            <a:ext cx="10566400" cy="680720"/>
          </a:xfrm>
          <a:prstGeom prst="roundRect">
            <a:avLst>
              <a:gd name="adj" fmla="val 14925"/>
            </a:avLst>
          </a:prstGeom>
          <a:solidFill>
            <a:srgbClr val="1B2D4F"/>
          </a:solidFill>
          <a:ln/>
        </p:spPr>
      </p:sp>
      <p:sp>
        <p:nvSpPr>
          <p:cNvPr id="8" name="Text 6"/>
          <p:cNvSpPr/>
          <p:nvPr/>
        </p:nvSpPr>
        <p:spPr>
          <a:xfrm>
            <a:off x="1016000" y="2555242"/>
            <a:ext cx="4572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E0A030"/>
                </a:solidFill>
                <a:latin typeface="DM Sans" pitchFamily="34" charset="0"/>
                <a:ea typeface="DM Sans" pitchFamily="34" charset="-122"/>
                <a:cs typeface="DM Sans" pitchFamily="34" charset="-120"/>
              </a:rPr>
              <a:t>2</a:t>
            </a:r>
            <a:endParaRPr lang="en-US" sz="2400" dirty="0"/>
          </a:p>
        </p:txBody>
      </p:sp>
      <p:sp>
        <p:nvSpPr>
          <p:cNvPr id="9" name="Text 7"/>
          <p:cNvSpPr/>
          <p:nvPr/>
        </p:nvSpPr>
        <p:spPr>
          <a:xfrm>
            <a:off x="1625600" y="2646679"/>
            <a:ext cx="274701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DM Sans" pitchFamily="34" charset="0"/>
                <a:ea typeface="DM Sans" pitchFamily="34" charset="-122"/>
                <a:cs typeface="DM Sans" pitchFamily="34" charset="-120"/>
              </a:rPr>
              <a:t>Personalized feed</a:t>
            </a:r>
            <a:endParaRPr lang="en-US" sz="1600" dirty="0"/>
          </a:p>
        </p:txBody>
      </p:sp>
      <p:sp>
        <p:nvSpPr>
          <p:cNvPr id="10" name="Text 8"/>
          <p:cNvSpPr/>
          <p:nvPr/>
        </p:nvSpPr>
        <p:spPr>
          <a:xfrm>
            <a:off x="4495800" y="2644142"/>
            <a:ext cx="68806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Ranked events from the recommendation engine</a:t>
            </a:r>
            <a:endParaRPr lang="en-US" sz="1400" dirty="0"/>
          </a:p>
        </p:txBody>
      </p:sp>
      <p:sp>
        <p:nvSpPr>
          <p:cNvPr id="11" name="Shape 9"/>
          <p:cNvSpPr/>
          <p:nvPr/>
        </p:nvSpPr>
        <p:spPr>
          <a:xfrm>
            <a:off x="812800" y="3235964"/>
            <a:ext cx="10566400" cy="680720"/>
          </a:xfrm>
          <a:prstGeom prst="roundRect">
            <a:avLst>
              <a:gd name="adj" fmla="val 14925"/>
            </a:avLst>
          </a:prstGeom>
          <a:solidFill>
            <a:srgbClr val="1B2D4F"/>
          </a:solidFill>
          <a:ln/>
        </p:spPr>
      </p:sp>
      <p:sp>
        <p:nvSpPr>
          <p:cNvPr id="12" name="Text 10"/>
          <p:cNvSpPr/>
          <p:nvPr/>
        </p:nvSpPr>
        <p:spPr>
          <a:xfrm>
            <a:off x="1016000" y="3362964"/>
            <a:ext cx="4572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E0A030"/>
                </a:solidFill>
                <a:latin typeface="DM Sans" pitchFamily="34" charset="0"/>
                <a:ea typeface="DM Sans" pitchFamily="34" charset="-122"/>
                <a:cs typeface="DM Sans" pitchFamily="34" charset="-120"/>
              </a:rPr>
              <a:t>3</a:t>
            </a:r>
            <a:endParaRPr lang="en-US" sz="2400" dirty="0"/>
          </a:p>
        </p:txBody>
      </p:sp>
      <p:sp>
        <p:nvSpPr>
          <p:cNvPr id="13" name="Text 11"/>
          <p:cNvSpPr/>
          <p:nvPr/>
        </p:nvSpPr>
        <p:spPr>
          <a:xfrm>
            <a:off x="1625600" y="3454400"/>
            <a:ext cx="274701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DM Sans" pitchFamily="34" charset="0"/>
                <a:ea typeface="DM Sans" pitchFamily="34" charset="-122"/>
                <a:cs typeface="DM Sans" pitchFamily="34" charset="-120"/>
              </a:rPr>
              <a:t>Registration</a:t>
            </a:r>
            <a:endParaRPr lang="en-US" sz="1600" dirty="0"/>
          </a:p>
        </p:txBody>
      </p:sp>
      <p:sp>
        <p:nvSpPr>
          <p:cNvPr id="14" name="Text 12"/>
          <p:cNvSpPr/>
          <p:nvPr/>
        </p:nvSpPr>
        <p:spPr>
          <a:xfrm>
            <a:off x="4495800" y="3451864"/>
            <a:ext cx="68806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Register for an event from the feed</a:t>
            </a:r>
            <a:endParaRPr lang="en-US" sz="1400" dirty="0"/>
          </a:p>
        </p:txBody>
      </p:sp>
      <p:sp>
        <p:nvSpPr>
          <p:cNvPr id="15" name="Shape 13"/>
          <p:cNvSpPr/>
          <p:nvPr/>
        </p:nvSpPr>
        <p:spPr>
          <a:xfrm>
            <a:off x="812800" y="4043679"/>
            <a:ext cx="10566400" cy="680720"/>
          </a:xfrm>
          <a:prstGeom prst="roundRect">
            <a:avLst>
              <a:gd name="adj" fmla="val 14925"/>
            </a:avLst>
          </a:prstGeom>
          <a:solidFill>
            <a:srgbClr val="1B2D4F"/>
          </a:solidFill>
          <a:ln/>
        </p:spPr>
      </p:sp>
      <p:sp>
        <p:nvSpPr>
          <p:cNvPr id="16" name="Text 14"/>
          <p:cNvSpPr/>
          <p:nvPr/>
        </p:nvSpPr>
        <p:spPr>
          <a:xfrm>
            <a:off x="1016000" y="4170679"/>
            <a:ext cx="4572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E0A030"/>
                </a:solidFill>
                <a:latin typeface="DM Sans" pitchFamily="34" charset="0"/>
                <a:ea typeface="DM Sans" pitchFamily="34" charset="-122"/>
                <a:cs typeface="DM Sans" pitchFamily="34" charset="-120"/>
              </a:rPr>
              <a:t>4</a:t>
            </a:r>
            <a:endParaRPr lang="en-US" sz="2400" dirty="0"/>
          </a:p>
        </p:txBody>
      </p:sp>
      <p:sp>
        <p:nvSpPr>
          <p:cNvPr id="17" name="Text 15"/>
          <p:cNvSpPr/>
          <p:nvPr/>
        </p:nvSpPr>
        <p:spPr>
          <a:xfrm>
            <a:off x="1625600" y="4262121"/>
            <a:ext cx="274701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DM Sans" pitchFamily="34" charset="0"/>
                <a:ea typeface="DM Sans" pitchFamily="34" charset="-122"/>
                <a:cs typeface="DM Sans" pitchFamily="34" charset="-120"/>
              </a:rPr>
              <a:t>QR attendance</a:t>
            </a:r>
            <a:endParaRPr lang="en-US" sz="1600" dirty="0"/>
          </a:p>
        </p:txBody>
      </p:sp>
      <p:sp>
        <p:nvSpPr>
          <p:cNvPr id="18" name="Text 16"/>
          <p:cNvSpPr/>
          <p:nvPr/>
        </p:nvSpPr>
        <p:spPr>
          <a:xfrm>
            <a:off x="4495800" y="4259579"/>
            <a:ext cx="68806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Entry and exit scans confirm participation</a:t>
            </a:r>
            <a:endParaRPr lang="en-US" sz="1400" dirty="0"/>
          </a:p>
        </p:txBody>
      </p:sp>
      <p:sp>
        <p:nvSpPr>
          <p:cNvPr id="19" name="Shape 17"/>
          <p:cNvSpPr/>
          <p:nvPr/>
        </p:nvSpPr>
        <p:spPr>
          <a:xfrm>
            <a:off x="812800" y="4851400"/>
            <a:ext cx="10566400" cy="680720"/>
          </a:xfrm>
          <a:prstGeom prst="roundRect">
            <a:avLst>
              <a:gd name="adj" fmla="val 14925"/>
            </a:avLst>
          </a:prstGeom>
          <a:solidFill>
            <a:srgbClr val="1B2D4F"/>
          </a:solidFill>
          <a:ln/>
        </p:spPr>
      </p:sp>
      <p:sp>
        <p:nvSpPr>
          <p:cNvPr id="20" name="Text 18"/>
          <p:cNvSpPr/>
          <p:nvPr/>
        </p:nvSpPr>
        <p:spPr>
          <a:xfrm>
            <a:off x="1016000" y="4978400"/>
            <a:ext cx="4572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E0A030"/>
                </a:solidFill>
                <a:latin typeface="DM Sans" pitchFamily="34" charset="0"/>
                <a:ea typeface="DM Sans" pitchFamily="34" charset="-122"/>
                <a:cs typeface="DM Sans" pitchFamily="34" charset="-120"/>
              </a:rPr>
              <a:t>5</a:t>
            </a:r>
            <a:endParaRPr lang="en-US" sz="2400" dirty="0"/>
          </a:p>
        </p:txBody>
      </p:sp>
      <p:sp>
        <p:nvSpPr>
          <p:cNvPr id="21" name="Text 19"/>
          <p:cNvSpPr/>
          <p:nvPr/>
        </p:nvSpPr>
        <p:spPr>
          <a:xfrm>
            <a:off x="1625600" y="5069842"/>
            <a:ext cx="274701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DM Sans" pitchFamily="34" charset="0"/>
                <a:ea typeface="DM Sans" pitchFamily="34" charset="-122"/>
                <a:cs typeface="DM Sans" pitchFamily="34" charset="-120"/>
              </a:rPr>
              <a:t>Organizer insights</a:t>
            </a:r>
            <a:endParaRPr lang="en-US" sz="1600" dirty="0"/>
          </a:p>
        </p:txBody>
      </p:sp>
      <p:sp>
        <p:nvSpPr>
          <p:cNvPr id="22" name="Text 20"/>
          <p:cNvSpPr/>
          <p:nvPr/>
        </p:nvSpPr>
        <p:spPr>
          <a:xfrm>
            <a:off x="4495800" y="5067300"/>
            <a:ext cx="68806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0E0"/>
                </a:solidFill>
                <a:latin typeface="DM Sans" pitchFamily="34" charset="0"/>
                <a:ea typeface="DM Sans" pitchFamily="34" charset="-122"/>
                <a:cs typeface="DM Sans" pitchFamily="34" charset="-120"/>
              </a:rPr>
              <a:t>Registrations and attendance in the organizer view</a:t>
            </a:r>
            <a:endParaRPr lang="en-US" sz="1400" dirty="0"/>
          </a:p>
        </p:txBody>
      </p:sp>
      <p:sp>
        <p:nvSpPr>
          <p:cNvPr id="23" name="Text 21"/>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0E0"/>
                </a:solidFill>
                <a:latin typeface="DM Sans" pitchFamily="34" charset="0"/>
                <a:ea typeface="DM Sans" pitchFamily="34" charset="-122"/>
                <a:cs typeface="DM Sans" pitchFamily="34" charset="-120"/>
              </a:rPr>
              <a:t>SOA Project Review-3 · CampusConnect</a:t>
            </a:r>
            <a:endParaRPr lang="en-US" sz="1200" dirty="0"/>
          </a:p>
        </p:txBody>
      </p:sp>
      <p:sp>
        <p:nvSpPr>
          <p:cNvPr id="24" name="Text 2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FD0E0"/>
                </a:solidFill>
                <a:latin typeface="DM Sans" pitchFamily="34" charset="0"/>
                <a:ea typeface="DM Sans" pitchFamily="34" charset="-122"/>
                <a:cs typeface="DM Sans" pitchFamily="34" charset="-120"/>
              </a:rPr>
              <a:t>12</a:t>
            </a:r>
            <a:endParaRPr lang="en-US" sz="1200" dirty="0"/>
          </a:p>
        </p:txBody>
      </p:sp>
      <p:pic>
        <p:nvPicPr>
          <p:cNvPr id="26" name="Picture 25">
            <a:extLst>
              <a:ext uri="{FF2B5EF4-FFF2-40B4-BE49-F238E27FC236}">
                <a16:creationId xmlns:a16="http://schemas.microsoft.com/office/drawing/2014/main" id="{D5CDD55D-8A8B-B611-3382-96DBCDD8A6DD}"/>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Conclusion and future work</a:t>
            </a:r>
            <a:endParaRPr lang="en-US" sz="3600" dirty="0"/>
          </a:p>
        </p:txBody>
      </p:sp>
      <p:sp>
        <p:nvSpPr>
          <p:cNvPr id="3" name="Shape 1"/>
          <p:cNvSpPr/>
          <p:nvPr/>
        </p:nvSpPr>
        <p:spPr>
          <a:xfrm>
            <a:off x="815975" y="1674496"/>
            <a:ext cx="5180330" cy="2640330"/>
          </a:xfrm>
          <a:prstGeom prst="roundRect">
            <a:avLst>
              <a:gd name="adj" fmla="val 4690"/>
            </a:avLst>
          </a:prstGeom>
          <a:solidFill>
            <a:srgbClr val="FFFFFF"/>
          </a:solidFill>
          <a:ln w="6350">
            <a:solidFill>
              <a:srgbClr val="DDDBD2"/>
            </a:solidFill>
            <a:prstDash val="solid"/>
          </a:ln>
        </p:spPr>
      </p:sp>
      <p:sp>
        <p:nvSpPr>
          <p:cNvPr id="4" name="Text 2"/>
          <p:cNvSpPr/>
          <p:nvPr/>
        </p:nvSpPr>
        <p:spPr>
          <a:xfrm>
            <a:off x="1122680" y="1981200"/>
            <a:ext cx="470392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766E"/>
                </a:solidFill>
                <a:latin typeface="DM Sans" pitchFamily="34" charset="0"/>
                <a:ea typeface="DM Sans" pitchFamily="34" charset="-122"/>
                <a:cs typeface="DM Sans" pitchFamily="34" charset="-120"/>
              </a:rPr>
              <a:t>Conclusion</a:t>
            </a:r>
            <a:endParaRPr lang="en-US" sz="1800" dirty="0"/>
          </a:p>
        </p:txBody>
      </p:sp>
      <p:sp>
        <p:nvSpPr>
          <p:cNvPr id="5" name="Text 3"/>
          <p:cNvSpPr/>
          <p:nvPr/>
        </p:nvSpPr>
        <p:spPr>
          <a:xfrm>
            <a:off x="1193800" y="2407921"/>
            <a:ext cx="4625188" cy="16256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2203A"/>
                </a:solidFill>
                <a:latin typeface="DM Sans" pitchFamily="34" charset="0"/>
                <a:ea typeface="DM Sans" pitchFamily="34" charset="-122"/>
                <a:cs typeface="DM Sans" pitchFamily="34" charset="-120"/>
              </a:rPr>
              <a:t>One platform now joins student, organizer and administrator workflows</a:t>
            </a:r>
            <a:endParaRPr lang="en-US" sz="1500" dirty="0"/>
          </a:p>
          <a:p>
            <a:pPr marL="182880" indent="-182880" algn="l">
              <a:lnSpc>
                <a:spcPts val="2100"/>
              </a:lnSpc>
              <a:buSzPct val="100000"/>
              <a:buChar char="•"/>
            </a:pPr>
            <a:r>
              <a:rPr lang="en-US" sz="1500" dirty="0">
                <a:solidFill>
                  <a:srgbClr val="12203A"/>
                </a:solidFill>
                <a:latin typeface="DM Sans" pitchFamily="34" charset="0"/>
                <a:ea typeface="DM Sans" pitchFamily="34" charset="-122"/>
                <a:cs typeface="DM Sans" pitchFamily="34" charset="-120"/>
              </a:rPr>
              <a:t>The engine handles cold-start users and builds on history as signals grow</a:t>
            </a:r>
            <a:endParaRPr lang="en-US" sz="1500" dirty="0"/>
          </a:p>
          <a:p>
            <a:pPr marL="182880" indent="-182880" algn="l">
              <a:lnSpc>
                <a:spcPts val="2100"/>
              </a:lnSpc>
              <a:buSzPct val="100000"/>
              <a:buChar char="•"/>
            </a:pPr>
            <a:r>
              <a:rPr lang="en-US" sz="1500" dirty="0">
                <a:solidFill>
                  <a:srgbClr val="12203A"/>
                </a:solidFill>
                <a:latin typeface="DM Sans" pitchFamily="34" charset="0"/>
                <a:ea typeface="DM Sans" pitchFamily="34" charset="-122"/>
                <a:cs typeface="DM Sans" pitchFamily="34" charset="-120"/>
              </a:rPr>
              <a:t>Evaluation covers accuracy, response time, satisfaction and engagement</a:t>
            </a:r>
            <a:endParaRPr lang="en-US" sz="1500" dirty="0"/>
          </a:p>
        </p:txBody>
      </p:sp>
      <p:sp>
        <p:nvSpPr>
          <p:cNvPr id="6" name="Shape 4"/>
          <p:cNvSpPr/>
          <p:nvPr/>
        </p:nvSpPr>
        <p:spPr>
          <a:xfrm>
            <a:off x="6202680" y="1671321"/>
            <a:ext cx="5176520" cy="2646680"/>
          </a:xfrm>
          <a:prstGeom prst="roundRect">
            <a:avLst>
              <a:gd name="adj" fmla="val 4798"/>
            </a:avLst>
          </a:prstGeom>
          <a:solidFill>
            <a:srgbClr val="12203A"/>
          </a:solidFill>
          <a:ln/>
        </p:spPr>
      </p:sp>
      <p:sp>
        <p:nvSpPr>
          <p:cNvPr id="7" name="Text 5"/>
          <p:cNvSpPr/>
          <p:nvPr/>
        </p:nvSpPr>
        <p:spPr>
          <a:xfrm>
            <a:off x="6507480" y="1976121"/>
            <a:ext cx="470392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0A030"/>
                </a:solidFill>
                <a:latin typeface="DM Sans" pitchFamily="34" charset="0"/>
                <a:ea typeface="DM Sans" pitchFamily="34" charset="-122"/>
                <a:cs typeface="DM Sans" pitchFamily="34" charset="-120"/>
              </a:rPr>
              <a:t>Future work</a:t>
            </a:r>
            <a:endParaRPr lang="en-US" sz="1800" dirty="0"/>
          </a:p>
        </p:txBody>
      </p:sp>
      <p:sp>
        <p:nvSpPr>
          <p:cNvPr id="8" name="Text 6"/>
          <p:cNvSpPr/>
          <p:nvPr/>
        </p:nvSpPr>
        <p:spPr>
          <a:xfrm>
            <a:off x="6578600" y="2402842"/>
            <a:ext cx="4625188" cy="16256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F6F5F0"/>
                </a:solidFill>
                <a:latin typeface="DM Sans" pitchFamily="34" charset="0"/>
                <a:ea typeface="DM Sans" pitchFamily="34" charset="-122"/>
                <a:cs typeface="DM Sans" pitchFamily="34" charset="-120"/>
              </a:rPr>
              <a:t>Extend from one campus to multiple colleges and institutions</a:t>
            </a:r>
            <a:endParaRPr lang="en-US" sz="1500" dirty="0"/>
          </a:p>
          <a:p>
            <a:pPr marL="182880" indent="-182880" algn="l">
              <a:lnSpc>
                <a:spcPts val="2100"/>
              </a:lnSpc>
              <a:buSzPct val="100000"/>
              <a:buChar char="•"/>
            </a:pPr>
            <a:r>
              <a:rPr lang="en-US" sz="1500" dirty="0">
                <a:solidFill>
                  <a:srgbClr val="F6F5F0"/>
                </a:solidFill>
                <a:latin typeface="DM Sans" pitchFamily="34" charset="0"/>
                <a:ea typeface="DM Sans" pitchFamily="34" charset="-122"/>
                <a:cs typeface="DM Sans" pitchFamily="34" charset="-120"/>
              </a:rPr>
              <a:t>Add richer context to ranking, such as event timing and clashes</a:t>
            </a:r>
            <a:endParaRPr lang="en-US" sz="1500" dirty="0"/>
          </a:p>
          <a:p>
            <a:pPr marL="182880" indent="-182880" algn="l">
              <a:lnSpc>
                <a:spcPts val="2100"/>
              </a:lnSpc>
              <a:buSzPct val="100000"/>
              <a:buChar char="•"/>
            </a:pPr>
            <a:r>
              <a:rPr lang="en-US" sz="1500" dirty="0">
                <a:solidFill>
                  <a:srgbClr val="F6F5F0"/>
                </a:solidFill>
                <a:latin typeface="DM Sans" pitchFamily="34" charset="0"/>
                <a:ea typeface="DM Sans" pitchFamily="34" charset="-122"/>
                <a:cs typeface="DM Sans" pitchFamily="34" charset="-120"/>
              </a:rPr>
              <a:t>Deeper organizer analytics on engagement patterns</a:t>
            </a:r>
            <a:endParaRPr lang="en-US" sz="1500" dirty="0"/>
          </a:p>
        </p:txBody>
      </p:sp>
      <p:sp>
        <p:nvSpPr>
          <p:cNvPr id="9" name="Text 7"/>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10" name="Text 8"/>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13</a:t>
            </a:r>
            <a:endParaRPr lang="en-US" sz="1200" dirty="0"/>
          </a:p>
        </p:txBody>
      </p:sp>
      <p:pic>
        <p:nvPicPr>
          <p:cNvPr id="12" name="Picture 11">
            <a:extLst>
              <a:ext uri="{FF2B5EF4-FFF2-40B4-BE49-F238E27FC236}">
                <a16:creationId xmlns:a16="http://schemas.microsoft.com/office/drawing/2014/main" id="{52C52E87-2E99-933C-8488-F1E3891484F3}"/>
              </a:ext>
            </a:extLst>
          </p:cNvPr>
          <p:cNvPicPr>
            <a:picLocks noChangeAspect="1"/>
          </p:cNvPicPr>
          <p:nvPr/>
        </p:nvPicPr>
        <p:blipFill>
          <a:blip r:embed="rId3"/>
          <a:stretch>
            <a:fillRect/>
          </a:stretch>
        </p:blipFill>
        <p:spPr>
          <a:xfrm>
            <a:off x="10262932" y="9331"/>
            <a:ext cx="1942620" cy="62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3A"/>
                </a:solidFill>
                <a:latin typeface="DM Sans" pitchFamily="34" charset="0"/>
                <a:ea typeface="DM Sans" pitchFamily="34" charset="-122"/>
                <a:cs typeface="DM Sans" pitchFamily="34" charset="-120"/>
              </a:rPr>
              <a:t>References</a:t>
            </a:r>
            <a:endParaRPr lang="en-US" sz="3600" dirty="0"/>
          </a:p>
        </p:txBody>
      </p:sp>
      <p:sp>
        <p:nvSpPr>
          <p:cNvPr id="3" name="Text 1"/>
          <p:cNvSpPr/>
          <p:nvPr/>
        </p:nvSpPr>
        <p:spPr>
          <a:xfrm>
            <a:off x="852408" y="1671321"/>
            <a:ext cx="10836164" cy="1163320"/>
          </a:xfrm>
          <a:prstGeom prst="rect">
            <a:avLst/>
          </a:prstGeom>
          <a:noFill/>
          <a:ln/>
        </p:spPr>
        <p:txBody>
          <a:bodyPr wrap="square" lIns="0" tIns="0" rIns="0" bIns="0" rtlCol="0" anchor="t">
            <a:normAutofit/>
          </a:bodyPr>
          <a:lstStyle/>
          <a:p>
            <a:pPr marL="214392" indent="-214392" algn="l">
              <a:lnSpc>
                <a:spcPts val="2240"/>
              </a:lnSpc>
              <a:buSzPct val="100000"/>
              <a:buFontTx/>
              <a:buAutoNum type="arabicPeriod"/>
            </a:pPr>
            <a:r>
              <a:rPr lang="en-US" sz="1600" dirty="0">
                <a:solidFill>
                  <a:srgbClr val="12203A"/>
                </a:solidFill>
                <a:latin typeface="DM Sans" pitchFamily="34" charset="0"/>
                <a:ea typeface="DM Sans" pitchFamily="34" charset="-122"/>
                <a:cs typeface="DM Sans" pitchFamily="34" charset="-120"/>
              </a:rPr>
              <a:t>Qiao et al., “Event Recommendation in Event-Based Social Networks,” AAAI, 2014.</a:t>
            </a:r>
            <a:endParaRPr lang="en-US" sz="1600" dirty="0"/>
          </a:p>
          <a:p>
            <a:pPr marL="214392" indent="-214392" algn="l">
              <a:lnSpc>
                <a:spcPts val="2240"/>
              </a:lnSpc>
              <a:buSzPct val="100000"/>
              <a:buFontTx/>
              <a:buAutoNum type="arabicPeriod"/>
            </a:pPr>
            <a:r>
              <a:rPr lang="en-US" sz="1600" dirty="0">
                <a:solidFill>
                  <a:srgbClr val="12203A"/>
                </a:solidFill>
                <a:latin typeface="DM Sans" pitchFamily="34" charset="0"/>
                <a:ea typeface="DM Sans" pitchFamily="34" charset="-122"/>
                <a:cs typeface="DM Sans" pitchFamily="34" charset="-120"/>
              </a:rPr>
              <a:t>Liu et al., “Combining Heterogeneous Social and Geographical Information for Event Recommendation,” AAAI, 2014.</a:t>
            </a:r>
            <a:endParaRPr lang="en-US" sz="1600" dirty="0"/>
          </a:p>
          <a:p>
            <a:pPr marL="214392" indent="-214392" algn="l">
              <a:lnSpc>
                <a:spcPts val="2240"/>
              </a:lnSpc>
              <a:buSzPct val="100000"/>
              <a:buFontTx/>
              <a:buAutoNum type="arabicPeriod"/>
            </a:pPr>
            <a:r>
              <a:rPr lang="en-US" sz="1600" dirty="0">
                <a:solidFill>
                  <a:srgbClr val="12203A"/>
                </a:solidFill>
                <a:latin typeface="DM Sans" pitchFamily="34" charset="0"/>
                <a:ea typeface="DM Sans" pitchFamily="34" charset="-122"/>
                <a:cs typeface="DM Sans" pitchFamily="34" charset="-120"/>
              </a:rPr>
              <a:t>Macedo et al., “Context-Aware Event Recommendation in Event-Based Social Networks,” ACM RecSys, 2015.</a:t>
            </a:r>
            <a:endParaRPr lang="en-US" sz="1600" dirty="0"/>
          </a:p>
        </p:txBody>
      </p:sp>
      <p:sp>
        <p:nvSpPr>
          <p:cNvPr id="4" name="Text 2"/>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SOA Project Review-3 · CampusConnect</a:t>
            </a:r>
            <a:endParaRPr lang="en-US" sz="1200" dirty="0"/>
          </a:p>
        </p:txBody>
      </p:sp>
      <p:sp>
        <p:nvSpPr>
          <p:cNvPr id="5" name="Text 3"/>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DM Sans" pitchFamily="34" charset="0"/>
                <a:ea typeface="DM Sans" pitchFamily="34" charset="-122"/>
                <a:cs typeface="DM Sans" pitchFamily="34" charset="-120"/>
              </a:rPr>
              <a:t>14</a:t>
            </a:r>
            <a:endParaRPr lang="en-US" sz="1200" dirty="0"/>
          </a:p>
        </p:txBody>
      </p:sp>
      <p:pic>
        <p:nvPicPr>
          <p:cNvPr id="7" name="Picture 6">
            <a:extLst>
              <a:ext uri="{FF2B5EF4-FFF2-40B4-BE49-F238E27FC236}">
                <a16:creationId xmlns:a16="http://schemas.microsoft.com/office/drawing/2014/main" id="{5CB3C8DF-0E41-D4C9-F76C-DDD9D8685A3F}"/>
              </a:ext>
            </a:extLst>
          </p:cNvPr>
          <p:cNvPicPr>
            <a:picLocks noChangeAspect="1"/>
          </p:cNvPicPr>
          <p:nvPr/>
        </p:nvPicPr>
        <p:blipFill>
          <a:blip r:embed="rId3"/>
          <a:stretch>
            <a:fillRect/>
          </a:stretch>
        </p:blipFill>
        <p:spPr>
          <a:xfrm>
            <a:off x="10262932" y="0"/>
            <a:ext cx="1942620" cy="622550"/>
          </a:xfrm>
          <a:prstGeom prst="rect">
            <a:avLst/>
          </a:prstGeom>
        </p:spPr>
      </p:pic>
    </p:spTree>
  </p:cSld>
  <p:clrMapOvr>
    <a:masterClrMapping/>
  </p:clrMapOvr>
</p:sld>
</file>

<file path=ppt/theme/theme1.xml><?xml version="1.0" encoding="utf-8"?>
<a:theme xmlns:a="http://schemas.openxmlformats.org/drawingml/2006/main" name="SOA Project Review-3">
  <a:themeElements>
    <a:clrScheme name="SOA Project Review-3">
      <a:dk1>
        <a:srgbClr val="12203A"/>
      </a:dk1>
      <a:lt1>
        <a:srgbClr val="F6F5F0"/>
      </a:lt1>
      <a:dk2>
        <a:srgbClr val="4B5568"/>
      </a:dk2>
      <a:lt2>
        <a:srgbClr val="DFE0DE"/>
      </a:lt2>
      <a:accent1>
        <a:srgbClr val="0F766E"/>
      </a:accent1>
      <a:accent2>
        <a:srgbClr val="E0A030"/>
      </a:accent2>
      <a:accent3>
        <a:srgbClr val="6A7179"/>
      </a:accent3>
      <a:accent4>
        <a:srgbClr val="4A5568"/>
      </a:accent4>
      <a:accent5>
        <a:srgbClr val="BFD0E0"/>
      </a:accent5>
      <a:accent6>
        <a:srgbClr val="9AA0A6"/>
      </a:accent6>
      <a:hlink>
        <a:srgbClr val="0563C1"/>
      </a:hlink>
      <a:folHlink>
        <a:srgbClr val="954F72"/>
      </a:folHlink>
    </a:clrScheme>
    <a:fontScheme name="SOA Project Review-3">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980</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DM Sans</vt:lpstr>
      <vt:lpstr>SOA Project Review-3</vt:lpstr>
      <vt:lpstr>AI-Powered Campus Event Management and Recommendation System</vt:lpstr>
      <vt:lpstr>Outline</vt:lpstr>
      <vt:lpstr>Problem and objectives recap</vt:lpstr>
      <vt:lpstr>Progress since Review-2</vt:lpstr>
      <vt:lpstr>System architecture</vt:lpstr>
      <vt:lpstr>Organizer module</vt:lpstr>
      <vt:lpstr>Administrator module</vt:lpstr>
      <vt:lpstr>Recommendation engine</vt:lpstr>
      <vt:lpstr>Evaluation metrics</vt:lpstr>
      <vt:lpstr>Evaluation results</vt:lpstr>
      <vt:lpstr>Testing and reproducible workflow</vt:lpstr>
      <vt:lpstr>Demo walkthrough</vt:lpstr>
      <vt:lpstr>Conclusion and 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SOA Project Review-3</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Anirudh Guthula</cp:lastModifiedBy>
  <cp:revision>2</cp:revision>
  <dcterms:created xsi:type="dcterms:W3CDTF">2026-10-29T03:24:34Z</dcterms:created>
  <dcterms:modified xsi:type="dcterms:W3CDTF">2026-10-29T03:35:44Z</dcterms:modified>
</cp:coreProperties>
</file>