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1"/>
  </p:notesMasterIdLst>
  <p:sldIdLst>
    <p:sldId id="262" r:id="rId3"/>
    <p:sldId id="707" r:id="rId4"/>
    <p:sldId id="257" r:id="rId5"/>
    <p:sldId id="903" r:id="rId6"/>
    <p:sldId id="902" r:id="rId7"/>
    <p:sldId id="258" r:id="rId8"/>
    <p:sldId id="259" r:id="rId9"/>
    <p:sldId id="260"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606" autoAdjust="0"/>
    <p:restoredTop sz="94660"/>
  </p:normalViewPr>
  <p:slideViewPr>
    <p:cSldViewPr snapToGrid="0">
      <p:cViewPr varScale="1">
        <p:scale>
          <a:sx n="78" d="100"/>
          <a:sy n="78" d="100"/>
        </p:scale>
        <p:origin x="108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tableStyles" Target="tableStyle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4B03022-1F30-4885-B78F-22C04F8A973E}" type="doc">
      <dgm:prSet loTypeId="urn:microsoft.com/office/officeart/2005/8/layout/venn3" loCatId="relationship" qsTypeId="urn:microsoft.com/office/officeart/2005/8/quickstyle/3d7#1" qsCatId="3D" csTypeId="urn:microsoft.com/office/officeart/2005/8/colors/colorful1#1" csCatId="colorful" phldr="1"/>
      <dgm:spPr/>
      <dgm:t>
        <a:bodyPr/>
        <a:lstStyle/>
        <a:p>
          <a:endParaRPr lang="en-IN"/>
        </a:p>
      </dgm:t>
    </dgm:pt>
    <dgm:pt modelId="{4094C340-BA43-4FE7-BEDC-37D235AAAD16}" type="pres">
      <dgm:prSet presAssocID="{84B03022-1F30-4885-B78F-22C04F8A973E}" presName="Name0" presStyleCnt="0">
        <dgm:presLayoutVars>
          <dgm:dir/>
          <dgm:resizeHandles val="exact"/>
        </dgm:presLayoutVars>
      </dgm:prSet>
      <dgm:spPr/>
    </dgm:pt>
  </dgm:ptLst>
  <dgm:cxnLst>
    <dgm:cxn modelId="{536B444D-E965-4C7A-901B-8D59695FE972}" type="presOf" srcId="{84B03022-1F30-4885-B78F-22C04F8A973E}" destId="{4094C340-BA43-4FE7-BEDC-37D235AAAD16}" srcOrd="0" destOrd="0" presId="urn:microsoft.com/office/officeart/2005/8/layout/venn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venn3">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fallback" val="2D"/>
          <dgm:param type="linDir" val="fromR"/>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VertCh" val="mid"/>
          <dgm:param type="txAnchorHorzCh" val="ctr"/>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7#1">
  <dgm:title val=""/>
  <dgm:desc val=""/>
  <dgm:catLst>
    <dgm:cat type="3D" pri="11700"/>
  </dgm:catLst>
  <dgm:scene3d>
    <a:camera prst="perspectiveLeft" zoom="91000"/>
    <a:lightRig rig="threePt" dir="t">
      <a:rot lat="0" lon="0" rev="20640000"/>
    </a:lightRig>
  </dgm:scene3d>
  <dgm:styleLbl name="node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lnNod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vennNode1">
    <dgm:scene3d>
      <a:camera prst="orthographicFront"/>
      <a:lightRig rig="threePt" dir="t"/>
    </dgm:scene3d>
    <dgm:sp3d extrusionH="50600" prstMaterial="clear">
      <a:bevelT w="101600" h="80600" prst="relaxedInset"/>
      <a:bevelB w="80600" h="80600" prst="relaxedInset"/>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extrusionH="50600" prstMaterial="metal">
      <a:bevelT w="101600" h="80600" prst="relaxedInset"/>
      <a:bevelB w="80600" h="80600" prst="relaxedInset"/>
    </dgm:sp3d>
    <dgm:txPr/>
    <dgm:style>
      <a:lnRef idx="1">
        <a:scrgbClr r="0" g="0" b="0"/>
      </a:lnRef>
      <a:fillRef idx="1">
        <a:scrgbClr r="0" g="0" b="0"/>
      </a:fillRef>
      <a:effectRef idx="1">
        <a:scrgbClr r="0" g="0" b="0"/>
      </a:effectRef>
      <a:fontRef idx="minor">
        <a:schemeClr val="dk1"/>
      </a:fontRef>
    </dgm:style>
  </dgm:styleLbl>
  <dgm:styleLbl name="node1">
    <dgm:scene3d>
      <a:camera prst="orthographicFront"/>
      <a:lightRig rig="threePt" dir="t"/>
    </dgm:scene3d>
    <dgm:sp3d extrusionH="50600" prstMaterial="metal">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fgImgPlace1">
    <dgm:scene3d>
      <a:camera prst="orthographicFront"/>
      <a:lightRig rig="threePt" dir="t"/>
    </dgm:scene3d>
    <dgm:sp3d z="572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alignImgPlac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dgm:style>
  </dgm:styleLbl>
  <dgm:styleLbl name="bgImgPlace1">
    <dgm:scene3d>
      <a:camera prst="orthographicFront"/>
      <a:lightRig rig="threePt" dir="t"/>
    </dgm:scene3d>
    <dgm:sp3d z="-2118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sibTrans2D1">
    <dgm:scene3d>
      <a:camera prst="orthographicFront"/>
      <a:lightRig rig="threePt" dir="t"/>
    </dgm:scene3d>
    <dgm:sp3d z="-110000">
      <a:bevelT w="40600" h="20600" prst="relaxedInset"/>
    </dgm:sp3d>
    <dgm:txPr/>
    <dgm:style>
      <a:lnRef idx="0">
        <a:scrgbClr r="0" g="0" b="0"/>
      </a:lnRef>
      <a:fillRef idx="1">
        <a:scrgbClr r="0" g="0" b="0"/>
      </a:fillRef>
      <a:effectRef idx="2">
        <a:scrgbClr r="0" g="0" b="0"/>
      </a:effectRef>
      <a:fontRef idx="minor"/>
    </dgm:style>
  </dgm:styleLbl>
  <dgm:styleLbl name="fgSibTrans2D1">
    <dgm:scene3d>
      <a:camera prst="orthographicFront"/>
      <a:lightRig rig="threePt" dir="t"/>
    </dgm:scene3d>
    <dgm:sp3d z="10600">
      <a:bevelT w="40600" h="20600" prst="relaxedInset"/>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z="-211800">
      <a:bevelT w="40600" h="20600" prst="relaxedInset"/>
    </dgm:sp3d>
    <dgm:txPr/>
    <dgm:style>
      <a:lnRef idx="0">
        <a:scrgbClr r="0" g="0" b="0"/>
      </a:lnRef>
      <a:fillRef idx="1">
        <a:scrgbClr r="0" g="0" b="0"/>
      </a:fillRef>
      <a:effectRef idx="2">
        <a:scrgbClr r="0" g="0" b="0"/>
      </a:effectRef>
      <a:fontRef idx="minor"/>
    </dgm:style>
  </dgm:styleLbl>
  <dgm:styleLbl name="sibTrans1D1">
    <dgm:scene3d>
      <a:camera prst="orthographicFront"/>
      <a:lightRig rig="threePt" dir="t"/>
    </dgm:scene3d>
    <dgm:sp3d z="-110000"/>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0000"/>
    <dgm:txPr/>
    <dgm:style>
      <a:lnRef idx="1">
        <a:scrgbClr r="0" g="0" b="0"/>
      </a:lnRef>
      <a:fillRef idx="1">
        <a:scrgbClr r="0" g="0" b="0"/>
      </a:fillRef>
      <a:effectRef idx="0">
        <a:scrgbClr r="0" g="0" b="0"/>
      </a:effectRef>
      <a:fontRef idx="minor"/>
    </dgm:style>
  </dgm:styleLbl>
  <dgm:styleLbl name="asst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parChTrans2D1">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2">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3">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2D4">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1D1">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50600">
      <a:bevelT w="101600" h="80600"/>
      <a:bevelB w="80600" h="80600"/>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extrusionH="50600">
      <a:bevelT w="101600" h="80600"/>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solidBgAcc1">
    <dgm:scene3d>
      <a:camera prst="orthographicFront"/>
      <a:lightRig rig="threePt" dir="t"/>
    </dgm:scene3d>
    <dgm:sp3d z="-161800" extrusionH="10600" contourW="3000">
      <a:bevelT w="48600" h="8600" prst="softRound"/>
      <a:bevelB w="48600" h="8600" prst="relaxedInset"/>
    </dgm:sp3d>
    <dgm:txPr/>
    <dgm:style>
      <a:lnRef idx="0">
        <a:scrgbClr r="0" g="0" b="0"/>
      </a:lnRef>
      <a:fillRef idx="1">
        <a:scrgbClr r="0" g="0" b="0"/>
      </a:fillRef>
      <a:effectRef idx="0">
        <a:scrgbClr r="0" g="0" b="0"/>
      </a:effectRef>
      <a:fontRef idx="minor"/>
    </dgm:style>
  </dgm:styleLbl>
  <dgm:styleLbl name="fgAccFollowNode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bgAccFollowNode1">
    <dgm:scene3d>
      <a:camera prst="orthographicFront"/>
      <a:lightRig rig="threePt" dir="t"/>
    </dgm:scene3d>
    <dgm:sp3d z="-161800" extrusionH="10600" contourW="3000">
      <a:bevelT w="48600" h="8600" prst="relaxedInset"/>
      <a:bevelB w="48600" h="8600" prst="relaxedInset"/>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618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50600">
      <a:bevelT w="80600" h="80600" prst="relaxedInset"/>
      <a:bevelB w="80600" h="80600" prst="relaxedInset"/>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200" extrusionH="600" contourW="3000" prstMaterial="plastic">
      <a:bevelT w="80600" h="18600" prst="relaxedInset"/>
      <a:bevelB w="80600" h="8600" prst="relaxedInset"/>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A666E0-C270-4F2D-A5DC-96BE795B540E}" type="datetimeFigureOut">
              <a:rPr lang="en-US" smtClean="0"/>
              <a:t>8/27/2026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19044B-B5AF-477C-950C-4ED51263438D}" type="slidenum">
              <a:rPr lang="en-US" smtClean="0"/>
              <a:t>‹#›</a:t>
            </a:fld>
            <a:endParaRPr lang="en-US"/>
          </a:p>
        </p:txBody>
      </p:sp>
    </p:spTree>
    <p:extLst>
      <p:ext uri="{BB962C8B-B14F-4D97-AF65-F5344CB8AC3E}">
        <p14:creationId xmlns:p14="http://schemas.microsoft.com/office/powerpoint/2010/main" val="22086060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F84AE20-9EAE-4BB7-93AC-7EFA05BCA1CF}" type="slidenum">
              <a:rPr lang="en-IN" smtClean="0"/>
              <a:t>1</a:t>
            </a:fld>
            <a:endParaRPr lang="en-IN" dirty="0"/>
          </a:p>
        </p:txBody>
      </p:sp>
    </p:spTree>
    <p:extLst>
      <p:ext uri="{BB962C8B-B14F-4D97-AF65-F5344CB8AC3E}">
        <p14:creationId xmlns:p14="http://schemas.microsoft.com/office/powerpoint/2010/main" val="22274734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E162C7A-CC9D-4035-A213-68F795EB7A2A}" type="slidenum">
              <a:rPr lang="en-IN" smtClean="0"/>
              <a:t>5</a:t>
            </a:fld>
            <a:endParaRPr lang="en-IN"/>
          </a:p>
        </p:txBody>
      </p:sp>
    </p:spTree>
    <p:extLst>
      <p:ext uri="{BB962C8B-B14F-4D97-AF65-F5344CB8AC3E}">
        <p14:creationId xmlns:p14="http://schemas.microsoft.com/office/powerpoint/2010/main" val="16477035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2BE77-A6B4-BF9A-F59F-6A1C17E6D45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9F4D497-63DE-C270-40A4-331A37D0B0E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7809C3A-1739-D230-186B-84454F605084}"/>
              </a:ext>
            </a:extLst>
          </p:cNvPr>
          <p:cNvSpPr>
            <a:spLocks noGrp="1"/>
          </p:cNvSpPr>
          <p:nvPr>
            <p:ph type="dt" sz="half" idx="10"/>
          </p:nvPr>
        </p:nvSpPr>
        <p:spPr/>
        <p:txBody>
          <a:bodyPr/>
          <a:lstStyle/>
          <a:p>
            <a:fld id="{E227863A-4956-4659-9192-3D74DA4F7578}" type="datetimeFigureOut">
              <a:rPr lang="en-US" smtClean="0"/>
              <a:t>8/27/2026</a:t>
            </a:fld>
            <a:endParaRPr lang="en-US"/>
          </a:p>
        </p:txBody>
      </p:sp>
      <p:sp>
        <p:nvSpPr>
          <p:cNvPr id="5" name="Footer Placeholder 4">
            <a:extLst>
              <a:ext uri="{FF2B5EF4-FFF2-40B4-BE49-F238E27FC236}">
                <a16:creationId xmlns:a16="http://schemas.microsoft.com/office/drawing/2014/main" id="{F5A63778-C058-1235-D3A3-7BCFF3CD01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9A1708-DD63-B8A6-CDE5-A057B2CF873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4086997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A0280-1254-E679-102E-D8CC13C8C6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784D78-2E62-1C74-D557-5115FDC295B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B02B77-F303-2F09-80CB-35B74D2F58C9}"/>
              </a:ext>
            </a:extLst>
          </p:cNvPr>
          <p:cNvSpPr>
            <a:spLocks noGrp="1"/>
          </p:cNvSpPr>
          <p:nvPr>
            <p:ph type="dt" sz="half" idx="10"/>
          </p:nvPr>
        </p:nvSpPr>
        <p:spPr/>
        <p:txBody>
          <a:bodyPr/>
          <a:lstStyle/>
          <a:p>
            <a:fld id="{E227863A-4956-4659-9192-3D74DA4F7578}" type="datetimeFigureOut">
              <a:rPr lang="en-US" smtClean="0"/>
              <a:t>8/27/2026</a:t>
            </a:fld>
            <a:endParaRPr lang="en-US"/>
          </a:p>
        </p:txBody>
      </p:sp>
      <p:sp>
        <p:nvSpPr>
          <p:cNvPr id="5" name="Footer Placeholder 4">
            <a:extLst>
              <a:ext uri="{FF2B5EF4-FFF2-40B4-BE49-F238E27FC236}">
                <a16:creationId xmlns:a16="http://schemas.microsoft.com/office/drawing/2014/main" id="{A13359BF-B012-085F-389A-331E721BC9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1B0460-9CE8-D43D-79E7-A7A9144A3AD0}"/>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6301623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87D46-3DEF-526E-5F46-4ADACBEC0AC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55A517A-D5B3-3AF2-38BE-1D89988138B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D602125-0289-3272-156D-A3C31E848252}"/>
              </a:ext>
            </a:extLst>
          </p:cNvPr>
          <p:cNvSpPr>
            <a:spLocks noGrp="1"/>
          </p:cNvSpPr>
          <p:nvPr>
            <p:ph type="dt" sz="half" idx="10"/>
          </p:nvPr>
        </p:nvSpPr>
        <p:spPr/>
        <p:txBody>
          <a:bodyPr/>
          <a:lstStyle/>
          <a:p>
            <a:fld id="{E227863A-4956-4659-9192-3D74DA4F7578}" type="datetimeFigureOut">
              <a:rPr lang="en-US" smtClean="0"/>
              <a:t>8/27/2026</a:t>
            </a:fld>
            <a:endParaRPr lang="en-US"/>
          </a:p>
        </p:txBody>
      </p:sp>
      <p:sp>
        <p:nvSpPr>
          <p:cNvPr id="5" name="Footer Placeholder 4">
            <a:extLst>
              <a:ext uri="{FF2B5EF4-FFF2-40B4-BE49-F238E27FC236}">
                <a16:creationId xmlns:a16="http://schemas.microsoft.com/office/drawing/2014/main" id="{659971A6-CC5A-CC09-A1F2-E284284E87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9898D5-FC90-9DA1-FE2F-D07DEDDAD616}"/>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0399524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89433-0D52-95EF-D78E-4FC912D4FC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F1A2DAE-6EF3-6910-5373-1A5DF409095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991AE70-38B9-B797-DE71-57CAE4C82D2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725E50E-F402-07A4-460F-3431CA999232}"/>
              </a:ext>
            </a:extLst>
          </p:cNvPr>
          <p:cNvSpPr>
            <a:spLocks noGrp="1"/>
          </p:cNvSpPr>
          <p:nvPr>
            <p:ph type="dt" sz="half" idx="10"/>
          </p:nvPr>
        </p:nvSpPr>
        <p:spPr/>
        <p:txBody>
          <a:bodyPr/>
          <a:lstStyle/>
          <a:p>
            <a:fld id="{E227863A-4956-4659-9192-3D74DA4F7578}" type="datetimeFigureOut">
              <a:rPr lang="en-US" smtClean="0"/>
              <a:t>8/27/2026</a:t>
            </a:fld>
            <a:endParaRPr lang="en-US"/>
          </a:p>
        </p:txBody>
      </p:sp>
      <p:sp>
        <p:nvSpPr>
          <p:cNvPr id="6" name="Footer Placeholder 5">
            <a:extLst>
              <a:ext uri="{FF2B5EF4-FFF2-40B4-BE49-F238E27FC236}">
                <a16:creationId xmlns:a16="http://schemas.microsoft.com/office/drawing/2014/main" id="{664D7A32-7B4B-0167-CBD3-4FB4F42F73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EB928D-DF00-B9C5-1A36-1E52C14CBBB7}"/>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467198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CFE06-EEED-5CC3-A38A-576DD2C8AF0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DB0BA8C-9EDE-BB49-BD35-49BAFCB8D3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E1DDD39-7D2C-4493-F56F-81F6BC3F98D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714469B-6213-D34D-07A9-FCDC82AC0F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46440F3-3F2D-85CC-D2E2-6D0D54B8A29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D346DE1-9818-60AF-EAF8-FFED39BA5E89}"/>
              </a:ext>
            </a:extLst>
          </p:cNvPr>
          <p:cNvSpPr>
            <a:spLocks noGrp="1"/>
          </p:cNvSpPr>
          <p:nvPr>
            <p:ph type="dt" sz="half" idx="10"/>
          </p:nvPr>
        </p:nvSpPr>
        <p:spPr/>
        <p:txBody>
          <a:bodyPr/>
          <a:lstStyle/>
          <a:p>
            <a:fld id="{E227863A-4956-4659-9192-3D74DA4F7578}" type="datetimeFigureOut">
              <a:rPr lang="en-US" smtClean="0"/>
              <a:t>8/27/2026</a:t>
            </a:fld>
            <a:endParaRPr lang="en-US"/>
          </a:p>
        </p:txBody>
      </p:sp>
      <p:sp>
        <p:nvSpPr>
          <p:cNvPr id="8" name="Footer Placeholder 7">
            <a:extLst>
              <a:ext uri="{FF2B5EF4-FFF2-40B4-BE49-F238E27FC236}">
                <a16:creationId xmlns:a16="http://schemas.microsoft.com/office/drawing/2014/main" id="{265E9E00-6460-F360-EDFD-B03FBA2C63B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ABFFDD7-5BFE-EA3B-6250-A381A569564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362514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CE0FC-511C-2C2C-E510-CDDF263418E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C796671-3C71-777F-3A4D-A89D7E5D68FA}"/>
              </a:ext>
            </a:extLst>
          </p:cNvPr>
          <p:cNvSpPr>
            <a:spLocks noGrp="1"/>
          </p:cNvSpPr>
          <p:nvPr>
            <p:ph type="dt" sz="half" idx="10"/>
          </p:nvPr>
        </p:nvSpPr>
        <p:spPr/>
        <p:txBody>
          <a:bodyPr/>
          <a:lstStyle/>
          <a:p>
            <a:fld id="{E227863A-4956-4659-9192-3D74DA4F7578}" type="datetimeFigureOut">
              <a:rPr lang="en-US" smtClean="0"/>
              <a:t>8/27/2026</a:t>
            </a:fld>
            <a:endParaRPr lang="en-US"/>
          </a:p>
        </p:txBody>
      </p:sp>
      <p:sp>
        <p:nvSpPr>
          <p:cNvPr id="4" name="Footer Placeholder 3">
            <a:extLst>
              <a:ext uri="{FF2B5EF4-FFF2-40B4-BE49-F238E27FC236}">
                <a16:creationId xmlns:a16="http://schemas.microsoft.com/office/drawing/2014/main" id="{30024A6A-95A8-2753-339B-FC09D4CAEB8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59E07AF-B1A0-E180-D5AC-3F2F0031C98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1824662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8527A8-9BA5-6E6B-9B96-E6F6FADC46A2}"/>
              </a:ext>
            </a:extLst>
          </p:cNvPr>
          <p:cNvSpPr>
            <a:spLocks noGrp="1"/>
          </p:cNvSpPr>
          <p:nvPr>
            <p:ph type="dt" sz="half" idx="10"/>
          </p:nvPr>
        </p:nvSpPr>
        <p:spPr/>
        <p:txBody>
          <a:bodyPr/>
          <a:lstStyle/>
          <a:p>
            <a:fld id="{E227863A-4956-4659-9192-3D74DA4F7578}" type="datetimeFigureOut">
              <a:rPr lang="en-US" smtClean="0"/>
              <a:t>8/27/2026</a:t>
            </a:fld>
            <a:endParaRPr lang="en-US"/>
          </a:p>
        </p:txBody>
      </p:sp>
      <p:sp>
        <p:nvSpPr>
          <p:cNvPr id="3" name="Footer Placeholder 2">
            <a:extLst>
              <a:ext uri="{FF2B5EF4-FFF2-40B4-BE49-F238E27FC236}">
                <a16:creationId xmlns:a16="http://schemas.microsoft.com/office/drawing/2014/main" id="{4EAB8C98-6C07-7CF9-228C-EF7E6514747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2347070-DD15-038E-31F6-EF9EAD920E5F}"/>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483214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28049-15BD-A06B-510D-51342C765D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B77F51D-EFF8-F91B-8F7D-613493BF844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443686E-4EC3-3B25-F2B1-DEF00AA476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24C9A3-A390-80A1-50AD-21AB6B252580}"/>
              </a:ext>
            </a:extLst>
          </p:cNvPr>
          <p:cNvSpPr>
            <a:spLocks noGrp="1"/>
          </p:cNvSpPr>
          <p:nvPr>
            <p:ph type="dt" sz="half" idx="10"/>
          </p:nvPr>
        </p:nvSpPr>
        <p:spPr/>
        <p:txBody>
          <a:bodyPr/>
          <a:lstStyle/>
          <a:p>
            <a:fld id="{E227863A-4956-4659-9192-3D74DA4F7578}" type="datetimeFigureOut">
              <a:rPr lang="en-US" smtClean="0"/>
              <a:t>8/27/2026</a:t>
            </a:fld>
            <a:endParaRPr lang="en-US"/>
          </a:p>
        </p:txBody>
      </p:sp>
      <p:sp>
        <p:nvSpPr>
          <p:cNvPr id="6" name="Footer Placeholder 5">
            <a:extLst>
              <a:ext uri="{FF2B5EF4-FFF2-40B4-BE49-F238E27FC236}">
                <a16:creationId xmlns:a16="http://schemas.microsoft.com/office/drawing/2014/main" id="{E83FB16C-3A67-2F8D-2205-B1FF3BE2C6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137A69-0E62-6668-A184-42A6DBF6B07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0894807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AFB01-3CD4-CFD9-5A71-411262FAAC8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9DCEFF8-AB3F-42A6-ADAF-1080336CCB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3914F7C-5D5A-7C5D-50F2-B5067E1E61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E767C3-2493-217A-8E1D-03F6BBB4ACBD}"/>
              </a:ext>
            </a:extLst>
          </p:cNvPr>
          <p:cNvSpPr>
            <a:spLocks noGrp="1"/>
          </p:cNvSpPr>
          <p:nvPr>
            <p:ph type="dt" sz="half" idx="10"/>
          </p:nvPr>
        </p:nvSpPr>
        <p:spPr/>
        <p:txBody>
          <a:bodyPr/>
          <a:lstStyle/>
          <a:p>
            <a:fld id="{E227863A-4956-4659-9192-3D74DA4F7578}" type="datetimeFigureOut">
              <a:rPr lang="en-US" smtClean="0"/>
              <a:t>8/27/2026</a:t>
            </a:fld>
            <a:endParaRPr lang="en-US"/>
          </a:p>
        </p:txBody>
      </p:sp>
      <p:sp>
        <p:nvSpPr>
          <p:cNvPr id="6" name="Footer Placeholder 5">
            <a:extLst>
              <a:ext uri="{FF2B5EF4-FFF2-40B4-BE49-F238E27FC236}">
                <a16:creationId xmlns:a16="http://schemas.microsoft.com/office/drawing/2014/main" id="{348FEBF7-64BD-7F85-1240-C02E3705BD1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0064DB1-56E3-B1C9-BED9-904A25C29434}"/>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2129736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BCD61-B1C9-A34D-6022-ADB9D4B22C3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124F7E8-10E7-E6C8-474D-2A06ED50159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E7D405-5D32-C40F-1430-5F5A97DD4FAF}"/>
              </a:ext>
            </a:extLst>
          </p:cNvPr>
          <p:cNvSpPr>
            <a:spLocks noGrp="1"/>
          </p:cNvSpPr>
          <p:nvPr>
            <p:ph type="dt" sz="half" idx="10"/>
          </p:nvPr>
        </p:nvSpPr>
        <p:spPr/>
        <p:txBody>
          <a:bodyPr/>
          <a:lstStyle/>
          <a:p>
            <a:fld id="{E227863A-4956-4659-9192-3D74DA4F7578}" type="datetimeFigureOut">
              <a:rPr lang="en-US" smtClean="0"/>
              <a:t>8/27/2026</a:t>
            </a:fld>
            <a:endParaRPr lang="en-US"/>
          </a:p>
        </p:txBody>
      </p:sp>
      <p:sp>
        <p:nvSpPr>
          <p:cNvPr id="5" name="Footer Placeholder 4">
            <a:extLst>
              <a:ext uri="{FF2B5EF4-FFF2-40B4-BE49-F238E27FC236}">
                <a16:creationId xmlns:a16="http://schemas.microsoft.com/office/drawing/2014/main" id="{7BD9955A-6D2E-8ABB-AF09-EC9590F01F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9E1B21-A5D1-C625-FE7B-A0232576A69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917886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5699036-2042-AC93-5117-4059611F3CE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22DD23D-712F-710C-F8D8-B4B2B3E0592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095516-E45F-6DA1-08EA-04E781DF5CCB}"/>
              </a:ext>
            </a:extLst>
          </p:cNvPr>
          <p:cNvSpPr>
            <a:spLocks noGrp="1"/>
          </p:cNvSpPr>
          <p:nvPr>
            <p:ph type="dt" sz="half" idx="10"/>
          </p:nvPr>
        </p:nvSpPr>
        <p:spPr/>
        <p:txBody>
          <a:bodyPr/>
          <a:lstStyle/>
          <a:p>
            <a:fld id="{E227863A-4956-4659-9192-3D74DA4F7578}" type="datetimeFigureOut">
              <a:rPr lang="en-US" smtClean="0"/>
              <a:t>8/27/2026</a:t>
            </a:fld>
            <a:endParaRPr lang="en-US"/>
          </a:p>
        </p:txBody>
      </p:sp>
      <p:sp>
        <p:nvSpPr>
          <p:cNvPr id="5" name="Footer Placeholder 4">
            <a:extLst>
              <a:ext uri="{FF2B5EF4-FFF2-40B4-BE49-F238E27FC236}">
                <a16:creationId xmlns:a16="http://schemas.microsoft.com/office/drawing/2014/main" id="{8B171DB9-D5C7-9EFA-0532-06B0BAAF41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735D92-5A89-BE34-CC33-93F56B3EDB49}"/>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387349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1F6EA6A-8FF5-49DF-BDDD-F7431B447D8F}" type="datetime3">
              <a:rPr lang="en-US" smtClean="0"/>
              <a:t>27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0808602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F411EB6-9770-43AB-BBCE-044F1DB66B82}" type="datetime3">
              <a:rPr lang="en-US" smtClean="0"/>
              <a:t>27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3482983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DC905DC-9CDD-41AE-979C-F366BC0443ED}" type="datetime3">
              <a:rPr lang="en-US" smtClean="0"/>
              <a:t>27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7399230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84FAC05-A025-4B8A-AB88-2AE8812F8A48}" type="datetime3">
              <a:rPr lang="en-US" smtClean="0"/>
              <a:t>27 August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0719083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87906D5-6813-455D-BAA0-28A983958C32}" type="datetime3">
              <a:rPr lang="en-US" smtClean="0"/>
              <a:t>27 August 2026</a:t>
            </a:fld>
            <a:endParaRPr lang="en-IN"/>
          </a:p>
        </p:txBody>
      </p:sp>
      <p:sp>
        <p:nvSpPr>
          <p:cNvPr id="8" name="Footer Placeholder 7"/>
          <p:cNvSpPr>
            <a:spLocks noGrp="1"/>
          </p:cNvSpPr>
          <p:nvPr>
            <p:ph type="ftr" sz="quarter" idx="11"/>
          </p:nvPr>
        </p:nvSpPr>
        <p:spPr/>
        <p:txBody>
          <a:bodyPr/>
          <a:lstStyle/>
          <a:p>
            <a:r>
              <a:rPr lang="en-IN"/>
              <a:t>Ph.D. Viva Voce</a:t>
            </a:r>
          </a:p>
        </p:txBody>
      </p:sp>
      <p:sp>
        <p:nvSpPr>
          <p:cNvPr id="9" name="Slide Number Placeholder 8"/>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5784857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F4309C4-DF5F-4FAA-9214-A2117415D598}" type="datetime3">
              <a:rPr lang="en-US" smtClean="0"/>
              <a:t>27 August 2026</a:t>
            </a:fld>
            <a:endParaRPr lang="en-IN"/>
          </a:p>
        </p:txBody>
      </p:sp>
      <p:sp>
        <p:nvSpPr>
          <p:cNvPr id="4" name="Footer Placeholder 3"/>
          <p:cNvSpPr>
            <a:spLocks noGrp="1"/>
          </p:cNvSpPr>
          <p:nvPr>
            <p:ph type="ftr" sz="quarter" idx="11"/>
          </p:nvPr>
        </p:nvSpPr>
        <p:spPr/>
        <p:txBody>
          <a:bodyPr/>
          <a:lstStyle/>
          <a:p>
            <a:r>
              <a:rPr lang="en-IN"/>
              <a:t>Ph.D. Viva Voce</a:t>
            </a:r>
          </a:p>
        </p:txBody>
      </p:sp>
      <p:sp>
        <p:nvSpPr>
          <p:cNvPr id="5" name="Slide Number Placeholder 4"/>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373388491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4683E30-D762-4164-BBF9-9799116ED611}" type="datetime3">
              <a:rPr lang="en-US" smtClean="0"/>
              <a:t>27 August 2026</a:t>
            </a:fld>
            <a:endParaRPr lang="en-IN"/>
          </a:p>
        </p:txBody>
      </p:sp>
      <p:sp>
        <p:nvSpPr>
          <p:cNvPr id="3" name="Footer Placeholder 2"/>
          <p:cNvSpPr>
            <a:spLocks noGrp="1"/>
          </p:cNvSpPr>
          <p:nvPr>
            <p:ph type="ftr" sz="quarter" idx="11"/>
          </p:nvPr>
        </p:nvSpPr>
        <p:spPr/>
        <p:txBody>
          <a:bodyPr/>
          <a:lstStyle/>
          <a:p>
            <a:r>
              <a:rPr lang="en-IN"/>
              <a:t>Ph.D. Viva Voce</a:t>
            </a:r>
          </a:p>
        </p:txBody>
      </p:sp>
      <p:sp>
        <p:nvSpPr>
          <p:cNvPr id="4" name="Slide Number Placeholder 3"/>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67188672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EEB4AA-F6FE-4EF1-9FE6-D5606E858D35}" type="datetime3">
              <a:rPr lang="en-US" smtClean="0"/>
              <a:t>27 August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0474917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7B547F9-D0DE-4919-BAA4-23065C38E70B}" type="datetime3">
              <a:rPr lang="en-US" smtClean="0"/>
              <a:t>27 August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04633191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30D9772-7494-4C65-A0D8-1FBD740B2E65}" type="datetime3">
              <a:rPr lang="en-US" smtClean="0"/>
              <a:t>27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330758400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BB089DC-0019-49C7-8AD2-EF5D896393D8}" type="datetime3">
              <a:rPr lang="en-US" smtClean="0"/>
              <a:t>27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2045954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9711898-360B-AD49-DD62-FA3B7B6626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1A2BE89-A274-4461-2B81-50587446319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4B2A70-C1DC-D783-67E1-97822E79A5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227863A-4956-4659-9192-3D74DA4F7578}" type="datetimeFigureOut">
              <a:rPr lang="en-US" smtClean="0"/>
              <a:t>8/27/2026</a:t>
            </a:fld>
            <a:endParaRPr lang="en-US"/>
          </a:p>
        </p:txBody>
      </p:sp>
      <p:sp>
        <p:nvSpPr>
          <p:cNvPr id="5" name="Footer Placeholder 4">
            <a:extLst>
              <a:ext uri="{FF2B5EF4-FFF2-40B4-BE49-F238E27FC236}">
                <a16:creationId xmlns:a16="http://schemas.microsoft.com/office/drawing/2014/main" id="{08C5D01A-229C-E067-7B4E-BC254D6544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0741767-E51C-1DAB-E3C8-F047E87A83D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639234F-78F1-4984-9C4D-D4C7AB587871}" type="slidenum">
              <a:rPr lang="en-US" smtClean="0"/>
              <a:t>‹#›</a:t>
            </a:fld>
            <a:endParaRPr lang="en-US"/>
          </a:p>
        </p:txBody>
      </p:sp>
    </p:spTree>
    <p:extLst>
      <p:ext uri="{BB962C8B-B14F-4D97-AF65-F5344CB8AC3E}">
        <p14:creationId xmlns:p14="http://schemas.microsoft.com/office/powerpoint/2010/main" val="16456373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16266A-CA82-4709-A4C2-B8B2AD8F4816}" type="datetime3">
              <a:rPr lang="en-US" smtClean="0"/>
              <a:t>27 August 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Ph.D. Viva Voce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AD1135-6E10-4422-AC8B-257B84239C9C}" type="slidenum">
              <a:rPr lang="en-IN" smtClean="0"/>
              <a:t>‹#›</a:t>
            </a:fld>
            <a:endParaRPr lang="en-IN"/>
          </a:p>
        </p:txBody>
      </p:sp>
    </p:spTree>
    <p:extLst>
      <p:ext uri="{BB962C8B-B14F-4D97-AF65-F5344CB8AC3E}">
        <p14:creationId xmlns:p14="http://schemas.microsoft.com/office/powerpoint/2010/main" val="291376645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hyperlink" Target="https://svgsilh.com/03a9f4/image/98809.html" TargetMode="External"/><Relationship Id="rId7" Type="http://schemas.openxmlformats.org/officeDocument/2006/relationships/diagramColors" Target="../diagrams/colors1.xml"/><Relationship Id="rId2" Type="http://schemas.openxmlformats.org/officeDocument/2006/relationships/image" Target="../media/image2.svg"/><Relationship Id="rId1" Type="http://schemas.openxmlformats.org/officeDocument/2006/relationships/slideLayout" Target="../slideLayouts/slideLayout18.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 Id="rId9"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500C0830-A1CA-96AE-68D2-18C57ABE4802}"/>
              </a:ext>
            </a:extLst>
          </p:cNvPr>
          <p:cNvSpPr txBox="1"/>
          <p:nvPr/>
        </p:nvSpPr>
        <p:spPr>
          <a:xfrm>
            <a:off x="2995612" y="2868213"/>
            <a:ext cx="6200774" cy="492443"/>
          </a:xfrm>
          <a:prstGeom prst="rect">
            <a:avLst/>
          </a:prstGeom>
          <a:noFill/>
          <a:effectLst>
            <a:glow rad="139700">
              <a:schemeClr val="accent2">
                <a:satMod val="175000"/>
                <a:alpha val="40000"/>
              </a:schemeClr>
            </a:glow>
          </a:effectLst>
        </p:spPr>
        <p:txBody>
          <a:bodyPr wrap="square">
            <a:spAutoFit/>
          </a:bodyPr>
          <a:lstStyle/>
          <a:p>
            <a:pPr algn="ctr"/>
            <a:endParaRPr lang="en-IN" sz="600" dirty="0">
              <a:latin typeface="Times New Roman" panose="02020603050405020304" pitchFamily="18" charset="0"/>
              <a:cs typeface="Times New Roman" panose="02020603050405020304" pitchFamily="18" charset="0"/>
            </a:endParaRPr>
          </a:p>
          <a:p>
            <a:pPr algn="ctr"/>
            <a:r>
              <a:rPr lang="en-IN" sz="2000" b="1" dirty="0">
                <a:solidFill>
                  <a:srgbClr val="FF0000"/>
                </a:solidFill>
                <a:latin typeface="Times New Roman" panose="02020603050405020304" pitchFamily="18" charset="0"/>
                <a:cs typeface="Times New Roman" panose="02020603050405020304" pitchFamily="18" charset="0"/>
              </a:rPr>
              <a:t>27/08/2026&amp; 8:00 </a:t>
            </a:r>
            <a:r>
              <a:rPr lang="en-IN" sz="2000" b="1" dirty="0" err="1">
                <a:solidFill>
                  <a:srgbClr val="FF0000"/>
                </a:solidFill>
                <a:latin typeface="Times New Roman" panose="02020603050405020304" pitchFamily="18" charset="0"/>
                <a:cs typeface="Times New Roman" panose="02020603050405020304" pitchFamily="18" charset="0"/>
              </a:rPr>
              <a:t>a.m</a:t>
            </a:r>
            <a:endParaRPr lang="en-IN" sz="2000" b="1" dirty="0">
              <a:solidFill>
                <a:srgbClr val="FF0000"/>
              </a:solidFill>
              <a:latin typeface="Times New Roman" panose="02020603050405020304" pitchFamily="18" charset="0"/>
              <a:cs typeface="Times New Roman" panose="02020603050405020304" pitchFamily="18" charset="0"/>
            </a:endParaRPr>
          </a:p>
        </p:txBody>
      </p:sp>
      <p:graphicFrame>
        <p:nvGraphicFramePr>
          <p:cNvPr id="18" name="Table 17">
            <a:extLst>
              <a:ext uri="{FF2B5EF4-FFF2-40B4-BE49-F238E27FC236}">
                <a16:creationId xmlns:a16="http://schemas.microsoft.com/office/drawing/2014/main" id="{BD22BC4D-4857-7D81-7819-37B7BB426420}"/>
              </a:ext>
            </a:extLst>
          </p:cNvPr>
          <p:cNvGraphicFramePr>
            <a:graphicFrameLocks noGrp="1"/>
          </p:cNvGraphicFramePr>
          <p:nvPr>
            <p:extLst>
              <p:ext uri="{D42A27DB-BD31-4B8C-83A1-F6EECF244321}">
                <p14:modId xmlns:p14="http://schemas.microsoft.com/office/powerpoint/2010/main" val="3170912796"/>
              </p:ext>
            </p:extLst>
          </p:nvPr>
        </p:nvGraphicFramePr>
        <p:xfrm>
          <a:off x="8193271" y="4898509"/>
          <a:ext cx="3702050" cy="1493520"/>
        </p:xfrm>
        <a:graphic>
          <a:graphicData uri="http://schemas.openxmlformats.org/drawingml/2006/table">
            <a:tbl>
              <a:tblPr firstRow="1" bandRow="1">
                <a:tableStyleId>{5940675A-B579-460E-94D1-54222C63F5DA}</a:tableStyleId>
              </a:tblPr>
              <a:tblGrid>
                <a:gridCol w="3702050">
                  <a:extLst>
                    <a:ext uri="{9D8B030D-6E8A-4147-A177-3AD203B41FA5}">
                      <a16:colId xmlns:a16="http://schemas.microsoft.com/office/drawing/2014/main" val="40058472"/>
                    </a:ext>
                  </a:extLst>
                </a:gridCol>
              </a:tblGrid>
              <a:tr h="75236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b="1" dirty="0">
                          <a:solidFill>
                            <a:srgbClr val="C00000"/>
                          </a:solidFill>
                          <a:latin typeface="Times New Roman" panose="02020603050405020304" pitchFamily="18" charset="0"/>
                          <a:cs typeface="Times New Roman" panose="02020603050405020304" pitchFamily="18" charset="0"/>
                        </a:rPr>
                        <a:t>Team Members</a:t>
                      </a:r>
                    </a:p>
                    <a:p>
                      <a:pPr marL="0" algn="l" defTabSz="914400" rtl="0" eaLnBrk="1" latinLnBrk="0" hangingPunct="1"/>
                      <a:r>
                        <a:rPr lang="en-IN" sz="1600" b="1" kern="1200" dirty="0">
                          <a:solidFill>
                            <a:schemeClr val="dk1"/>
                          </a:solidFill>
                          <a:latin typeface="Times New Roman" panose="02020603050405020304" pitchFamily="18" charset="0"/>
                          <a:ea typeface="Cambria"/>
                          <a:cs typeface="Times New Roman" panose="02020603050405020304" pitchFamily="18" charset="0"/>
                        </a:rPr>
                        <a:t>Name: G Anirudh, Ch Srikar Reddy, M Mahidhar</a:t>
                      </a:r>
                    </a:p>
                    <a:p>
                      <a:pPr marL="0" algn="l" defTabSz="914400" rtl="0" eaLnBrk="1" latinLnBrk="0" hangingPunct="1"/>
                      <a:endParaRPr lang="en-IN" sz="1600" b="1" kern="1200" dirty="0">
                        <a:solidFill>
                          <a:schemeClr val="dk1"/>
                        </a:solidFill>
                        <a:latin typeface="Times New Roman" panose="02020603050405020304" pitchFamily="18" charset="0"/>
                        <a:ea typeface="Cambria"/>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IN" sz="1400" b="1" kern="1200" dirty="0">
                          <a:solidFill>
                            <a:schemeClr val="dk1"/>
                          </a:solidFill>
                          <a:latin typeface="Times New Roman" panose="02020603050405020304" pitchFamily="18" charset="0"/>
                          <a:ea typeface="Cambria"/>
                          <a:cs typeface="Times New Roman" panose="02020603050405020304" pitchFamily="18" charset="0"/>
                        </a:rPr>
                        <a:t>Roll Number:2420030758,2420030509,2420030756</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21" name="Group 20">
            <a:extLst>
              <a:ext uri="{FF2B5EF4-FFF2-40B4-BE49-F238E27FC236}">
                <a16:creationId xmlns:a16="http://schemas.microsoft.com/office/drawing/2014/main" id="{B5A8CA37-C090-A9D8-75D0-A7A7D5DEBE24}"/>
              </a:ext>
            </a:extLst>
          </p:cNvPr>
          <p:cNvGrpSpPr/>
          <p:nvPr/>
        </p:nvGrpSpPr>
        <p:grpSpPr>
          <a:xfrm>
            <a:off x="8038280" y="4765558"/>
            <a:ext cx="230240" cy="232995"/>
            <a:chOff x="1567861" y="1613059"/>
            <a:chExt cx="230240" cy="232995"/>
          </a:xfrm>
          <a:solidFill>
            <a:srgbClr val="FF66FF"/>
          </a:solidFill>
        </p:grpSpPr>
        <p:sp>
          <p:nvSpPr>
            <p:cNvPr id="22" name="Isosceles Triangle 21">
              <a:extLst>
                <a:ext uri="{FF2B5EF4-FFF2-40B4-BE49-F238E27FC236}">
                  <a16:creationId xmlns:a16="http://schemas.microsoft.com/office/drawing/2014/main" id="{E48399A6-AAB5-B502-9670-34E0FCDF5541}"/>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23" name="Isosceles Triangle 22">
              <a:extLst>
                <a:ext uri="{FF2B5EF4-FFF2-40B4-BE49-F238E27FC236}">
                  <a16:creationId xmlns:a16="http://schemas.microsoft.com/office/drawing/2014/main" id="{67E59050-351C-0873-0298-AB77EA522C22}"/>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graphicFrame>
        <p:nvGraphicFramePr>
          <p:cNvPr id="30" name="Table 29">
            <a:extLst>
              <a:ext uri="{FF2B5EF4-FFF2-40B4-BE49-F238E27FC236}">
                <a16:creationId xmlns:a16="http://schemas.microsoft.com/office/drawing/2014/main" id="{9091FADF-77DB-CB1D-CD72-56C53CF76308}"/>
              </a:ext>
            </a:extLst>
          </p:cNvPr>
          <p:cNvGraphicFramePr>
            <a:graphicFrameLocks noGrp="1"/>
          </p:cNvGraphicFramePr>
          <p:nvPr>
            <p:extLst>
              <p:ext uri="{D42A27DB-BD31-4B8C-83A1-F6EECF244321}">
                <p14:modId xmlns:p14="http://schemas.microsoft.com/office/powerpoint/2010/main" val="268939543"/>
              </p:ext>
            </p:extLst>
          </p:nvPr>
        </p:nvGraphicFramePr>
        <p:xfrm>
          <a:off x="-795813" y="4774125"/>
          <a:ext cx="5902325" cy="1366520"/>
        </p:xfrm>
        <a:graphic>
          <a:graphicData uri="http://schemas.openxmlformats.org/drawingml/2006/table">
            <a:tbl>
              <a:tblPr firstRow="1" bandRow="1">
                <a:tableStyleId>{5940675A-B579-460E-94D1-54222C63F5DA}</a:tableStyleId>
              </a:tblPr>
              <a:tblGrid>
                <a:gridCol w="1373565">
                  <a:extLst>
                    <a:ext uri="{9D8B030D-6E8A-4147-A177-3AD203B41FA5}">
                      <a16:colId xmlns:a16="http://schemas.microsoft.com/office/drawing/2014/main" val="40058472"/>
                    </a:ext>
                  </a:extLst>
                </a:gridCol>
                <a:gridCol w="4528760">
                  <a:extLst>
                    <a:ext uri="{9D8B030D-6E8A-4147-A177-3AD203B41FA5}">
                      <a16:colId xmlns:a16="http://schemas.microsoft.com/office/drawing/2014/main" val="1330242319"/>
                    </a:ext>
                  </a:extLst>
                </a:gridCol>
              </a:tblGrid>
              <a:tr h="1332118">
                <a:tc>
                  <a:txBody>
                    <a:bodyPr/>
                    <a:lstStyle/>
                    <a:p>
                      <a:endParaRPr lang="en-IN"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IN" sz="500" b="1" dirty="0">
                        <a:solidFill>
                          <a:srgbClr val="C00000"/>
                        </a:solidFill>
                        <a:latin typeface="Times New Roman" panose="02020603050405020304" pitchFamily="18" charset="0"/>
                        <a:cs typeface="Times New Roman" panose="02020603050405020304" pitchFamily="18" charset="0"/>
                      </a:endParaRPr>
                    </a:p>
                    <a:p>
                      <a:r>
                        <a:rPr lang="en-IN" sz="1600" b="1" dirty="0">
                          <a:solidFill>
                            <a:srgbClr val="C00000"/>
                          </a:solidFill>
                          <a:latin typeface="Times New Roman" panose="02020603050405020304" pitchFamily="18" charset="0"/>
                          <a:cs typeface="Times New Roman" panose="02020603050405020304" pitchFamily="18" charset="0"/>
                        </a:rPr>
                        <a:t>Under the Guidance of</a:t>
                      </a:r>
                    </a:p>
                    <a:p>
                      <a:pPr marL="0" indent="0" algn="l">
                        <a:lnSpc>
                          <a:spcPct val="100000"/>
                        </a:lnSpc>
                        <a:spcBef>
                          <a:spcPts val="200"/>
                        </a:spcBef>
                        <a:buSzPts val="810"/>
                        <a:buNone/>
                      </a:pPr>
                      <a:r>
                        <a:rPr lang="en-US" sz="1400" b="1" dirty="0">
                          <a:solidFill>
                            <a:schemeClr val="dk1"/>
                          </a:solidFill>
                          <a:latin typeface="Times New Roman" panose="02020603050405020304" pitchFamily="18" charset="0"/>
                          <a:ea typeface="Cambria"/>
                          <a:cs typeface="Times New Roman" panose="02020603050405020304" pitchFamily="18" charset="0"/>
                          <a:sym typeface="Cambria"/>
                        </a:rPr>
                        <a:t>Ms. </a:t>
                      </a:r>
                      <a:r>
                        <a:rPr lang="en-IN" sz="1400" b="1" i="0" kern="1200" dirty="0">
                          <a:solidFill>
                            <a:schemeClr val="tx1"/>
                          </a:solidFill>
                          <a:effectLst/>
                          <a:latin typeface="Times New Roman" panose="02020603050405020304" pitchFamily="18" charset="0"/>
                          <a:ea typeface="+mn-ea"/>
                          <a:cs typeface="Times New Roman" panose="02020603050405020304" pitchFamily="18" charset="0"/>
                        </a:rPr>
                        <a:t>K </a:t>
                      </a:r>
                      <a:r>
                        <a:rPr lang="en-IN" sz="1400" b="1" i="0" kern="1200" dirty="0" err="1">
                          <a:solidFill>
                            <a:schemeClr val="tx1"/>
                          </a:solidFill>
                          <a:effectLst/>
                          <a:latin typeface="Times New Roman" panose="02020603050405020304" pitchFamily="18" charset="0"/>
                          <a:ea typeface="+mn-ea"/>
                          <a:cs typeface="Times New Roman" panose="02020603050405020304" pitchFamily="18" charset="0"/>
                        </a:rPr>
                        <a:t>Venkateswari</a:t>
                      </a:r>
                      <a:endParaRPr lang="en-US" sz="1400" b="1" dirty="0">
                        <a:solidFill>
                          <a:schemeClr val="dk1"/>
                        </a:solidFill>
                        <a:latin typeface="Times New Roman" panose="02020603050405020304" pitchFamily="18" charset="0"/>
                        <a:ea typeface="Cambria"/>
                        <a:cs typeface="Times New Roman" panose="02020603050405020304" pitchFamily="18" charset="0"/>
                        <a:sym typeface="Cambria"/>
                      </a:endParaRPr>
                    </a:p>
                    <a:p>
                      <a:pPr marL="0" indent="0" algn="l">
                        <a:lnSpc>
                          <a:spcPct val="100000"/>
                        </a:lnSpc>
                        <a:spcBef>
                          <a:spcPts val="200"/>
                        </a:spcBef>
                        <a:buSzPts val="810"/>
                        <a:buNone/>
                      </a:pPr>
                      <a:r>
                        <a:rPr lang="en-US" sz="1400" dirty="0">
                          <a:solidFill>
                            <a:schemeClr val="dk1"/>
                          </a:solidFill>
                          <a:latin typeface="Times New Roman" panose="02020603050405020304" pitchFamily="18" charset="0"/>
                          <a:ea typeface="Cambria"/>
                          <a:cs typeface="Times New Roman" panose="02020603050405020304" pitchFamily="18" charset="0"/>
                          <a:sym typeface="Cambria"/>
                        </a:rPr>
                        <a:t>Assistant Professor, </a:t>
                      </a:r>
                    </a:p>
                    <a:p>
                      <a:pPr marL="0" indent="0" algn="l">
                        <a:lnSpc>
                          <a:spcPct val="100000"/>
                        </a:lnSpc>
                        <a:spcBef>
                          <a:spcPts val="200"/>
                        </a:spcBef>
                        <a:buSzPts val="810"/>
                        <a:buNone/>
                      </a:pPr>
                      <a:r>
                        <a:rPr lang="en-US" sz="1400" b="1" dirty="0">
                          <a:solidFill>
                            <a:schemeClr val="dk1"/>
                          </a:solidFill>
                          <a:latin typeface="Times New Roman" panose="02020603050405020304" pitchFamily="18" charset="0"/>
                          <a:ea typeface="Cambria"/>
                          <a:cs typeface="Times New Roman" panose="02020603050405020304" pitchFamily="18" charset="0"/>
                          <a:sym typeface="Cambria"/>
                        </a:rPr>
                        <a:t>Department of </a:t>
                      </a:r>
                      <a:r>
                        <a:rPr lang="en-US" sz="1400" b="1" dirty="0">
                          <a:solidFill>
                            <a:prstClr val="black"/>
                          </a:solidFill>
                          <a:latin typeface="Times New Roman" panose="02020603050405020304" pitchFamily="18" charset="0"/>
                          <a:ea typeface="Cambria"/>
                          <a:cs typeface="Times New Roman" panose="02020603050405020304" pitchFamily="18" charset="0"/>
                          <a:sym typeface="Cambria"/>
                        </a:rPr>
                        <a:t>Computer Science and Engineering, </a:t>
                      </a:r>
                    </a:p>
                    <a:p>
                      <a:pPr marL="0" indent="0" algn="l">
                        <a:lnSpc>
                          <a:spcPct val="100000"/>
                        </a:lnSpc>
                        <a:spcBef>
                          <a:spcPts val="200"/>
                        </a:spcBef>
                        <a:buSzPts val="810"/>
                        <a:buNone/>
                      </a:pPr>
                      <a:r>
                        <a:rPr lang="en-US" sz="1400" dirty="0">
                          <a:solidFill>
                            <a:schemeClr val="dk1"/>
                          </a:solidFill>
                          <a:latin typeface="Times New Roman" panose="02020603050405020304" pitchFamily="18" charset="0"/>
                          <a:ea typeface="Cambria"/>
                          <a:cs typeface="Times New Roman" panose="02020603050405020304" pitchFamily="18" charset="0"/>
                          <a:sym typeface="Cambria"/>
                        </a:rPr>
                        <a:t>KLH CSE Bowrampet Campus</a:t>
                      </a:r>
                      <a:endParaRPr lang="en-US" sz="1400" dirty="0">
                        <a:solidFill>
                          <a:schemeClr val="dk1"/>
                        </a:solidFill>
                        <a:latin typeface="Times New Roman" panose="02020603050405020304" pitchFamily="18" charset="0"/>
                        <a:ea typeface="Cambria"/>
                        <a:cs typeface="Times New Roman" panose="02020603050405020304" pitchFamily="18" charset="0"/>
                        <a:sym typeface="Arial"/>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31" name="Group 30">
            <a:extLst>
              <a:ext uri="{FF2B5EF4-FFF2-40B4-BE49-F238E27FC236}">
                <a16:creationId xmlns:a16="http://schemas.microsoft.com/office/drawing/2014/main" id="{8A67E7A6-1F33-FBD3-09B8-F35F17C8F890}"/>
              </a:ext>
            </a:extLst>
          </p:cNvPr>
          <p:cNvGrpSpPr/>
          <p:nvPr/>
        </p:nvGrpSpPr>
        <p:grpSpPr>
          <a:xfrm>
            <a:off x="442519" y="4562547"/>
            <a:ext cx="230240" cy="232995"/>
            <a:chOff x="1567861" y="1613059"/>
            <a:chExt cx="230240" cy="232995"/>
          </a:xfrm>
          <a:solidFill>
            <a:srgbClr val="00B0F0"/>
          </a:solidFill>
        </p:grpSpPr>
        <p:sp>
          <p:nvSpPr>
            <p:cNvPr id="32" name="Isosceles Triangle 31">
              <a:extLst>
                <a:ext uri="{FF2B5EF4-FFF2-40B4-BE49-F238E27FC236}">
                  <a16:creationId xmlns:a16="http://schemas.microsoft.com/office/drawing/2014/main" id="{FE269535-B3A3-75F2-310C-D43D8AC3F905}"/>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33" name="Isosceles Triangle 32">
              <a:extLst>
                <a:ext uri="{FF2B5EF4-FFF2-40B4-BE49-F238E27FC236}">
                  <a16:creationId xmlns:a16="http://schemas.microsoft.com/office/drawing/2014/main" id="{FA8E9237-F9D3-FB94-D6EB-94D77AEFD506}"/>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34" name="Date Placeholder 33">
            <a:extLst>
              <a:ext uri="{FF2B5EF4-FFF2-40B4-BE49-F238E27FC236}">
                <a16:creationId xmlns:a16="http://schemas.microsoft.com/office/drawing/2014/main" id="{C1554CCE-4DF8-89E6-E0F6-3C2A1439C7FA}"/>
              </a:ext>
            </a:extLst>
          </p:cNvPr>
          <p:cNvSpPr>
            <a:spLocks noGrp="1"/>
          </p:cNvSpPr>
          <p:nvPr>
            <p:ph type="dt" sz="half" idx="10"/>
          </p:nvPr>
        </p:nvSpPr>
        <p:spPr/>
        <p:txBody>
          <a:bodyPr/>
          <a:lstStyle/>
          <a:p>
            <a:r>
              <a:rPr lang="en-US" b="1" dirty="0"/>
              <a:t>Date</a:t>
            </a:r>
            <a:endParaRPr lang="en-IN" b="1" dirty="0"/>
          </a:p>
        </p:txBody>
      </p:sp>
      <p:sp>
        <p:nvSpPr>
          <p:cNvPr id="35" name="Footer Placeholder 34">
            <a:extLst>
              <a:ext uri="{FF2B5EF4-FFF2-40B4-BE49-F238E27FC236}">
                <a16:creationId xmlns:a16="http://schemas.microsoft.com/office/drawing/2014/main" id="{8FB49AA0-2464-6225-6B6C-063F9A6ECD20}"/>
              </a:ext>
            </a:extLst>
          </p:cNvPr>
          <p:cNvSpPr>
            <a:spLocks noGrp="1"/>
          </p:cNvSpPr>
          <p:nvPr>
            <p:ph type="ftr" sz="quarter" idx="11"/>
          </p:nvPr>
        </p:nvSpPr>
        <p:spPr/>
        <p:txBody>
          <a:bodyPr/>
          <a:lstStyle/>
          <a:p>
            <a:r>
              <a:rPr lang="en-IN" b="1" dirty="0"/>
              <a:t>SOA Project Review-1</a:t>
            </a:r>
          </a:p>
        </p:txBody>
      </p:sp>
      <p:sp>
        <p:nvSpPr>
          <p:cNvPr id="36" name="Slide Number Placeholder 35">
            <a:extLst>
              <a:ext uri="{FF2B5EF4-FFF2-40B4-BE49-F238E27FC236}">
                <a16:creationId xmlns:a16="http://schemas.microsoft.com/office/drawing/2014/main" id="{28F834F9-83AA-E3F9-773A-4B7A83B345F7}"/>
              </a:ext>
            </a:extLst>
          </p:cNvPr>
          <p:cNvSpPr>
            <a:spLocks noGrp="1"/>
          </p:cNvSpPr>
          <p:nvPr>
            <p:ph type="sldNum" sz="quarter" idx="12"/>
          </p:nvPr>
        </p:nvSpPr>
        <p:spPr/>
        <p:txBody>
          <a:bodyPr/>
          <a:lstStyle/>
          <a:p>
            <a:fld id="{01AD1135-6E10-4422-AC8B-257B84239C9C}" type="slidenum">
              <a:rPr lang="en-IN" smtClean="0"/>
              <a:t>1</a:t>
            </a:fld>
            <a:endParaRPr lang="en-IN" dirty="0"/>
          </a:p>
        </p:txBody>
      </p:sp>
      <p:sp>
        <p:nvSpPr>
          <p:cNvPr id="4" name="Rectangle: Rounded Corners 3">
            <a:extLst>
              <a:ext uri="{FF2B5EF4-FFF2-40B4-BE49-F238E27FC236}">
                <a16:creationId xmlns:a16="http://schemas.microsoft.com/office/drawing/2014/main" id="{4EE5F681-D3B5-BC4B-8AA4-5688DCEEFB44}"/>
              </a:ext>
            </a:extLst>
          </p:cNvPr>
          <p:cNvSpPr/>
          <p:nvPr/>
        </p:nvSpPr>
        <p:spPr>
          <a:xfrm>
            <a:off x="638175" y="769267"/>
            <a:ext cx="10915650" cy="985640"/>
          </a:xfrm>
          <a:prstGeom prst="round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C00000"/>
              </a:solidFill>
              <a:effectLst/>
              <a:uLnTx/>
              <a:uFillTx/>
              <a:latin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dirty="0">
              <a:ln>
                <a:noFill/>
              </a:ln>
              <a:solidFill>
                <a:schemeClr val="bg1"/>
              </a:solidFill>
              <a:effectLst/>
              <a:uLnTx/>
              <a:uFillTx/>
              <a:latin typeface="Times New Roman" panose="02020603050405020304" pitchFamily="18" charset="0"/>
              <a:cs typeface="Times New Roman" panose="02020603050405020304" pitchFamily="18" charset="0"/>
            </a:endParaRPr>
          </a:p>
          <a:p>
            <a:pPr algn="ctr"/>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A4782FAE-AFAF-27B2-2591-CFAF7695BD03}"/>
              </a:ext>
            </a:extLst>
          </p:cNvPr>
          <p:cNvPicPr>
            <a:picLocks noChangeAspect="1"/>
          </p:cNvPicPr>
          <p:nvPr/>
        </p:nvPicPr>
        <p:blipFill>
          <a:blip r:embed="rId3"/>
          <a:stretch>
            <a:fillRect/>
          </a:stretch>
        </p:blipFill>
        <p:spPr>
          <a:xfrm>
            <a:off x="10249380" y="0"/>
            <a:ext cx="1942620" cy="622550"/>
          </a:xfrm>
          <a:prstGeom prst="rect">
            <a:avLst/>
          </a:prstGeom>
        </p:spPr>
      </p:pic>
      <p:sp>
        <p:nvSpPr>
          <p:cNvPr id="14" name="TextBox 13">
            <a:extLst>
              <a:ext uri="{FF2B5EF4-FFF2-40B4-BE49-F238E27FC236}">
                <a16:creationId xmlns:a16="http://schemas.microsoft.com/office/drawing/2014/main" id="{DD4CF64F-3FB6-0CE4-B778-63C5D5A1D343}"/>
              </a:ext>
            </a:extLst>
          </p:cNvPr>
          <p:cNvSpPr txBox="1"/>
          <p:nvPr/>
        </p:nvSpPr>
        <p:spPr>
          <a:xfrm>
            <a:off x="738187" y="810857"/>
            <a:ext cx="10715625" cy="954107"/>
          </a:xfrm>
          <a:prstGeom prst="rect">
            <a:avLst/>
          </a:prstGeom>
          <a:noFill/>
        </p:spPr>
        <p:txBody>
          <a:bodyPr wrap="square">
            <a:spAutoFit/>
          </a:bodyPr>
          <a:lstStyle/>
          <a:p>
            <a:pPr lvl="0" algn="ctr">
              <a:defRPr/>
            </a:pPr>
            <a:r>
              <a:rPr lang="en-IN" sz="2800" b="1" dirty="0">
                <a:solidFill>
                  <a:schemeClr val="bg1"/>
                </a:solidFill>
                <a:latin typeface="Times New Roman" panose="02020603050405020304" pitchFamily="18" charset="0"/>
                <a:cs typeface="Times New Roman" panose="02020603050405020304" pitchFamily="18" charset="0"/>
              </a:rPr>
              <a:t>AI-Powered Campus Event Management and Recommendation System</a:t>
            </a:r>
            <a:endParaRPr kumimoji="0" lang="en-US" sz="2800" b="1" i="0" u="none" strike="noStrike" kern="1200" cap="none" spc="0" normalizeH="0" baseline="0" noProof="0" dirty="0">
              <a:ln>
                <a:noFill/>
              </a:ln>
              <a:solidFill>
                <a:schemeClr val="bg1"/>
              </a:solidFill>
              <a:effectLst/>
              <a:uLnTx/>
              <a:uFillTx/>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id="{D25BC1A0-FDE4-1557-375E-6E0BD69BC77B}"/>
              </a:ext>
            </a:extLst>
          </p:cNvPr>
          <p:cNvSpPr txBox="1"/>
          <p:nvPr/>
        </p:nvSpPr>
        <p:spPr>
          <a:xfrm>
            <a:off x="738187" y="2246806"/>
            <a:ext cx="10715625" cy="584775"/>
          </a:xfrm>
          <a:prstGeom prst="rect">
            <a:avLst/>
          </a:prstGeom>
          <a:noFill/>
        </p:spPr>
        <p:txBody>
          <a:bodyPr wrap="square">
            <a:spAutoFit/>
          </a:bodyPr>
          <a:lstStyle/>
          <a:p>
            <a:pPr lvl="0" algn="ctr">
              <a:defRPr/>
            </a:pPr>
            <a:r>
              <a:rPr lang="en-IN" sz="3200" b="1" dirty="0">
                <a:latin typeface="Times New Roman" panose="02020603050405020304" pitchFamily="18" charset="0"/>
                <a:cs typeface="Times New Roman" panose="02020603050405020304" pitchFamily="18" charset="0"/>
              </a:rPr>
              <a:t>SOA Project Review-1</a:t>
            </a:r>
          </a:p>
        </p:txBody>
      </p:sp>
    </p:spTree>
    <p:extLst>
      <p:ext uri="{BB962C8B-B14F-4D97-AF65-F5344CB8AC3E}">
        <p14:creationId xmlns:p14="http://schemas.microsoft.com/office/powerpoint/2010/main" val="22476026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B6FAE64B-DFA9-4528-D74E-DAEA88C008D5}"/>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4" name="Footer Placeholder 3">
            <a:extLst>
              <a:ext uri="{FF2B5EF4-FFF2-40B4-BE49-F238E27FC236}">
                <a16:creationId xmlns:a16="http://schemas.microsoft.com/office/drawing/2014/main" id="{41222DE7-17C6-1B7E-71C0-2347B0AA2C6B}"/>
              </a:ext>
            </a:extLst>
          </p:cNvPr>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5" name="Slide Number Placeholder 4">
            <a:extLst>
              <a:ext uri="{FF2B5EF4-FFF2-40B4-BE49-F238E27FC236}">
                <a16:creationId xmlns:a16="http://schemas.microsoft.com/office/drawing/2014/main" id="{6420A00F-144B-157D-A12F-7CF90703CA18}"/>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A3A418F-4DEE-4BB1-940B-1145D135750E}" type="slidenum">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9797C6D7-F4DC-4908-B610-D10EE43A9B41}"/>
              </a:ext>
            </a:extLst>
          </p:cNvPr>
          <p:cNvSpPr txBox="1"/>
          <p:nvPr/>
        </p:nvSpPr>
        <p:spPr>
          <a:xfrm>
            <a:off x="3020906" y="173546"/>
            <a:ext cx="5854242" cy="646331"/>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IN" sz="3600" b="1" i="0" u="none" strike="noStrike" kern="1200" cap="none" spc="0" normalizeH="0" baseline="0" noProof="0" dirty="0">
                <a:ln w="0"/>
                <a:solidFill>
                  <a:srgbClr val="4472C4"/>
                </a:solidFill>
                <a:effectLst/>
                <a:uLnTx/>
                <a:uFillTx/>
                <a:latin typeface="Times New Roman" panose="02020603050405020304" pitchFamily="18" charset="0"/>
                <a:ea typeface="Cambria"/>
                <a:cs typeface="Times New Roman" panose="02020603050405020304" pitchFamily="18" charset="0"/>
              </a:rPr>
              <a:t>Outline of Project Work</a:t>
            </a:r>
          </a:p>
        </p:txBody>
      </p:sp>
      <p:grpSp>
        <p:nvGrpSpPr>
          <p:cNvPr id="8" name="Group 7">
            <a:extLst>
              <a:ext uri="{FF2B5EF4-FFF2-40B4-BE49-F238E27FC236}">
                <a16:creationId xmlns:a16="http://schemas.microsoft.com/office/drawing/2014/main" id="{B25CDE63-8DDC-4AC4-7713-9D89D6D0F4B1}"/>
              </a:ext>
            </a:extLst>
          </p:cNvPr>
          <p:cNvGrpSpPr/>
          <p:nvPr/>
        </p:nvGrpSpPr>
        <p:grpSpPr>
          <a:xfrm>
            <a:off x="2001361" y="1377996"/>
            <a:ext cx="6784432" cy="4438977"/>
            <a:chOff x="1929643" y="1656655"/>
            <a:chExt cx="6784432" cy="4438977"/>
          </a:xfrm>
        </p:grpSpPr>
        <p:sp>
          <p:nvSpPr>
            <p:cNvPr id="16" name="TextBox 15">
              <a:extLst>
                <a:ext uri="{FF2B5EF4-FFF2-40B4-BE49-F238E27FC236}">
                  <a16:creationId xmlns:a16="http://schemas.microsoft.com/office/drawing/2014/main" id="{C0A4CA55-824E-91B2-D5F9-032778D4B8B3}"/>
                </a:ext>
              </a:extLst>
            </p:cNvPr>
            <p:cNvSpPr txBox="1"/>
            <p:nvPr/>
          </p:nvSpPr>
          <p:spPr>
            <a:xfrm>
              <a:off x="2675533" y="3257433"/>
              <a:ext cx="4267376" cy="960328"/>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Challenges</a:t>
              </a:r>
            </a:p>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18" name="TextBox 17">
              <a:extLst>
                <a:ext uri="{FF2B5EF4-FFF2-40B4-BE49-F238E27FC236}">
                  <a16:creationId xmlns:a16="http://schemas.microsoft.com/office/drawing/2014/main" id="{EE7E17B2-5AF8-C463-91C3-5B87FC773369}"/>
                </a:ext>
              </a:extLst>
            </p:cNvPr>
            <p:cNvSpPr txBox="1"/>
            <p:nvPr/>
          </p:nvSpPr>
          <p:spPr>
            <a:xfrm>
              <a:off x="2922896" y="3753448"/>
              <a:ext cx="4374693" cy="873572"/>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Research Objectives</a:t>
              </a:r>
            </a:p>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18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20" name="TextBox 19">
              <a:extLst>
                <a:ext uri="{FF2B5EF4-FFF2-40B4-BE49-F238E27FC236}">
                  <a16:creationId xmlns:a16="http://schemas.microsoft.com/office/drawing/2014/main" id="{6D160BA9-A291-1BA5-C03E-7218C2169C28}"/>
                </a:ext>
              </a:extLst>
            </p:cNvPr>
            <p:cNvSpPr txBox="1"/>
            <p:nvPr/>
          </p:nvSpPr>
          <p:spPr>
            <a:xfrm>
              <a:off x="3139925" y="4332926"/>
              <a:ext cx="4529560" cy="937693"/>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Conclusion &amp; Future Work</a:t>
              </a:r>
            </a:p>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18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22" name="TextBox 21">
              <a:extLst>
                <a:ext uri="{FF2B5EF4-FFF2-40B4-BE49-F238E27FC236}">
                  <a16:creationId xmlns:a16="http://schemas.microsoft.com/office/drawing/2014/main" id="{6C792DA3-F484-948A-E346-F158FE24CE3F}"/>
                </a:ext>
              </a:extLst>
            </p:cNvPr>
            <p:cNvSpPr txBox="1"/>
            <p:nvPr/>
          </p:nvSpPr>
          <p:spPr>
            <a:xfrm>
              <a:off x="3426151" y="4880317"/>
              <a:ext cx="4774676" cy="919739"/>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References</a:t>
              </a:r>
              <a:b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br>
              <a:endPar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endParaRPr>
            </a:p>
          </p:txBody>
        </p:sp>
        <p:sp>
          <p:nvSpPr>
            <p:cNvPr id="24" name="TextBox 23">
              <a:extLst>
                <a:ext uri="{FF2B5EF4-FFF2-40B4-BE49-F238E27FC236}">
                  <a16:creationId xmlns:a16="http://schemas.microsoft.com/office/drawing/2014/main" id="{957E2443-43F4-3FA3-6C83-796D6B456220}"/>
                </a:ext>
              </a:extLst>
            </p:cNvPr>
            <p:cNvSpPr txBox="1"/>
            <p:nvPr/>
          </p:nvSpPr>
          <p:spPr>
            <a:xfrm>
              <a:off x="3822549" y="5483028"/>
              <a:ext cx="4891526" cy="612604"/>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Publications Details</a:t>
              </a:r>
            </a:p>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1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endParaRPr>
            </a:p>
          </p:txBody>
        </p:sp>
        <p:pic>
          <p:nvPicPr>
            <p:cNvPr id="7" name="Graphic 6">
              <a:extLst>
                <a:ext uri="{FF2B5EF4-FFF2-40B4-BE49-F238E27FC236}">
                  <a16:creationId xmlns:a16="http://schemas.microsoft.com/office/drawing/2014/main" id="{FEE87FCF-6A51-9005-163C-5E3B5C1257B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8229530" y="5002476"/>
              <a:ext cx="455841" cy="536286"/>
            </a:xfrm>
            <a:prstGeom prst="rect">
              <a:avLst/>
            </a:prstGeom>
          </p:spPr>
        </p:pic>
        <p:sp>
          <p:nvSpPr>
            <p:cNvPr id="28" name="Content Placeholder 11">
              <a:extLst>
                <a:ext uri="{FF2B5EF4-FFF2-40B4-BE49-F238E27FC236}">
                  <a16:creationId xmlns:a16="http://schemas.microsoft.com/office/drawing/2014/main" id="{F1211E34-5F1E-9B5C-4C59-2549F412DCD1}"/>
                </a:ext>
              </a:extLst>
            </p:cNvPr>
            <p:cNvSpPr txBox="1">
              <a:spLocks/>
            </p:cNvSpPr>
            <p:nvPr/>
          </p:nvSpPr>
          <p:spPr>
            <a:xfrm>
              <a:off x="1929643" y="1656655"/>
              <a:ext cx="3548330" cy="748994"/>
            </a:xfrm>
            <a:prstGeom prst="rect">
              <a:avLst/>
            </a:prstGeom>
            <a:solidFill>
              <a:schemeClr val="tx1">
                <a:lumMod val="75000"/>
                <a:lumOff val="25000"/>
              </a:schemeClr>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Focus</a:t>
              </a: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31" name="Content Placeholder 11">
              <a:extLst>
                <a:ext uri="{FF2B5EF4-FFF2-40B4-BE49-F238E27FC236}">
                  <a16:creationId xmlns:a16="http://schemas.microsoft.com/office/drawing/2014/main" id="{4D713724-2EA7-CA04-47B9-F63B3DAC496D}"/>
                </a:ext>
              </a:extLst>
            </p:cNvPr>
            <p:cNvSpPr txBox="1">
              <a:spLocks/>
            </p:cNvSpPr>
            <p:nvPr/>
          </p:nvSpPr>
          <p:spPr>
            <a:xfrm>
              <a:off x="2209801" y="2217836"/>
              <a:ext cx="3886200" cy="666229"/>
            </a:xfrm>
            <a:prstGeom prst="rect">
              <a:avLst/>
            </a:prstGeom>
            <a:solidFill>
              <a:schemeClr val="tx1">
                <a:lumMod val="75000"/>
                <a:lumOff val="25000"/>
              </a:schemeClr>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Introduction</a:t>
              </a: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36" name="Graphic 35">
              <a:extLst>
                <a:ext uri="{FF2B5EF4-FFF2-40B4-BE49-F238E27FC236}">
                  <a16:creationId xmlns:a16="http://schemas.microsoft.com/office/drawing/2014/main" id="{55B3B570-3194-94D5-869B-2F3E3E133BA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7683523" y="4358877"/>
              <a:ext cx="455841" cy="536286"/>
            </a:xfrm>
            <a:prstGeom prst="rect">
              <a:avLst/>
            </a:prstGeom>
          </p:spPr>
        </p:pic>
        <p:pic>
          <p:nvPicPr>
            <p:cNvPr id="37" name="Graphic 36">
              <a:extLst>
                <a:ext uri="{FF2B5EF4-FFF2-40B4-BE49-F238E27FC236}">
                  <a16:creationId xmlns:a16="http://schemas.microsoft.com/office/drawing/2014/main" id="{A01B3509-5090-7764-12FF-0CDB13E360A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7229942" y="3813495"/>
              <a:ext cx="455841" cy="536286"/>
            </a:xfrm>
            <a:prstGeom prst="rect">
              <a:avLst/>
            </a:prstGeom>
          </p:spPr>
        </p:pic>
        <p:pic>
          <p:nvPicPr>
            <p:cNvPr id="38" name="Graphic 37">
              <a:extLst>
                <a:ext uri="{FF2B5EF4-FFF2-40B4-BE49-F238E27FC236}">
                  <a16:creationId xmlns:a16="http://schemas.microsoft.com/office/drawing/2014/main" id="{4A5FDD7E-5A46-92A5-C963-19E091BBF72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863353" y="3200501"/>
              <a:ext cx="455841" cy="536286"/>
            </a:xfrm>
            <a:prstGeom prst="rect">
              <a:avLst/>
            </a:prstGeom>
          </p:spPr>
        </p:pic>
        <p:pic>
          <p:nvPicPr>
            <p:cNvPr id="39" name="Graphic 38">
              <a:extLst>
                <a:ext uri="{FF2B5EF4-FFF2-40B4-BE49-F238E27FC236}">
                  <a16:creationId xmlns:a16="http://schemas.microsoft.com/office/drawing/2014/main" id="{C50C5009-E2F0-E358-4C45-CAEADDEC93B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443196" y="2766955"/>
              <a:ext cx="455841" cy="536286"/>
            </a:xfrm>
            <a:prstGeom prst="rect">
              <a:avLst/>
            </a:prstGeom>
          </p:spPr>
        </p:pic>
        <p:pic>
          <p:nvPicPr>
            <p:cNvPr id="40" name="Graphic 39">
              <a:extLst>
                <a:ext uri="{FF2B5EF4-FFF2-40B4-BE49-F238E27FC236}">
                  <a16:creationId xmlns:a16="http://schemas.microsoft.com/office/drawing/2014/main" id="{F1D91F2F-C2FB-3146-467B-21A20C8410D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040392" y="2252522"/>
              <a:ext cx="455841" cy="536286"/>
            </a:xfrm>
            <a:prstGeom prst="rect">
              <a:avLst/>
            </a:prstGeom>
          </p:spPr>
        </p:pic>
        <p:pic>
          <p:nvPicPr>
            <p:cNvPr id="41" name="Graphic 40">
              <a:extLst>
                <a:ext uri="{FF2B5EF4-FFF2-40B4-BE49-F238E27FC236}">
                  <a16:creationId xmlns:a16="http://schemas.microsoft.com/office/drawing/2014/main" id="{7B0FD951-BFA0-1228-E572-2BFE866AEE7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5626122" y="1721293"/>
              <a:ext cx="455841" cy="536286"/>
            </a:xfrm>
            <a:prstGeom prst="rect">
              <a:avLst/>
            </a:prstGeom>
          </p:spPr>
        </p:pic>
        <p:sp>
          <p:nvSpPr>
            <p:cNvPr id="14" name="TextBox 13">
              <a:extLst>
                <a:ext uri="{FF2B5EF4-FFF2-40B4-BE49-F238E27FC236}">
                  <a16:creationId xmlns:a16="http://schemas.microsoft.com/office/drawing/2014/main" id="{576F380C-3238-E430-3C22-3C23884CE532}"/>
                </a:ext>
              </a:extLst>
            </p:cNvPr>
            <p:cNvSpPr txBox="1"/>
            <p:nvPr/>
          </p:nvSpPr>
          <p:spPr>
            <a:xfrm>
              <a:off x="2490411" y="2773626"/>
              <a:ext cx="4004225" cy="506870"/>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4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Literature Survey</a:t>
              </a:r>
              <a:endParaRPr kumimoji="0" lang="en-US" sz="204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grpSp>
      <p:graphicFrame>
        <p:nvGraphicFramePr>
          <p:cNvPr id="26" name="Diagram 25">
            <a:extLst>
              <a:ext uri="{FF2B5EF4-FFF2-40B4-BE49-F238E27FC236}">
                <a16:creationId xmlns:a16="http://schemas.microsoft.com/office/drawing/2014/main" id="{C044B753-17EC-8A45-927F-C44CC40ED5BA}"/>
              </a:ext>
            </a:extLst>
          </p:cNvPr>
          <p:cNvGraphicFramePr/>
          <p:nvPr/>
        </p:nvGraphicFramePr>
        <p:xfrm>
          <a:off x="41510" y="115414"/>
          <a:ext cx="1474694" cy="94234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10" name="Picture 9">
            <a:extLst>
              <a:ext uri="{FF2B5EF4-FFF2-40B4-BE49-F238E27FC236}">
                <a16:creationId xmlns:a16="http://schemas.microsoft.com/office/drawing/2014/main" id="{0B4D1914-919F-D842-1FC2-1BBFC0E95C24}"/>
              </a:ext>
            </a:extLst>
          </p:cNvPr>
          <p:cNvPicPr>
            <a:picLocks noChangeAspect="1"/>
          </p:cNvPicPr>
          <p:nvPr/>
        </p:nvPicPr>
        <p:blipFill>
          <a:blip r:embed="rId9"/>
          <a:stretch>
            <a:fillRect/>
          </a:stretch>
        </p:blipFill>
        <p:spPr>
          <a:xfrm>
            <a:off x="10249380" y="0"/>
            <a:ext cx="1901110" cy="622550"/>
          </a:xfrm>
          <a:prstGeom prst="rect">
            <a:avLst/>
          </a:prstGeom>
        </p:spPr>
      </p:pic>
    </p:spTree>
    <p:extLst>
      <p:ext uri="{BB962C8B-B14F-4D97-AF65-F5344CB8AC3E}">
        <p14:creationId xmlns:p14="http://schemas.microsoft.com/office/powerpoint/2010/main" val="27479694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C8F81-5402-FBBE-D32A-834F3C60336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DBD4C9C-9DEB-26F4-AA75-F51C06DD64DC}"/>
              </a:ext>
            </a:extLst>
          </p:cNvPr>
          <p:cNvSpPr txBox="1"/>
          <p:nvPr/>
        </p:nvSpPr>
        <p:spPr>
          <a:xfrm>
            <a:off x="3991897" y="482232"/>
            <a:ext cx="6096000" cy="646331"/>
          </a:xfrm>
          <a:prstGeom prst="rect">
            <a:avLst/>
          </a:prstGeom>
          <a:noFill/>
        </p:spPr>
        <p:txBody>
          <a:bodyPr wrap="square">
            <a:spAutoFit/>
          </a:bodyPr>
          <a:lstStyle/>
          <a:p>
            <a:r>
              <a:rPr lang="en-US" sz="3600" b="1" dirty="0"/>
              <a:t>Problem Statement</a:t>
            </a:r>
          </a:p>
        </p:txBody>
      </p:sp>
      <p:pic>
        <p:nvPicPr>
          <p:cNvPr id="3" name="Picture 2">
            <a:extLst>
              <a:ext uri="{FF2B5EF4-FFF2-40B4-BE49-F238E27FC236}">
                <a16:creationId xmlns:a16="http://schemas.microsoft.com/office/drawing/2014/main" id="{17A614DC-364B-1BD9-B452-BC2E55FD9D04}"/>
              </a:ext>
            </a:extLst>
          </p:cNvPr>
          <p:cNvPicPr>
            <a:picLocks noChangeAspect="1"/>
          </p:cNvPicPr>
          <p:nvPr/>
        </p:nvPicPr>
        <p:blipFill>
          <a:blip r:embed="rId2"/>
          <a:stretch>
            <a:fillRect/>
          </a:stretch>
        </p:blipFill>
        <p:spPr>
          <a:xfrm>
            <a:off x="10249380" y="0"/>
            <a:ext cx="1942620" cy="622550"/>
          </a:xfrm>
          <a:prstGeom prst="rect">
            <a:avLst/>
          </a:prstGeom>
        </p:spPr>
      </p:pic>
      <p:sp>
        <p:nvSpPr>
          <p:cNvPr id="2" name="TextBox 1">
            <a:extLst>
              <a:ext uri="{FF2B5EF4-FFF2-40B4-BE49-F238E27FC236}">
                <a16:creationId xmlns:a16="http://schemas.microsoft.com/office/drawing/2014/main" id="{C12DB255-7392-B2FF-FF2C-9731A740533C}"/>
              </a:ext>
            </a:extLst>
          </p:cNvPr>
          <p:cNvSpPr txBox="1"/>
          <p:nvPr/>
        </p:nvSpPr>
        <p:spPr>
          <a:xfrm>
            <a:off x="511278" y="1641987"/>
            <a:ext cx="6764594" cy="2862322"/>
          </a:xfrm>
          <a:prstGeom prst="rect">
            <a:avLst/>
          </a:prstGeom>
          <a:noFill/>
        </p:spPr>
        <p:txBody>
          <a:bodyPr wrap="square" rtlCol="0">
            <a:spAutoFit/>
          </a:bodyPr>
          <a:lstStyle/>
          <a:p>
            <a:r>
              <a:rPr lang="en-IN" b="1" dirty="0"/>
              <a:t>The Central Problem:</a:t>
            </a:r>
            <a:br>
              <a:rPr lang="en-IN" dirty="0"/>
            </a:br>
            <a:r>
              <a:rPr lang="en-IN" dirty="0"/>
              <a:t>Campus events are often announced through multiple disconnected channels such as WhatsApp groups, social media, notices, and separate registration links. This makes it difficult for students to discover events relevant to their interests and can result in missed participation opportunities.</a:t>
            </a:r>
          </a:p>
          <a:p>
            <a:endParaRPr lang="en-IN" dirty="0"/>
          </a:p>
          <a:p>
            <a:r>
              <a:rPr lang="en-IN" dirty="0"/>
              <a:t>At the same time, event organizers have to manage event creation, registrations, updates, and participation data across different platforms, making the overall process inefficient.</a:t>
            </a:r>
          </a:p>
        </p:txBody>
      </p:sp>
      <p:pic>
        <p:nvPicPr>
          <p:cNvPr id="4" name="Picture 3" descr="EVENT MANAGEMENT SYSTEM">
            <a:extLst>
              <a:ext uri="{FF2B5EF4-FFF2-40B4-BE49-F238E27FC236}">
                <a16:creationId xmlns:a16="http://schemas.microsoft.com/office/drawing/2014/main" id="{CEC51C7A-65AD-5E57-5AE8-9249FBAB625E}"/>
              </a:ext>
            </a:extLst>
          </p:cNvPr>
          <p:cNvPicPr>
            <a:picLocks noChangeAspect="1"/>
          </p:cNvPicPr>
          <p:nvPr/>
        </p:nvPicPr>
        <p:blipFill>
          <a:blip r:embed="rId3"/>
          <a:stretch>
            <a:fillRect/>
          </a:stretch>
        </p:blipFill>
        <p:spPr>
          <a:xfrm>
            <a:off x="7168106" y="1662526"/>
            <a:ext cx="4614933" cy="3076622"/>
          </a:xfrm>
          <a:prstGeom prst="rect">
            <a:avLst/>
          </a:prstGeom>
        </p:spPr>
      </p:pic>
    </p:spTree>
    <p:extLst>
      <p:ext uri="{BB962C8B-B14F-4D97-AF65-F5344CB8AC3E}">
        <p14:creationId xmlns:p14="http://schemas.microsoft.com/office/powerpoint/2010/main" val="18439377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4AF34-8CFC-8161-A3CD-DED259C92A6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F508849-A0DD-12D4-FD0D-5322CA138B2F}"/>
              </a:ext>
            </a:extLst>
          </p:cNvPr>
          <p:cNvSpPr txBox="1"/>
          <p:nvPr/>
        </p:nvSpPr>
        <p:spPr>
          <a:xfrm>
            <a:off x="2939845" y="311275"/>
            <a:ext cx="6096000" cy="646331"/>
          </a:xfrm>
          <a:prstGeom prst="rect">
            <a:avLst/>
          </a:prstGeom>
          <a:noFill/>
        </p:spPr>
        <p:txBody>
          <a:bodyPr wrap="square">
            <a:spAutoFit/>
          </a:bodyPr>
          <a:lstStyle/>
          <a:p>
            <a:pPr algn="ctr"/>
            <a:r>
              <a:rPr lang="en-US" sz="3600" b="1" dirty="0"/>
              <a:t>Objectives</a:t>
            </a:r>
          </a:p>
        </p:txBody>
      </p:sp>
      <p:pic>
        <p:nvPicPr>
          <p:cNvPr id="3" name="Picture 2">
            <a:extLst>
              <a:ext uri="{FF2B5EF4-FFF2-40B4-BE49-F238E27FC236}">
                <a16:creationId xmlns:a16="http://schemas.microsoft.com/office/drawing/2014/main" id="{5B2C6E66-DFCA-CBBA-3972-F62C5800AE03}"/>
              </a:ext>
            </a:extLst>
          </p:cNvPr>
          <p:cNvPicPr>
            <a:picLocks noChangeAspect="1"/>
          </p:cNvPicPr>
          <p:nvPr/>
        </p:nvPicPr>
        <p:blipFill>
          <a:blip r:embed="rId2"/>
          <a:stretch>
            <a:fillRect/>
          </a:stretch>
        </p:blipFill>
        <p:spPr>
          <a:xfrm>
            <a:off x="10249380" y="0"/>
            <a:ext cx="1942620" cy="622550"/>
          </a:xfrm>
          <a:prstGeom prst="rect">
            <a:avLst/>
          </a:prstGeom>
        </p:spPr>
      </p:pic>
      <p:sp>
        <p:nvSpPr>
          <p:cNvPr id="2" name="TextBox 1">
            <a:extLst>
              <a:ext uri="{FF2B5EF4-FFF2-40B4-BE49-F238E27FC236}">
                <a16:creationId xmlns:a16="http://schemas.microsoft.com/office/drawing/2014/main" id="{E00E20CA-D13B-AC16-6DCD-0DAE1F09F4A0}"/>
              </a:ext>
            </a:extLst>
          </p:cNvPr>
          <p:cNvSpPr txBox="1"/>
          <p:nvPr/>
        </p:nvSpPr>
        <p:spPr>
          <a:xfrm>
            <a:off x="648929" y="948690"/>
            <a:ext cx="10137058" cy="5355312"/>
          </a:xfrm>
          <a:prstGeom prst="rect">
            <a:avLst/>
          </a:prstGeom>
          <a:noFill/>
        </p:spPr>
        <p:txBody>
          <a:bodyPr wrap="square" rtlCol="0">
            <a:spAutoFit/>
          </a:bodyPr>
          <a:lstStyle/>
          <a:p>
            <a:r>
              <a:rPr lang="en-IN" b="1" dirty="0"/>
              <a:t>Research &amp; System Design</a:t>
            </a:r>
          </a:p>
          <a:p>
            <a:pPr marL="742950" lvl="1" indent="-285750">
              <a:buFont typeface="Arial" panose="020B0604020202020204" pitchFamily="34" charset="0"/>
              <a:buChar char="•"/>
            </a:pPr>
            <a:r>
              <a:rPr lang="en-IN" dirty="0"/>
              <a:t>Study existing campus event-management and event-recommendation systems. </a:t>
            </a:r>
          </a:p>
          <a:p>
            <a:pPr marL="742950" lvl="1" indent="-285750">
              <a:buFont typeface="Arial" panose="020B0604020202020204" pitchFamily="34" charset="0"/>
              <a:buChar char="•"/>
            </a:pPr>
            <a:r>
              <a:rPr lang="en-IN" dirty="0"/>
              <a:t>Identify gaps in current methods of campus event discovery and management. </a:t>
            </a:r>
          </a:p>
          <a:p>
            <a:pPr marL="742950" lvl="1" indent="-285750">
              <a:buFont typeface="Arial" panose="020B0604020202020204" pitchFamily="34" charset="0"/>
              <a:buChar char="•"/>
            </a:pPr>
            <a:r>
              <a:rPr lang="en-IN" dirty="0" err="1"/>
              <a:t>Analyze</a:t>
            </a:r>
            <a:r>
              <a:rPr lang="en-IN" dirty="0"/>
              <a:t> student preferences and event characteristics relevant to personalized recommendations. </a:t>
            </a:r>
          </a:p>
          <a:p>
            <a:pPr marL="742950" lvl="1" indent="-285750">
              <a:buFont typeface="Arial" panose="020B0604020202020204" pitchFamily="34" charset="0"/>
              <a:buChar char="•"/>
            </a:pPr>
            <a:r>
              <a:rPr lang="en-IN" dirty="0"/>
              <a:t>Design a modular architecture integrating event management, registration, recommendation, and participation tracking. </a:t>
            </a:r>
          </a:p>
          <a:p>
            <a:pPr marL="742950" lvl="1" indent="-285750">
              <a:buFont typeface="Arial" panose="020B0604020202020204" pitchFamily="34" charset="0"/>
              <a:buChar char="•"/>
            </a:pPr>
            <a:r>
              <a:rPr lang="en-IN" dirty="0"/>
              <a:t>Develop an AI-based recommendation approach to suggest relevant events to students. </a:t>
            </a:r>
          </a:p>
          <a:p>
            <a:pPr marL="742950" lvl="1" indent="-285750">
              <a:buFont typeface="Arial" panose="020B0604020202020204" pitchFamily="34" charset="0"/>
              <a:buChar char="•"/>
            </a:pPr>
            <a:r>
              <a:rPr lang="en-IN" dirty="0"/>
              <a:t>Define evaluation metrics for recommendation relevance, usability, engagement, and system performance. </a:t>
            </a:r>
          </a:p>
          <a:p>
            <a:pPr marL="742950" lvl="1" indent="-285750">
              <a:buFont typeface="Arial" panose="020B0604020202020204" pitchFamily="34" charset="0"/>
              <a:buChar char="•"/>
            </a:pPr>
            <a:endParaRPr lang="en-IN" dirty="0"/>
          </a:p>
          <a:p>
            <a:r>
              <a:rPr lang="en-IN" b="1" dirty="0"/>
              <a:t>Implementation &amp; Evaluation</a:t>
            </a:r>
          </a:p>
          <a:p>
            <a:pPr marL="742950" lvl="1" indent="-285750">
              <a:buFont typeface="Arial" panose="020B0604020202020204" pitchFamily="34" charset="0"/>
              <a:buChar char="•"/>
            </a:pPr>
            <a:r>
              <a:rPr lang="en-IN" dirty="0"/>
              <a:t>Implement student, organizer, and administrator modules. </a:t>
            </a:r>
          </a:p>
          <a:p>
            <a:pPr marL="742950" lvl="1" indent="-285750">
              <a:buFont typeface="Arial" panose="020B0604020202020204" pitchFamily="34" charset="0"/>
              <a:buChar char="•"/>
            </a:pPr>
            <a:r>
              <a:rPr lang="en-IN" dirty="0"/>
              <a:t>Develop event creation, discovery, registration, and notification functionalities. </a:t>
            </a:r>
          </a:p>
          <a:p>
            <a:pPr marL="742950" lvl="1" indent="-285750">
              <a:buFont typeface="Arial" panose="020B0604020202020204" pitchFamily="34" charset="0"/>
              <a:buChar char="•"/>
            </a:pPr>
            <a:r>
              <a:rPr lang="en-IN" dirty="0"/>
              <a:t>Integrate the AI recommendation module with the event-management system. </a:t>
            </a:r>
          </a:p>
          <a:p>
            <a:pPr marL="742950" lvl="1" indent="-285750">
              <a:buFont typeface="Arial" panose="020B0604020202020204" pitchFamily="34" charset="0"/>
              <a:buChar char="•"/>
            </a:pPr>
            <a:r>
              <a:rPr lang="en-IN" dirty="0"/>
              <a:t>Evaluate the system using recommendation accuracy, response time, user satisfaction, and participation/engagement. </a:t>
            </a:r>
          </a:p>
          <a:p>
            <a:pPr marL="742950" lvl="1" indent="-285750">
              <a:buFont typeface="Arial" panose="020B0604020202020204" pitchFamily="34" charset="0"/>
              <a:buChar char="•"/>
            </a:pPr>
            <a:r>
              <a:rPr lang="en-IN" dirty="0"/>
              <a:t>Maintain a reproducible workflow covering development, testing, evaluation, and documentation.</a:t>
            </a:r>
          </a:p>
        </p:txBody>
      </p:sp>
    </p:spTree>
    <p:extLst>
      <p:ext uri="{BB962C8B-B14F-4D97-AF65-F5344CB8AC3E}">
        <p14:creationId xmlns:p14="http://schemas.microsoft.com/office/powerpoint/2010/main" val="39177829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AACD11AD-3AF5-B626-2B60-0567E4585BB7}"/>
              </a:ext>
            </a:extLst>
          </p:cNvPr>
          <p:cNvGraphicFramePr>
            <a:graphicFrameLocks/>
          </p:cNvGraphicFramePr>
          <p:nvPr>
            <p:extLst>
              <p:ext uri="{D42A27DB-BD31-4B8C-83A1-F6EECF244321}">
                <p14:modId xmlns:p14="http://schemas.microsoft.com/office/powerpoint/2010/main" val="600898398"/>
              </p:ext>
            </p:extLst>
          </p:nvPr>
        </p:nvGraphicFramePr>
        <p:xfrm>
          <a:off x="274646" y="689466"/>
          <a:ext cx="11642705" cy="4656054"/>
        </p:xfrm>
        <a:graphic>
          <a:graphicData uri="http://schemas.openxmlformats.org/drawingml/2006/table">
            <a:tbl>
              <a:tblPr firstRow="1" bandRow="1">
                <a:tableStyleId>{BC89EF96-8CEA-46FF-86C4-4CE0E7609802}</a:tableStyleId>
              </a:tblPr>
              <a:tblGrid>
                <a:gridCol w="1089006">
                  <a:extLst>
                    <a:ext uri="{9D8B030D-6E8A-4147-A177-3AD203B41FA5}">
                      <a16:colId xmlns:a16="http://schemas.microsoft.com/office/drawing/2014/main" val="20001"/>
                    </a:ext>
                  </a:extLst>
                </a:gridCol>
                <a:gridCol w="2275288">
                  <a:extLst>
                    <a:ext uri="{9D8B030D-6E8A-4147-A177-3AD203B41FA5}">
                      <a16:colId xmlns:a16="http://schemas.microsoft.com/office/drawing/2014/main" val="20002"/>
                    </a:ext>
                  </a:extLst>
                </a:gridCol>
                <a:gridCol w="2476109">
                  <a:extLst>
                    <a:ext uri="{9D8B030D-6E8A-4147-A177-3AD203B41FA5}">
                      <a16:colId xmlns:a16="http://schemas.microsoft.com/office/drawing/2014/main" val="20003"/>
                    </a:ext>
                  </a:extLst>
                </a:gridCol>
                <a:gridCol w="2936588">
                  <a:extLst>
                    <a:ext uri="{9D8B030D-6E8A-4147-A177-3AD203B41FA5}">
                      <a16:colId xmlns:a16="http://schemas.microsoft.com/office/drawing/2014/main" val="20004"/>
                    </a:ext>
                  </a:extLst>
                </a:gridCol>
                <a:gridCol w="2865714">
                  <a:extLst>
                    <a:ext uri="{9D8B030D-6E8A-4147-A177-3AD203B41FA5}">
                      <a16:colId xmlns:a16="http://schemas.microsoft.com/office/drawing/2014/main" val="1396003017"/>
                    </a:ext>
                  </a:extLst>
                </a:gridCol>
              </a:tblGrid>
              <a:tr h="387917">
                <a:tc>
                  <a:txBody>
                    <a:bodyPr/>
                    <a:lstStyle/>
                    <a:p>
                      <a:pPr algn="ctr">
                        <a:buNone/>
                      </a:pPr>
                      <a:r>
                        <a:rPr lang="en-US" dirty="0">
                          <a:latin typeface="Times New Roman" pitchFamily="18" charset="0"/>
                          <a:cs typeface="Times New Roman" pitchFamily="18" charset="0"/>
                        </a:rPr>
                        <a:t>Authors</a:t>
                      </a:r>
                    </a:p>
                  </a:txBody>
                  <a:tcPr>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latin typeface="Times New Roman" pitchFamily="18" charset="0"/>
                          <a:cs typeface="Times New Roman" pitchFamily="18" charset="0"/>
                        </a:rPr>
                        <a:t>Title of the Paper</a:t>
                      </a:r>
                    </a:p>
                  </a:txBody>
                  <a:tcPr>
                    <a:solidFill>
                      <a:srgbClr val="FFFF00"/>
                    </a:solidFill>
                  </a:tcPr>
                </a:tc>
                <a:tc>
                  <a:txBody>
                    <a:bodyPr/>
                    <a:lstStyle/>
                    <a:p>
                      <a:pPr algn="ctr">
                        <a:buNone/>
                      </a:pPr>
                      <a:r>
                        <a:rPr lang="en-US" dirty="0">
                          <a:latin typeface="Times New Roman" pitchFamily="18" charset="0"/>
                          <a:cs typeface="Times New Roman" pitchFamily="18" charset="0"/>
                        </a:rPr>
                        <a:t>Methodology</a:t>
                      </a:r>
                    </a:p>
                  </a:txBody>
                  <a:tcPr>
                    <a:solidFill>
                      <a:srgbClr val="FFFF00"/>
                    </a:solidFill>
                  </a:tcPr>
                </a:tc>
                <a:tc>
                  <a:txBody>
                    <a:bodyPr/>
                    <a:lstStyle/>
                    <a:p>
                      <a:pPr algn="ctr">
                        <a:buNone/>
                      </a:pPr>
                      <a:r>
                        <a:rPr lang="en-US" dirty="0">
                          <a:latin typeface="Times New Roman" pitchFamily="18" charset="0"/>
                          <a:cs typeface="Times New Roman" pitchFamily="18" charset="0"/>
                        </a:rPr>
                        <a:t>Inferences</a:t>
                      </a:r>
                    </a:p>
                  </a:txBody>
                  <a:tcPr>
                    <a:solidFill>
                      <a:srgbClr val="FFFF00"/>
                    </a:solidFill>
                  </a:tcPr>
                </a:tc>
                <a:tc>
                  <a:txBody>
                    <a:bodyPr/>
                    <a:lstStyle/>
                    <a:p>
                      <a:pPr algn="ctr">
                        <a:buNone/>
                      </a:pPr>
                      <a:r>
                        <a:rPr lang="en-US" dirty="0">
                          <a:latin typeface="Times New Roman" pitchFamily="18" charset="0"/>
                          <a:cs typeface="Times New Roman" pitchFamily="18" charset="0"/>
                        </a:rPr>
                        <a:t>Limitation/Future work</a:t>
                      </a:r>
                    </a:p>
                  </a:txBody>
                  <a:tcPr>
                    <a:solidFill>
                      <a:srgbClr val="FFFF00"/>
                    </a:solidFill>
                  </a:tcPr>
                </a:tc>
                <a:extLst>
                  <a:ext uri="{0D108BD9-81ED-4DB2-BD59-A6C34878D82A}">
                    <a16:rowId xmlns:a16="http://schemas.microsoft.com/office/drawing/2014/main" val="10000"/>
                  </a:ext>
                </a:extLst>
              </a:tr>
              <a:tr h="1541937">
                <a:tc>
                  <a:txBody>
                    <a:bodyPr/>
                    <a:lstStyle/>
                    <a:p>
                      <a:pPr marL="0" algn="l" defTabSz="914400" rtl="0" eaLnBrk="1" latinLnBrk="0" hangingPunct="1"/>
                      <a:r>
                        <a:rPr lang="en-IN" sz="1400" dirty="0">
                          <a:solidFill>
                            <a:srgbClr val="FF0000"/>
                          </a:solidFill>
                        </a:rPr>
                        <a:t>Qiao et al. [1]</a:t>
                      </a:r>
                      <a:endParaRPr lang="en-IN" sz="1400" b="0" i="0" u="none" kern="1200" dirty="0">
                        <a:solidFill>
                          <a:srgbClr val="FF0000"/>
                        </a:solidFill>
                        <a:effectLst/>
                        <a:latin typeface="Times New Roman" panose="02020603050405020304" pitchFamily="18" charset="0"/>
                        <a:ea typeface="+mn-ea"/>
                        <a:cs typeface="Times New Roman" panose="02020603050405020304" pitchFamily="18" charset="0"/>
                      </a:endParaRPr>
                    </a:p>
                  </a:txBody>
                  <a:tcPr/>
                </a:tc>
                <a:tc>
                  <a:txBody>
                    <a:bodyPr/>
                    <a:lstStyle/>
                    <a:p>
                      <a:pPr>
                        <a:buNone/>
                      </a:pPr>
                      <a:r>
                        <a:rPr lang="en-IN" sz="1400" b="1" dirty="0">
                          <a:solidFill>
                            <a:srgbClr val="FF0000"/>
                          </a:solidFill>
                          <a:latin typeface="Times New Roman" panose="02020603050405020304" pitchFamily="18" charset="0"/>
                          <a:cs typeface="Times New Roman" panose="02020603050405020304" pitchFamily="18" charset="0"/>
                        </a:rPr>
                        <a:t>Event Recommendation in Event-Based Social Networks</a:t>
                      </a:r>
                      <a:r>
                        <a:rPr lang="en-IN" sz="1400" dirty="0">
                          <a:solidFill>
                            <a:srgbClr val="FF0000"/>
                          </a:solidFill>
                          <a:latin typeface="Times New Roman" panose="02020603050405020304" pitchFamily="18" charset="0"/>
                          <a:cs typeface="Times New Roman" panose="02020603050405020304" pitchFamily="18" charset="0"/>
                        </a:rPr>
                        <a:t>, AAAI, 2014</a:t>
                      </a:r>
                    </a:p>
                  </a:txBody>
                  <a:tcPr/>
                </a:tc>
                <a:tc>
                  <a:txBody>
                    <a:bodyPr/>
                    <a:lstStyle/>
                    <a:p>
                      <a:pPr marL="0" marR="0" indent="0" algn="just" defTabSz="914400" rtl="0" eaLnBrk="1" latinLnBrk="0" hangingPunct="1">
                        <a:lnSpc>
                          <a:spcPct val="100000"/>
                        </a:lnSpc>
                        <a:spcBef>
                          <a:spcPts val="0"/>
                        </a:spcBef>
                        <a:spcAft>
                          <a:spcPts val="0"/>
                        </a:spcAft>
                        <a:buClr>
                          <a:srgbClr val="000000"/>
                        </a:buClr>
                        <a:buFont typeface="Arial" panose="020B0604020202020204" pitchFamily="34" charset="0"/>
                        <a:buNone/>
                      </a:pPr>
                      <a:r>
                        <a:rPr lang="en-IN" sz="1400" dirty="0">
                          <a:solidFill>
                            <a:srgbClr val="FF0000"/>
                          </a:solidFill>
                          <a:latin typeface="Times New Roman" panose="02020603050405020304" pitchFamily="18" charset="0"/>
                          <a:cs typeface="Times New Roman" panose="02020603050405020304" pitchFamily="18" charset="0"/>
                        </a:rPr>
                        <a:t>•Bayesian probabilistic model</a:t>
                      </a:r>
                      <a:br>
                        <a:rPr lang="en-IN" sz="1400" dirty="0">
                          <a:solidFill>
                            <a:srgbClr val="FF0000"/>
                          </a:solidFill>
                          <a:latin typeface="Times New Roman" panose="02020603050405020304" pitchFamily="18" charset="0"/>
                          <a:cs typeface="Times New Roman" panose="02020603050405020304" pitchFamily="18" charset="0"/>
                        </a:rPr>
                      </a:br>
                      <a:r>
                        <a:rPr lang="en-IN" sz="1400" dirty="0">
                          <a:solidFill>
                            <a:srgbClr val="FF0000"/>
                          </a:solidFill>
                          <a:latin typeface="Times New Roman" panose="02020603050405020304" pitchFamily="18" charset="0"/>
                          <a:cs typeface="Times New Roman" panose="02020603050405020304" pitchFamily="18" charset="0"/>
                        </a:rPr>
                        <a:t>•Heterogeneous social relationships</a:t>
                      </a:r>
                      <a:br>
                        <a:rPr lang="en-IN" sz="1400" dirty="0">
                          <a:solidFill>
                            <a:srgbClr val="FF0000"/>
                          </a:solidFill>
                          <a:latin typeface="Times New Roman" panose="02020603050405020304" pitchFamily="18" charset="0"/>
                          <a:cs typeface="Times New Roman" panose="02020603050405020304" pitchFamily="18" charset="0"/>
                        </a:rPr>
                      </a:br>
                      <a:r>
                        <a:rPr lang="en-IN" sz="1400" dirty="0">
                          <a:solidFill>
                            <a:srgbClr val="FF0000"/>
                          </a:solidFill>
                          <a:latin typeface="Times New Roman" panose="02020603050405020304" pitchFamily="18" charset="0"/>
                          <a:cs typeface="Times New Roman" panose="02020603050405020304" pitchFamily="18" charset="0"/>
                        </a:rPr>
                        <a:t>• Implicit user feedback</a:t>
                      </a:r>
                      <a:endParaRPr lang="en-US" sz="1400" b="0" i="0"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0" marR="0" indent="0" algn="just" defTabSz="914400" rtl="0" eaLnBrk="1" latinLnBrk="0" hangingPunct="1">
                        <a:lnSpc>
                          <a:spcPct val="100000"/>
                        </a:lnSpc>
                        <a:spcBef>
                          <a:spcPts val="0"/>
                        </a:spcBef>
                        <a:spcAft>
                          <a:spcPts val="0"/>
                        </a:spcAft>
                        <a:buClr>
                          <a:srgbClr val="000000"/>
                        </a:buClr>
                        <a:buFont typeface="Arial" panose="020B0604020202020204" pitchFamily="34" charset="0"/>
                        <a:buNone/>
                      </a:pPr>
                      <a:r>
                        <a:rPr lang="en-IN" sz="1400" dirty="0">
                          <a:solidFill>
                            <a:srgbClr val="FF0000"/>
                          </a:solidFill>
                          <a:latin typeface="Times New Roman" panose="02020603050405020304" pitchFamily="18" charset="0"/>
                          <a:cs typeface="Times New Roman" panose="02020603050405020304" pitchFamily="18" charset="0"/>
                        </a:rPr>
                        <a:t>• Recommends events using social relationships and user feedback.</a:t>
                      </a:r>
                      <a:br>
                        <a:rPr lang="en-IN" sz="1400" dirty="0">
                          <a:solidFill>
                            <a:srgbClr val="FF0000"/>
                          </a:solidFill>
                          <a:latin typeface="Times New Roman" panose="02020603050405020304" pitchFamily="18" charset="0"/>
                          <a:cs typeface="Times New Roman" panose="02020603050405020304" pitchFamily="18" charset="0"/>
                        </a:rPr>
                      </a:br>
                      <a:r>
                        <a:rPr lang="en-IN" sz="1400" dirty="0">
                          <a:solidFill>
                            <a:srgbClr val="FF0000"/>
                          </a:solidFill>
                          <a:latin typeface="Times New Roman" panose="02020603050405020304" pitchFamily="18" charset="0"/>
                          <a:cs typeface="Times New Roman" panose="02020603050405020304" pitchFamily="18" charset="0"/>
                        </a:rPr>
                        <a:t>• Demonstrates the usefulness of heterogeneous social information for event recommendation.</a:t>
                      </a:r>
                      <a:endParaRPr lang="en-US" sz="1400" b="0" i="0"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0" indent="0" algn="l" defTabSz="914400" rtl="0" eaLnBrk="1" latinLnBrk="0" hangingPunct="1">
                        <a:buFont typeface="Arial" panose="020B0604020202020204" pitchFamily="34" charset="0"/>
                        <a:buNone/>
                      </a:pPr>
                      <a:r>
                        <a:rPr lang="en-IN" sz="1400" dirty="0">
                          <a:solidFill>
                            <a:srgbClr val="FF0000"/>
                          </a:solidFill>
                          <a:latin typeface="Times New Roman" panose="02020603050405020304" pitchFamily="18" charset="0"/>
                          <a:cs typeface="Times New Roman" panose="02020603050405020304" pitchFamily="18" charset="0"/>
                        </a:rPr>
                        <a:t>• Focuses mainly on social-network event recommendation.</a:t>
                      </a:r>
                      <a:br>
                        <a:rPr lang="en-IN" sz="1400" dirty="0">
                          <a:solidFill>
                            <a:srgbClr val="FF0000"/>
                          </a:solidFill>
                          <a:latin typeface="Times New Roman" panose="02020603050405020304" pitchFamily="18" charset="0"/>
                          <a:cs typeface="Times New Roman" panose="02020603050405020304" pitchFamily="18" charset="0"/>
                        </a:rPr>
                      </a:br>
                      <a:r>
                        <a:rPr lang="en-IN" sz="1400" dirty="0">
                          <a:solidFill>
                            <a:srgbClr val="FF0000"/>
                          </a:solidFill>
                          <a:latin typeface="Times New Roman" panose="02020603050405020304" pitchFamily="18" charset="0"/>
                          <a:cs typeface="Times New Roman" panose="02020603050405020304" pitchFamily="18" charset="0"/>
                        </a:rPr>
                        <a:t>• Campus-specific event management and student engagement are not addressed.</a:t>
                      </a:r>
                      <a:endParaRPr lang="en-US" sz="1400" b="0" i="0" u="none"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3714155954"/>
                  </a:ext>
                </a:extLst>
              </a:tr>
              <a:tr h="1354600">
                <a:tc>
                  <a:txBody>
                    <a:bodyPr/>
                    <a:lstStyle/>
                    <a:p>
                      <a:pPr marL="0" algn="l" defTabSz="914400" rtl="0" eaLnBrk="1" latinLnBrk="0" hangingPunct="1"/>
                      <a:r>
                        <a:rPr lang="en-IN" sz="1400" dirty="0">
                          <a:solidFill>
                            <a:srgbClr val="FF0000"/>
                          </a:solidFill>
                          <a:latin typeface="Times New Roman" panose="02020603050405020304" pitchFamily="18" charset="0"/>
                          <a:cs typeface="Times New Roman" panose="02020603050405020304" pitchFamily="18" charset="0"/>
                        </a:rPr>
                        <a:t>Liu et al. [2]</a:t>
                      </a:r>
                      <a:endParaRPr lang="en-IN" sz="1400" b="0" i="0" u="none" kern="1200" dirty="0">
                        <a:solidFill>
                          <a:srgbClr val="FF0000"/>
                        </a:solidFill>
                        <a:effectLst/>
                        <a:latin typeface="Times New Roman" panose="02020603050405020304" pitchFamily="18" charset="0"/>
                        <a:ea typeface="+mn-ea"/>
                        <a:cs typeface="Times New Roman" panose="02020603050405020304" pitchFamily="18" charset="0"/>
                      </a:endParaRPr>
                    </a:p>
                  </a:txBody>
                  <a:tcPr/>
                </a:tc>
                <a:tc>
                  <a:txBody>
                    <a:bodyPr/>
                    <a:lstStyle/>
                    <a:p>
                      <a:r>
                        <a:rPr lang="en-IN" sz="1400" b="1" dirty="0">
                          <a:solidFill>
                            <a:srgbClr val="FF0000"/>
                          </a:solidFill>
                          <a:latin typeface="Times New Roman" panose="02020603050405020304" pitchFamily="18" charset="0"/>
                          <a:cs typeface="Times New Roman" panose="02020603050405020304" pitchFamily="18" charset="0"/>
                        </a:rPr>
                        <a:t>Combining Heterogeneous Social and Geographical Information for Event Recommendation</a:t>
                      </a:r>
                      <a:r>
                        <a:rPr lang="en-IN" sz="1400" dirty="0">
                          <a:solidFill>
                            <a:srgbClr val="FF0000"/>
                          </a:solidFill>
                          <a:latin typeface="Times New Roman" panose="02020603050405020304" pitchFamily="18" charset="0"/>
                          <a:cs typeface="Times New Roman" panose="02020603050405020304" pitchFamily="18" charset="0"/>
                        </a:rPr>
                        <a:t>, AAAI, 2014</a:t>
                      </a:r>
                      <a:endParaRPr lang="en-IN" sz="1400" b="1" i="0" u="none" kern="1200" dirty="0">
                        <a:solidFill>
                          <a:srgbClr val="FF0000"/>
                        </a:solidFill>
                        <a:effectLst/>
                        <a:latin typeface="Times New Roman" panose="02020603050405020304" pitchFamily="18" charset="0"/>
                        <a:ea typeface="+mn-ea"/>
                        <a:cs typeface="Times New Roman" panose="02020603050405020304" pitchFamily="18" charset="0"/>
                      </a:endParaRPr>
                    </a:p>
                  </a:txBody>
                  <a:tcPr/>
                </a:tc>
                <a:tc>
                  <a:txBody>
                    <a:bodyPr/>
                    <a:lstStyle/>
                    <a:p>
                      <a:pPr marL="0" marR="0" indent="0" algn="l" defTabSz="914400" rtl="0" eaLnBrk="1" latinLnBrk="0" hangingPunct="1">
                        <a:lnSpc>
                          <a:spcPct val="100000"/>
                        </a:lnSpc>
                        <a:spcBef>
                          <a:spcPts val="0"/>
                        </a:spcBef>
                        <a:spcAft>
                          <a:spcPts val="0"/>
                        </a:spcAft>
                        <a:buClr>
                          <a:srgbClr val="000000"/>
                        </a:buClr>
                        <a:buFont typeface="Arial" panose="020B0604020202020204" pitchFamily="34" charset="0"/>
                        <a:buNone/>
                      </a:pPr>
                      <a:r>
                        <a:rPr lang="en-IN" sz="1400" dirty="0">
                          <a:solidFill>
                            <a:srgbClr val="FF0000"/>
                          </a:solidFill>
                          <a:latin typeface="Times New Roman" panose="02020603050405020304" pitchFamily="18" charset="0"/>
                          <a:cs typeface="Times New Roman" panose="02020603050405020304" pitchFamily="18" charset="0"/>
                        </a:rPr>
                        <a:t>• Social relationship </a:t>
                      </a:r>
                      <a:r>
                        <a:rPr lang="en-IN" sz="1400" dirty="0" err="1">
                          <a:solidFill>
                            <a:srgbClr val="FF0000"/>
                          </a:solidFill>
                          <a:latin typeface="Times New Roman" panose="02020603050405020304" pitchFamily="18" charset="0"/>
                          <a:cs typeface="Times New Roman" panose="02020603050405020304" pitchFamily="18" charset="0"/>
                        </a:rPr>
                        <a:t>modeling</a:t>
                      </a:r>
                      <a:br>
                        <a:rPr lang="en-IN" sz="1400" dirty="0">
                          <a:solidFill>
                            <a:srgbClr val="FF0000"/>
                          </a:solidFill>
                          <a:latin typeface="Times New Roman" panose="02020603050405020304" pitchFamily="18" charset="0"/>
                          <a:cs typeface="Times New Roman" panose="02020603050405020304" pitchFamily="18" charset="0"/>
                        </a:rPr>
                      </a:br>
                      <a:r>
                        <a:rPr lang="en-IN" sz="1400" dirty="0">
                          <a:solidFill>
                            <a:srgbClr val="FF0000"/>
                          </a:solidFill>
                          <a:latin typeface="Times New Roman" panose="02020603050405020304" pitchFamily="18" charset="0"/>
                          <a:cs typeface="Times New Roman" panose="02020603050405020304" pitchFamily="18" charset="0"/>
                        </a:rPr>
                        <a:t>• Geographical information</a:t>
                      </a:r>
                      <a:br>
                        <a:rPr lang="en-IN" sz="1400" dirty="0">
                          <a:solidFill>
                            <a:srgbClr val="FF0000"/>
                          </a:solidFill>
                          <a:latin typeface="Times New Roman" panose="02020603050405020304" pitchFamily="18" charset="0"/>
                          <a:cs typeface="Times New Roman" panose="02020603050405020304" pitchFamily="18" charset="0"/>
                        </a:rPr>
                      </a:br>
                      <a:r>
                        <a:rPr lang="en-IN" sz="1400" dirty="0">
                          <a:solidFill>
                            <a:srgbClr val="FF0000"/>
                          </a:solidFill>
                          <a:latin typeface="Times New Roman" panose="02020603050405020304" pitchFamily="18" charset="0"/>
                          <a:cs typeface="Times New Roman" panose="02020603050405020304" pitchFamily="18" charset="0"/>
                        </a:rPr>
                        <a:t>• Implicit feedback</a:t>
                      </a:r>
                      <a:endParaRPr lang="en-US" sz="1400" b="0" i="0" u="none"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0" marR="0" indent="0" algn="l" defTabSz="914400" rtl="0" eaLnBrk="1" latinLnBrk="0" hangingPunct="1">
                        <a:lnSpc>
                          <a:spcPct val="100000"/>
                        </a:lnSpc>
                        <a:spcBef>
                          <a:spcPts val="0"/>
                        </a:spcBef>
                        <a:spcAft>
                          <a:spcPts val="0"/>
                        </a:spcAft>
                        <a:buClr>
                          <a:srgbClr val="000000"/>
                        </a:buClr>
                        <a:buFont typeface="Arial" panose="020B0604020202020204" pitchFamily="34" charset="0"/>
                        <a:buNone/>
                      </a:pPr>
                      <a:r>
                        <a:rPr lang="en-IN" sz="1400" dirty="0">
                          <a:solidFill>
                            <a:srgbClr val="FF0000"/>
                          </a:solidFill>
                          <a:latin typeface="Times New Roman" panose="02020603050405020304" pitchFamily="18" charset="0"/>
                          <a:cs typeface="Times New Roman" panose="02020603050405020304" pitchFamily="18" charset="0"/>
                        </a:rPr>
                        <a:t>• Combines social and geographical factors to improve event recommendation.</a:t>
                      </a:r>
                      <a:br>
                        <a:rPr lang="en-IN" sz="1400" dirty="0">
                          <a:solidFill>
                            <a:srgbClr val="FF0000"/>
                          </a:solidFill>
                          <a:latin typeface="Times New Roman" panose="02020603050405020304" pitchFamily="18" charset="0"/>
                          <a:cs typeface="Times New Roman" panose="02020603050405020304" pitchFamily="18" charset="0"/>
                        </a:rPr>
                      </a:br>
                      <a:r>
                        <a:rPr lang="en-IN" sz="1400" dirty="0">
                          <a:solidFill>
                            <a:srgbClr val="FF0000"/>
                          </a:solidFill>
                          <a:latin typeface="Times New Roman" panose="02020603050405020304" pitchFamily="18" charset="0"/>
                          <a:cs typeface="Times New Roman" panose="02020603050405020304" pitchFamily="18" charset="0"/>
                        </a:rPr>
                        <a:t>• Shows that contextual information can improve recommendation relevance.</a:t>
                      </a:r>
                      <a:endParaRPr lang="en-US" sz="1400" b="0" i="0" u="none"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0" indent="0" algn="l" defTabSz="914400" rtl="0" eaLnBrk="1" latinLnBrk="0" hangingPunct="1">
                        <a:buFont typeface="Arial" panose="020B0604020202020204" pitchFamily="34" charset="0"/>
                        <a:buNone/>
                      </a:pPr>
                      <a:r>
                        <a:rPr lang="en-IN" sz="1400" dirty="0">
                          <a:solidFill>
                            <a:srgbClr val="FF0000"/>
                          </a:solidFill>
                          <a:latin typeface="Times New Roman" panose="02020603050405020304" pitchFamily="18" charset="0"/>
                          <a:cs typeface="Times New Roman" panose="02020603050405020304" pitchFamily="18" charset="0"/>
                        </a:rPr>
                        <a:t>• Geographical and social factors may not fully represent individual campus preferences.</a:t>
                      </a:r>
                      <a:br>
                        <a:rPr lang="en-IN" sz="1400" dirty="0">
                          <a:solidFill>
                            <a:srgbClr val="FF0000"/>
                          </a:solidFill>
                          <a:latin typeface="Times New Roman" panose="02020603050405020304" pitchFamily="18" charset="0"/>
                          <a:cs typeface="Times New Roman" panose="02020603050405020304" pitchFamily="18" charset="0"/>
                        </a:rPr>
                      </a:br>
                      <a:r>
                        <a:rPr lang="en-IN" sz="1400" dirty="0">
                          <a:solidFill>
                            <a:srgbClr val="FF0000"/>
                          </a:solidFill>
                          <a:latin typeface="Times New Roman" panose="02020603050405020304" pitchFamily="18" charset="0"/>
                          <a:cs typeface="Times New Roman" panose="02020603050405020304" pitchFamily="18" charset="0"/>
                        </a:rPr>
                        <a:t>• Does not provide an integrated campus event-management platform</a:t>
                      </a:r>
                      <a:endParaRPr lang="en-US" sz="1400" b="0" i="0" u="none"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2655426370"/>
                  </a:ext>
                </a:extLst>
              </a:tr>
              <a:tr h="1354600">
                <a:tc>
                  <a:txBody>
                    <a:bodyPr/>
                    <a:lstStyle/>
                    <a:p>
                      <a:pPr marL="0" algn="l" defTabSz="914400" rtl="0" eaLnBrk="1" latinLnBrk="0" hangingPunct="1"/>
                      <a:r>
                        <a:rPr lang="en-IN" sz="1400" dirty="0">
                          <a:solidFill>
                            <a:srgbClr val="FF0000"/>
                          </a:solidFill>
                          <a:latin typeface="Times New Roman" panose="02020603050405020304" pitchFamily="18" charset="0"/>
                          <a:cs typeface="Times New Roman" panose="02020603050405020304" pitchFamily="18" charset="0"/>
                        </a:rPr>
                        <a:t>Macedo et al. [3]</a:t>
                      </a:r>
                      <a:endParaRPr lang="en-IN" sz="1400" b="1" i="0" u="none" kern="1200" dirty="0">
                        <a:solidFill>
                          <a:srgbClr val="FF0000"/>
                        </a:solidFill>
                        <a:effectLst/>
                        <a:latin typeface="Times New Roman" panose="02020603050405020304" pitchFamily="18" charset="0"/>
                        <a:ea typeface="+mn-ea"/>
                        <a:cs typeface="Times New Roman" panose="02020603050405020304" pitchFamily="18" charset="0"/>
                      </a:endParaRPr>
                    </a:p>
                  </a:txBody>
                  <a:tcPr/>
                </a:tc>
                <a:tc>
                  <a:txBody>
                    <a:bodyPr/>
                    <a:lstStyle/>
                    <a:p>
                      <a:r>
                        <a:rPr lang="en-IN" sz="1400" b="1" dirty="0">
                          <a:solidFill>
                            <a:srgbClr val="FF0000"/>
                          </a:solidFill>
                          <a:latin typeface="Times New Roman" panose="02020603050405020304" pitchFamily="18" charset="0"/>
                          <a:cs typeface="Times New Roman" panose="02020603050405020304" pitchFamily="18" charset="0"/>
                        </a:rPr>
                        <a:t>Context-Aware Event Recommendation in Event-Based Social Networks</a:t>
                      </a:r>
                      <a:r>
                        <a:rPr lang="en-IN" sz="1400" dirty="0">
                          <a:solidFill>
                            <a:srgbClr val="FF0000"/>
                          </a:solidFill>
                          <a:latin typeface="Times New Roman" panose="02020603050405020304" pitchFamily="18" charset="0"/>
                          <a:cs typeface="Times New Roman" panose="02020603050405020304" pitchFamily="18" charset="0"/>
                        </a:rPr>
                        <a:t>, ACM </a:t>
                      </a:r>
                      <a:r>
                        <a:rPr lang="en-IN" sz="1400" dirty="0" err="1">
                          <a:solidFill>
                            <a:srgbClr val="FF0000"/>
                          </a:solidFill>
                          <a:latin typeface="Times New Roman" panose="02020603050405020304" pitchFamily="18" charset="0"/>
                          <a:cs typeface="Times New Roman" panose="02020603050405020304" pitchFamily="18" charset="0"/>
                        </a:rPr>
                        <a:t>RecSys</a:t>
                      </a:r>
                      <a:r>
                        <a:rPr lang="en-IN" sz="1400" dirty="0">
                          <a:solidFill>
                            <a:srgbClr val="FF0000"/>
                          </a:solidFill>
                          <a:latin typeface="Times New Roman" panose="02020603050405020304" pitchFamily="18" charset="0"/>
                          <a:cs typeface="Times New Roman" panose="02020603050405020304" pitchFamily="18" charset="0"/>
                        </a:rPr>
                        <a:t>, 2015</a:t>
                      </a:r>
                      <a:endParaRPr lang="en-IN" sz="1400" b="1" i="0" u="none" kern="1200" dirty="0">
                        <a:solidFill>
                          <a:srgbClr val="FF0000"/>
                        </a:solidFill>
                        <a:effectLst/>
                        <a:latin typeface="Times New Roman" panose="02020603050405020304" pitchFamily="18" charset="0"/>
                        <a:ea typeface="+mn-ea"/>
                        <a:cs typeface="Times New Roman" panose="02020603050405020304" pitchFamily="18" charset="0"/>
                      </a:endParaRPr>
                    </a:p>
                  </a:txBody>
                  <a:tcPr/>
                </a:tc>
                <a:tc>
                  <a:txBody>
                    <a:bodyPr/>
                    <a:lstStyle/>
                    <a:p>
                      <a:pPr marL="0" marR="0" indent="0" algn="l" defTabSz="914400" rtl="0" eaLnBrk="1" latinLnBrk="0" hangingPunct="1">
                        <a:lnSpc>
                          <a:spcPct val="100000"/>
                        </a:lnSpc>
                        <a:spcBef>
                          <a:spcPts val="0"/>
                        </a:spcBef>
                        <a:spcAft>
                          <a:spcPts val="0"/>
                        </a:spcAft>
                        <a:buClr>
                          <a:srgbClr val="000000"/>
                        </a:buClr>
                        <a:buFont typeface="Arial" panose="020B0604020202020204" pitchFamily="34" charset="0"/>
                        <a:buNone/>
                      </a:pPr>
                      <a:r>
                        <a:rPr lang="en-IN" sz="1400" dirty="0">
                          <a:solidFill>
                            <a:srgbClr val="FF0000"/>
                          </a:solidFill>
                          <a:latin typeface="Times New Roman" panose="02020603050405020304" pitchFamily="18" charset="0"/>
                          <a:cs typeface="Times New Roman" panose="02020603050405020304" pitchFamily="18" charset="0"/>
                        </a:rPr>
                        <a:t>• Context-aware recommendation</a:t>
                      </a:r>
                      <a:br>
                        <a:rPr lang="en-IN" sz="1400" dirty="0">
                          <a:solidFill>
                            <a:srgbClr val="FF0000"/>
                          </a:solidFill>
                          <a:latin typeface="Times New Roman" panose="02020603050405020304" pitchFamily="18" charset="0"/>
                          <a:cs typeface="Times New Roman" panose="02020603050405020304" pitchFamily="18" charset="0"/>
                        </a:rPr>
                      </a:br>
                      <a:r>
                        <a:rPr lang="en-IN" sz="1400" dirty="0">
                          <a:solidFill>
                            <a:srgbClr val="FF0000"/>
                          </a:solidFill>
                          <a:latin typeface="Times New Roman" panose="02020603050405020304" pitchFamily="18" charset="0"/>
                          <a:cs typeface="Times New Roman" panose="02020603050405020304" pitchFamily="18" charset="0"/>
                        </a:rPr>
                        <a:t>• User preferences</a:t>
                      </a:r>
                      <a:br>
                        <a:rPr lang="en-IN" sz="1400" dirty="0">
                          <a:solidFill>
                            <a:srgbClr val="FF0000"/>
                          </a:solidFill>
                          <a:latin typeface="Times New Roman" panose="02020603050405020304" pitchFamily="18" charset="0"/>
                          <a:cs typeface="Times New Roman" panose="02020603050405020304" pitchFamily="18" charset="0"/>
                        </a:rPr>
                      </a:br>
                      <a:r>
                        <a:rPr lang="en-IN" sz="1400" dirty="0">
                          <a:solidFill>
                            <a:srgbClr val="FF0000"/>
                          </a:solidFill>
                          <a:latin typeface="Times New Roman" panose="02020603050405020304" pitchFamily="18" charset="0"/>
                          <a:cs typeface="Times New Roman" panose="02020603050405020304" pitchFamily="18" charset="0"/>
                        </a:rPr>
                        <a:t>• Event context</a:t>
                      </a:r>
                      <a:br>
                        <a:rPr lang="en-IN" sz="1400" dirty="0">
                          <a:solidFill>
                            <a:srgbClr val="FF0000"/>
                          </a:solidFill>
                          <a:latin typeface="Times New Roman" panose="02020603050405020304" pitchFamily="18" charset="0"/>
                          <a:cs typeface="Times New Roman" panose="02020603050405020304" pitchFamily="18" charset="0"/>
                        </a:rPr>
                      </a:br>
                      <a:r>
                        <a:rPr lang="en-IN" sz="1400" dirty="0">
                          <a:solidFill>
                            <a:srgbClr val="FF0000"/>
                          </a:solidFill>
                          <a:latin typeface="Times New Roman" panose="02020603050405020304" pitchFamily="18" charset="0"/>
                          <a:cs typeface="Times New Roman" panose="02020603050405020304" pitchFamily="18" charset="0"/>
                        </a:rPr>
                        <a:t>• Cold-start handling</a:t>
                      </a:r>
                      <a:endParaRPr lang="en-US" sz="1400" b="0" u="none" kern="1200" dirty="0">
                        <a:solidFill>
                          <a:srgbClr val="FF0000"/>
                        </a:solidFill>
                        <a:effectLst/>
                        <a:latin typeface="Times New Roman" panose="02020603050405020304" pitchFamily="18" charset="0"/>
                        <a:cs typeface="Times New Roman" panose="02020603050405020304" pitchFamily="18" charset="0"/>
                      </a:endParaRPr>
                    </a:p>
                  </a:txBody>
                  <a:tcPr/>
                </a:tc>
                <a:tc>
                  <a:txBody>
                    <a:bodyPr/>
                    <a:lstStyle/>
                    <a:p>
                      <a:pPr marL="0" marR="0" indent="0" algn="l" defTabSz="914400" rtl="0" eaLnBrk="1" latinLnBrk="0" hangingPunct="1">
                        <a:lnSpc>
                          <a:spcPct val="100000"/>
                        </a:lnSpc>
                        <a:spcBef>
                          <a:spcPts val="0"/>
                        </a:spcBef>
                        <a:spcAft>
                          <a:spcPts val="0"/>
                        </a:spcAft>
                        <a:buClr>
                          <a:srgbClr val="000000"/>
                        </a:buClr>
                        <a:buFont typeface="Arial" panose="020B0604020202020204" pitchFamily="34" charset="0"/>
                        <a:buNone/>
                      </a:pPr>
                      <a:r>
                        <a:rPr lang="en-IN" sz="1400" dirty="0">
                          <a:solidFill>
                            <a:srgbClr val="FF0000"/>
                          </a:solidFill>
                          <a:latin typeface="Times New Roman" panose="02020603050405020304" pitchFamily="18" charset="0"/>
                          <a:cs typeface="Times New Roman" panose="02020603050405020304" pitchFamily="18" charset="0"/>
                        </a:rPr>
                        <a:t>• Uses contextual information to improve event recommendations.</a:t>
                      </a:r>
                      <a:br>
                        <a:rPr lang="en-IN" sz="1400" dirty="0">
                          <a:solidFill>
                            <a:srgbClr val="FF0000"/>
                          </a:solidFill>
                          <a:latin typeface="Times New Roman" panose="02020603050405020304" pitchFamily="18" charset="0"/>
                          <a:cs typeface="Times New Roman" panose="02020603050405020304" pitchFamily="18" charset="0"/>
                        </a:rPr>
                      </a:br>
                      <a:r>
                        <a:rPr lang="en-IN" sz="1400" dirty="0">
                          <a:solidFill>
                            <a:srgbClr val="FF0000"/>
                          </a:solidFill>
                          <a:latin typeface="Times New Roman" panose="02020603050405020304" pitchFamily="18" charset="0"/>
                          <a:cs typeface="Times New Roman" panose="02020603050405020304" pitchFamily="18" charset="0"/>
                        </a:rPr>
                        <a:t>• Addresses the difficulty of recommending newly created events with limited interaction history.</a:t>
                      </a:r>
                      <a:endParaRPr lang="en-US" sz="1400" b="0" i="0" u="none"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0" indent="0" algn="l" defTabSz="914400" rtl="0" eaLnBrk="1" latinLnBrk="0" hangingPunct="1">
                        <a:buFont typeface="Arial" panose="020B0604020202020204" pitchFamily="34" charset="0"/>
                        <a:buNone/>
                      </a:pPr>
                      <a:r>
                        <a:rPr lang="en-IN" sz="1400" dirty="0">
                          <a:solidFill>
                            <a:srgbClr val="FF0000"/>
                          </a:solidFill>
                          <a:latin typeface="Times New Roman" panose="02020603050405020304" pitchFamily="18" charset="0"/>
                          <a:cs typeface="Times New Roman" panose="02020603050405020304" pitchFamily="18" charset="0"/>
                        </a:rPr>
                        <a:t>• Designed for general event-based social networks.</a:t>
                      </a:r>
                      <a:br>
                        <a:rPr lang="en-IN" sz="1400" dirty="0">
                          <a:solidFill>
                            <a:srgbClr val="FF0000"/>
                          </a:solidFill>
                          <a:latin typeface="Times New Roman" panose="02020603050405020304" pitchFamily="18" charset="0"/>
                          <a:cs typeface="Times New Roman" panose="02020603050405020304" pitchFamily="18" charset="0"/>
                        </a:rPr>
                      </a:br>
                      <a:r>
                        <a:rPr lang="en-IN" sz="1400" dirty="0">
                          <a:solidFill>
                            <a:srgbClr val="FF0000"/>
                          </a:solidFill>
                          <a:latin typeface="Times New Roman" panose="02020603050405020304" pitchFamily="18" charset="0"/>
                          <a:cs typeface="Times New Roman" panose="02020603050405020304" pitchFamily="18" charset="0"/>
                        </a:rPr>
                        <a:t>• Institutional event administration and participation tracking are outside the scope.</a:t>
                      </a:r>
                      <a:endParaRPr lang="en-US" sz="1400" b="1" i="0" u="none"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2841575018"/>
                  </a:ext>
                </a:extLst>
              </a:tr>
            </a:tbl>
          </a:graphicData>
        </a:graphic>
      </p:graphicFrame>
      <p:sp>
        <p:nvSpPr>
          <p:cNvPr id="2" name="TextBox 1">
            <a:extLst>
              <a:ext uri="{FF2B5EF4-FFF2-40B4-BE49-F238E27FC236}">
                <a16:creationId xmlns:a16="http://schemas.microsoft.com/office/drawing/2014/main" id="{C48F0022-391A-4CFC-2851-87E76B37EAC2}"/>
              </a:ext>
            </a:extLst>
          </p:cNvPr>
          <p:cNvSpPr txBox="1"/>
          <p:nvPr/>
        </p:nvSpPr>
        <p:spPr>
          <a:xfrm>
            <a:off x="4560565" y="136525"/>
            <a:ext cx="3070868" cy="523220"/>
          </a:xfrm>
          <a:prstGeom prst="rect">
            <a:avLst/>
          </a:prstGeom>
          <a:noFill/>
        </p:spPr>
        <p:txBody>
          <a:bodyPr wrap="square" rtlCol="0">
            <a:spAutoFit/>
          </a:bodyPr>
          <a:lstStyle/>
          <a:p>
            <a:pPr algn="ctr"/>
            <a:r>
              <a:rPr lang="en-IN" sz="2800" b="1" dirty="0">
                <a:solidFill>
                  <a:srgbClr val="0064C8"/>
                </a:solidFill>
                <a:latin typeface="Times New Roman" panose="02020603050405020304" pitchFamily="18" charset="0"/>
                <a:ea typeface="Cambria"/>
                <a:cs typeface="Times New Roman" panose="02020603050405020304" pitchFamily="18" charset="0"/>
              </a:rPr>
              <a:t>Literature Survey</a:t>
            </a:r>
            <a:endParaRPr lang="en-IN" sz="2800" b="1" dirty="0">
              <a:latin typeface="Times New Roman" panose="02020603050405020304" pitchFamily="18" charset="0"/>
              <a:cs typeface="Times New Roman" panose="02020603050405020304" pitchFamily="18" charset="0"/>
            </a:endParaRPr>
          </a:p>
        </p:txBody>
      </p:sp>
      <p:sp>
        <p:nvSpPr>
          <p:cNvPr id="8" name="Date Placeholder 7">
            <a:extLst>
              <a:ext uri="{FF2B5EF4-FFF2-40B4-BE49-F238E27FC236}">
                <a16:creationId xmlns:a16="http://schemas.microsoft.com/office/drawing/2014/main" id="{A0FDE360-66C4-26CA-5DB9-8E99C2685BE0}"/>
              </a:ext>
            </a:extLst>
          </p:cNvPr>
          <p:cNvSpPr>
            <a:spLocks noGrp="1"/>
          </p:cNvSpPr>
          <p:nvPr>
            <p:ph type="dt" sz="half" idx="10"/>
          </p:nvPr>
        </p:nvSpPr>
        <p:spPr/>
        <p:txBody>
          <a:bodyPr/>
          <a:lstStyle/>
          <a:p>
            <a:endParaRPr lang="en-IN" dirty="0"/>
          </a:p>
        </p:txBody>
      </p:sp>
      <p:sp>
        <p:nvSpPr>
          <p:cNvPr id="9" name="Footer Placeholder 8">
            <a:extLst>
              <a:ext uri="{FF2B5EF4-FFF2-40B4-BE49-F238E27FC236}">
                <a16:creationId xmlns:a16="http://schemas.microsoft.com/office/drawing/2014/main" id="{0F095753-622E-2BA7-9495-60F9B6E57FDB}"/>
              </a:ext>
            </a:extLst>
          </p:cNvPr>
          <p:cNvSpPr>
            <a:spLocks noGrp="1"/>
          </p:cNvSpPr>
          <p:nvPr>
            <p:ph type="ftr" sz="quarter" idx="11"/>
          </p:nvPr>
        </p:nvSpPr>
        <p:spPr/>
        <p:txBody>
          <a:bodyPr/>
          <a:lstStyle/>
          <a:p>
            <a:endParaRPr lang="en-IN" dirty="0"/>
          </a:p>
        </p:txBody>
      </p:sp>
      <p:sp>
        <p:nvSpPr>
          <p:cNvPr id="10" name="Slide Number Placeholder 9">
            <a:extLst>
              <a:ext uri="{FF2B5EF4-FFF2-40B4-BE49-F238E27FC236}">
                <a16:creationId xmlns:a16="http://schemas.microsoft.com/office/drawing/2014/main" id="{09784944-5437-9E89-7017-F3DB9CA914FA}"/>
              </a:ext>
            </a:extLst>
          </p:cNvPr>
          <p:cNvSpPr>
            <a:spLocks noGrp="1"/>
          </p:cNvSpPr>
          <p:nvPr>
            <p:ph type="sldNum" sz="quarter" idx="12"/>
          </p:nvPr>
        </p:nvSpPr>
        <p:spPr/>
        <p:txBody>
          <a:bodyPr/>
          <a:lstStyle/>
          <a:p>
            <a:fld id="{5A3A418F-4DEE-4BB1-940B-1145D135750E}" type="slidenum">
              <a:rPr lang="en-IN" smtClean="0"/>
              <a:t>5</a:t>
            </a:fld>
            <a:endParaRPr lang="en-IN"/>
          </a:p>
        </p:txBody>
      </p:sp>
      <p:pic>
        <p:nvPicPr>
          <p:cNvPr id="6" name="Picture 5">
            <a:extLst>
              <a:ext uri="{FF2B5EF4-FFF2-40B4-BE49-F238E27FC236}">
                <a16:creationId xmlns:a16="http://schemas.microsoft.com/office/drawing/2014/main" id="{CF3EBAEA-8DC6-8F54-F0D6-38F9643BD4B7}"/>
              </a:ext>
            </a:extLst>
          </p:cNvPr>
          <p:cNvPicPr>
            <a:picLocks noChangeAspect="1"/>
          </p:cNvPicPr>
          <p:nvPr/>
        </p:nvPicPr>
        <p:blipFill>
          <a:blip r:embed="rId3"/>
          <a:stretch>
            <a:fillRect/>
          </a:stretch>
        </p:blipFill>
        <p:spPr>
          <a:xfrm>
            <a:off x="10249380" y="0"/>
            <a:ext cx="1942620" cy="622550"/>
          </a:xfrm>
          <a:prstGeom prst="rect">
            <a:avLst/>
          </a:prstGeom>
        </p:spPr>
      </p:pic>
    </p:spTree>
    <p:extLst>
      <p:ext uri="{BB962C8B-B14F-4D97-AF65-F5344CB8AC3E}">
        <p14:creationId xmlns:p14="http://schemas.microsoft.com/office/powerpoint/2010/main" val="30292770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EF2FA-32F2-6715-843F-6ACC796D053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00062CA-E93E-DFB0-5A22-1412AB9A6752}"/>
              </a:ext>
            </a:extLst>
          </p:cNvPr>
          <p:cNvSpPr txBox="1"/>
          <p:nvPr/>
        </p:nvSpPr>
        <p:spPr>
          <a:xfrm>
            <a:off x="3048000" y="600078"/>
            <a:ext cx="6096000" cy="646331"/>
          </a:xfrm>
          <a:prstGeom prst="rect">
            <a:avLst/>
          </a:prstGeom>
          <a:noFill/>
        </p:spPr>
        <p:txBody>
          <a:bodyPr wrap="square">
            <a:spAutoFit/>
          </a:bodyPr>
          <a:lstStyle/>
          <a:p>
            <a:pPr algn="ctr"/>
            <a:r>
              <a:rPr lang="en-US" sz="3600" b="1" dirty="0"/>
              <a:t>Problem Gap Identification</a:t>
            </a:r>
          </a:p>
        </p:txBody>
      </p:sp>
      <p:pic>
        <p:nvPicPr>
          <p:cNvPr id="3" name="Picture 2">
            <a:extLst>
              <a:ext uri="{FF2B5EF4-FFF2-40B4-BE49-F238E27FC236}">
                <a16:creationId xmlns:a16="http://schemas.microsoft.com/office/drawing/2014/main" id="{7777B92A-0C12-D39A-8847-98719E7B6FFF}"/>
              </a:ext>
            </a:extLst>
          </p:cNvPr>
          <p:cNvPicPr>
            <a:picLocks noChangeAspect="1"/>
          </p:cNvPicPr>
          <p:nvPr/>
        </p:nvPicPr>
        <p:blipFill>
          <a:blip r:embed="rId2"/>
          <a:stretch>
            <a:fillRect/>
          </a:stretch>
        </p:blipFill>
        <p:spPr>
          <a:xfrm>
            <a:off x="10249380" y="0"/>
            <a:ext cx="1942620" cy="622550"/>
          </a:xfrm>
          <a:prstGeom prst="rect">
            <a:avLst/>
          </a:prstGeom>
        </p:spPr>
      </p:pic>
      <p:sp>
        <p:nvSpPr>
          <p:cNvPr id="2" name="TextBox 1">
            <a:extLst>
              <a:ext uri="{FF2B5EF4-FFF2-40B4-BE49-F238E27FC236}">
                <a16:creationId xmlns:a16="http://schemas.microsoft.com/office/drawing/2014/main" id="{18ACA949-94C8-AD43-00D0-AA5FDFDE4766}"/>
              </a:ext>
            </a:extLst>
          </p:cNvPr>
          <p:cNvSpPr txBox="1"/>
          <p:nvPr/>
        </p:nvSpPr>
        <p:spPr>
          <a:xfrm>
            <a:off x="639097" y="1494503"/>
            <a:ext cx="10451690" cy="4524315"/>
          </a:xfrm>
          <a:prstGeom prst="rect">
            <a:avLst/>
          </a:prstGeom>
          <a:noFill/>
        </p:spPr>
        <p:txBody>
          <a:bodyPr wrap="square" rtlCol="0">
            <a:spAutoFit/>
          </a:bodyPr>
          <a:lstStyle/>
          <a:p>
            <a:r>
              <a:rPr lang="en-IN" b="1" dirty="0"/>
              <a:t>Existing Research</a:t>
            </a:r>
          </a:p>
          <a:p>
            <a:endParaRPr lang="en-IN" b="1" dirty="0"/>
          </a:p>
          <a:p>
            <a:pPr marL="285750" lvl="0" indent="-285750">
              <a:buFont typeface="Arial" panose="020B0604020202020204" pitchFamily="34" charset="0"/>
              <a:buChar char="•"/>
            </a:pPr>
            <a:r>
              <a:rPr lang="en-IN" dirty="0"/>
              <a:t>Existing studies focus mainly on event recommendation using social, geographical, contextual, and user-preference information. </a:t>
            </a:r>
          </a:p>
          <a:p>
            <a:pPr marL="285750" lvl="0" indent="-285750">
              <a:buFont typeface="Arial" panose="020B0604020202020204" pitchFamily="34" charset="0"/>
              <a:buChar char="•"/>
            </a:pPr>
            <a:r>
              <a:rPr lang="en-IN" dirty="0"/>
              <a:t>Context-aware approaches improve recommendation relevance and help address the cold-start problem for new events. </a:t>
            </a:r>
          </a:p>
          <a:p>
            <a:pPr marL="285750" lvl="0" indent="-285750">
              <a:buFont typeface="Arial" panose="020B0604020202020204" pitchFamily="34" charset="0"/>
              <a:buChar char="•"/>
            </a:pPr>
            <a:r>
              <a:rPr lang="en-IN" dirty="0"/>
              <a:t>Most research evaluates recommendation techniques as a standalone recommendation problem. </a:t>
            </a:r>
          </a:p>
          <a:p>
            <a:pPr lvl="0"/>
            <a:endParaRPr lang="en-IN" dirty="0"/>
          </a:p>
          <a:p>
            <a:r>
              <a:rPr lang="en-IN" b="1" dirty="0"/>
              <a:t>Identified Gap</a:t>
            </a:r>
          </a:p>
          <a:p>
            <a:endParaRPr lang="en-IN" b="1" dirty="0"/>
          </a:p>
          <a:p>
            <a:pPr marL="285750" lvl="0" indent="-285750">
              <a:buFont typeface="Arial" panose="020B0604020202020204" pitchFamily="34" charset="0"/>
              <a:buChar char="•"/>
            </a:pPr>
            <a:r>
              <a:rPr lang="en-IN" dirty="0"/>
              <a:t>Limited focus on campus-specific event management and student engagement. </a:t>
            </a:r>
          </a:p>
          <a:p>
            <a:pPr marL="285750" lvl="0" indent="-285750">
              <a:buFont typeface="Arial" panose="020B0604020202020204" pitchFamily="34" charset="0"/>
              <a:buChar char="•"/>
            </a:pPr>
            <a:r>
              <a:rPr lang="en-IN" dirty="0"/>
              <a:t>Event creation, discovery, registration, participation tracking, and recommendation are not integrated into one system. </a:t>
            </a:r>
          </a:p>
          <a:p>
            <a:pPr marL="285750" lvl="0" indent="-285750">
              <a:buFont typeface="Arial" panose="020B0604020202020204" pitchFamily="34" charset="0"/>
              <a:buChar char="•"/>
            </a:pPr>
            <a:r>
              <a:rPr lang="en-IN" dirty="0"/>
              <a:t>Existing approaches do not sufficiently address the requirements of a controlled institutional environment such as a college campus. </a:t>
            </a:r>
          </a:p>
          <a:p>
            <a:pPr marL="285750" lvl="0" indent="-285750">
              <a:buFont typeface="Arial" panose="020B0604020202020204" pitchFamily="34" charset="0"/>
              <a:buChar char="•"/>
            </a:pPr>
            <a:r>
              <a:rPr lang="en-IN" dirty="0"/>
              <a:t>There is a need to combine personalized event recommendation with centralized event management</a:t>
            </a:r>
          </a:p>
        </p:txBody>
      </p:sp>
    </p:spTree>
    <p:extLst>
      <p:ext uri="{BB962C8B-B14F-4D97-AF65-F5344CB8AC3E}">
        <p14:creationId xmlns:p14="http://schemas.microsoft.com/office/powerpoint/2010/main" val="2065876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C6D84-077B-7007-4B63-807557EC637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4387226-F29E-0041-5581-4EF07C7198F1}"/>
              </a:ext>
            </a:extLst>
          </p:cNvPr>
          <p:cNvSpPr txBox="1"/>
          <p:nvPr/>
        </p:nvSpPr>
        <p:spPr>
          <a:xfrm>
            <a:off x="1893060" y="567351"/>
            <a:ext cx="8405879" cy="646331"/>
          </a:xfrm>
          <a:prstGeom prst="rect">
            <a:avLst/>
          </a:prstGeom>
          <a:noFill/>
        </p:spPr>
        <p:txBody>
          <a:bodyPr wrap="square">
            <a:spAutoFit/>
          </a:bodyPr>
          <a:lstStyle/>
          <a:p>
            <a:pPr algn="ctr"/>
            <a:r>
              <a:rPr lang="en-US" sz="3600" b="1" dirty="0"/>
              <a:t>Innovation, Creativity, and Novelty</a:t>
            </a:r>
          </a:p>
        </p:txBody>
      </p:sp>
      <p:pic>
        <p:nvPicPr>
          <p:cNvPr id="3" name="Picture 2">
            <a:extLst>
              <a:ext uri="{FF2B5EF4-FFF2-40B4-BE49-F238E27FC236}">
                <a16:creationId xmlns:a16="http://schemas.microsoft.com/office/drawing/2014/main" id="{1BC5F926-1E4C-4031-B9E9-6A17F126A332}"/>
              </a:ext>
            </a:extLst>
          </p:cNvPr>
          <p:cNvPicPr>
            <a:picLocks noChangeAspect="1"/>
          </p:cNvPicPr>
          <p:nvPr/>
        </p:nvPicPr>
        <p:blipFill>
          <a:blip r:embed="rId2"/>
          <a:stretch>
            <a:fillRect/>
          </a:stretch>
        </p:blipFill>
        <p:spPr>
          <a:xfrm>
            <a:off x="10249380" y="0"/>
            <a:ext cx="1942620" cy="622550"/>
          </a:xfrm>
          <a:prstGeom prst="rect">
            <a:avLst/>
          </a:prstGeom>
        </p:spPr>
      </p:pic>
      <p:sp>
        <p:nvSpPr>
          <p:cNvPr id="2" name="TextBox 1">
            <a:extLst>
              <a:ext uri="{FF2B5EF4-FFF2-40B4-BE49-F238E27FC236}">
                <a16:creationId xmlns:a16="http://schemas.microsoft.com/office/drawing/2014/main" id="{100FE4CE-6B6D-7E79-99CF-5A723F2C1050}"/>
              </a:ext>
            </a:extLst>
          </p:cNvPr>
          <p:cNvSpPr txBox="1"/>
          <p:nvPr/>
        </p:nvSpPr>
        <p:spPr>
          <a:xfrm>
            <a:off x="816076" y="1474839"/>
            <a:ext cx="10087897" cy="4801314"/>
          </a:xfrm>
          <a:prstGeom prst="rect">
            <a:avLst/>
          </a:prstGeom>
          <a:noFill/>
        </p:spPr>
        <p:txBody>
          <a:bodyPr wrap="square" rtlCol="0">
            <a:spAutoFit/>
          </a:bodyPr>
          <a:lstStyle/>
          <a:p>
            <a:r>
              <a:rPr lang="en-IN" b="1" dirty="0"/>
              <a:t>Key Innovative Features</a:t>
            </a:r>
          </a:p>
          <a:p>
            <a:pPr marL="285750" lvl="0" indent="-285750">
              <a:buFont typeface="Arial" panose="020B0604020202020204" pitchFamily="34" charset="0"/>
              <a:buChar char="•"/>
            </a:pPr>
            <a:r>
              <a:rPr lang="en-IN" b="1" dirty="0"/>
              <a:t>AI-Based Personalized Recommendations</a:t>
            </a:r>
            <a:br>
              <a:rPr lang="en-IN" dirty="0"/>
            </a:br>
            <a:r>
              <a:rPr lang="en-IN" dirty="0"/>
              <a:t>Recommends relevant campus events based on student interests, preferences, and previous participation. </a:t>
            </a:r>
          </a:p>
          <a:p>
            <a:pPr marL="285750" lvl="0" indent="-285750">
              <a:buFont typeface="Arial" panose="020B0604020202020204" pitchFamily="34" charset="0"/>
              <a:buChar char="•"/>
            </a:pPr>
            <a:r>
              <a:rPr lang="en-IN" b="1" dirty="0"/>
              <a:t>Centralized Event Management</a:t>
            </a:r>
            <a:br>
              <a:rPr lang="en-IN" dirty="0"/>
            </a:br>
            <a:r>
              <a:rPr lang="en-IN" dirty="0"/>
              <a:t>Combines event creation, discovery, registration, updates, and participation tracking in a single platform. </a:t>
            </a:r>
          </a:p>
          <a:p>
            <a:pPr marL="285750" lvl="0" indent="-285750">
              <a:buFont typeface="Arial" panose="020B0604020202020204" pitchFamily="34" charset="0"/>
              <a:buChar char="•"/>
            </a:pPr>
            <a:r>
              <a:rPr lang="en-IN" b="1" dirty="0"/>
              <a:t>Context-Aware Event Ranking</a:t>
            </a:r>
            <a:br>
              <a:rPr lang="en-IN" dirty="0"/>
            </a:br>
            <a:r>
              <a:rPr lang="en-IN" dirty="0"/>
              <a:t>Considers factors such as event category, student interests, timing, and participation history to improve recommendations. </a:t>
            </a:r>
          </a:p>
          <a:p>
            <a:pPr marL="285750" lvl="0" indent="-285750">
              <a:buFont typeface="Arial" panose="020B0604020202020204" pitchFamily="34" charset="0"/>
              <a:buChar char="•"/>
            </a:pPr>
            <a:r>
              <a:rPr lang="en-IN" b="1" dirty="0"/>
              <a:t>New-Event Recommendation</a:t>
            </a:r>
            <a:br>
              <a:rPr lang="en-IN" dirty="0"/>
            </a:br>
            <a:r>
              <a:rPr lang="en-IN" dirty="0"/>
              <a:t>Uses event attributes and content to recommend newly created events even when sufficient historical participation data is unavailable. </a:t>
            </a:r>
          </a:p>
          <a:p>
            <a:pPr marL="285750" lvl="0" indent="-285750">
              <a:buFont typeface="Arial" panose="020B0604020202020204" pitchFamily="34" charset="0"/>
              <a:buChar char="•"/>
            </a:pPr>
            <a:r>
              <a:rPr lang="en-IN" b="1" dirty="0"/>
              <a:t>Student Engagement Analytics</a:t>
            </a:r>
            <a:br>
              <a:rPr lang="en-IN" dirty="0"/>
            </a:br>
            <a:r>
              <a:rPr lang="en-IN" dirty="0" err="1"/>
              <a:t>Analyzes</a:t>
            </a:r>
            <a:r>
              <a:rPr lang="en-IN" dirty="0"/>
              <a:t> registrations and participation patterns to provide useful insights for event organizers. </a:t>
            </a:r>
          </a:p>
          <a:p>
            <a:pPr marL="285750" lvl="0" indent="-285750">
              <a:buFont typeface="Arial" panose="020B0604020202020204" pitchFamily="34" charset="0"/>
              <a:buChar char="•"/>
            </a:pPr>
            <a:r>
              <a:rPr lang="en-IN" b="1" dirty="0"/>
              <a:t>Scalable Campus Architecture</a:t>
            </a:r>
            <a:br>
              <a:rPr lang="en-IN" dirty="0"/>
            </a:br>
            <a:r>
              <a:rPr lang="en-IN" dirty="0"/>
              <a:t>The modular design can be extended from a single campus to multiple colleges or institutions.</a:t>
            </a:r>
          </a:p>
        </p:txBody>
      </p:sp>
    </p:spTree>
    <p:extLst>
      <p:ext uri="{BB962C8B-B14F-4D97-AF65-F5344CB8AC3E}">
        <p14:creationId xmlns:p14="http://schemas.microsoft.com/office/powerpoint/2010/main" val="35241353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8AA2CC-2C9A-D968-2F38-FFC4A7D2386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EF7CE10-08D9-83CF-7508-12575531E1E0}"/>
              </a:ext>
            </a:extLst>
          </p:cNvPr>
          <p:cNvSpPr txBox="1"/>
          <p:nvPr/>
        </p:nvSpPr>
        <p:spPr>
          <a:xfrm>
            <a:off x="2615380" y="551058"/>
            <a:ext cx="7234014" cy="707886"/>
          </a:xfrm>
          <a:prstGeom prst="rect">
            <a:avLst/>
          </a:prstGeom>
          <a:noFill/>
        </p:spPr>
        <p:txBody>
          <a:bodyPr wrap="square">
            <a:spAutoFit/>
          </a:bodyPr>
          <a:lstStyle/>
          <a:p>
            <a:pPr algn="ctr"/>
            <a:r>
              <a:rPr lang="en-US" sz="4000" b="1" dirty="0"/>
              <a:t>Feasibility and Project Plan</a:t>
            </a:r>
          </a:p>
        </p:txBody>
      </p:sp>
      <p:sp>
        <p:nvSpPr>
          <p:cNvPr id="2" name="TextBox 1">
            <a:extLst>
              <a:ext uri="{FF2B5EF4-FFF2-40B4-BE49-F238E27FC236}">
                <a16:creationId xmlns:a16="http://schemas.microsoft.com/office/drawing/2014/main" id="{3F0303AA-CEE8-2513-1736-59CB3A5EF8E4}"/>
              </a:ext>
            </a:extLst>
          </p:cNvPr>
          <p:cNvSpPr txBox="1"/>
          <p:nvPr/>
        </p:nvSpPr>
        <p:spPr>
          <a:xfrm>
            <a:off x="1381398" y="1743891"/>
            <a:ext cx="10116039" cy="369332"/>
          </a:xfrm>
          <a:prstGeom prst="rect">
            <a:avLst/>
          </a:prstGeom>
          <a:noFill/>
        </p:spPr>
        <p:txBody>
          <a:bodyPr wrap="none" rtlCol="0">
            <a:spAutoFit/>
          </a:bodyPr>
          <a:lstStyle/>
          <a:p>
            <a:r>
              <a:rPr lang="en-US" b="1" dirty="0">
                <a:solidFill>
                  <a:srgbClr val="FF0000"/>
                </a:solidFill>
              </a:rPr>
              <a:t>TIMELINE CHART FOR EACH PHASE OF YOUR PROJECT SHOULD BE THERE AFTER EXPLANATION</a:t>
            </a:r>
          </a:p>
        </p:txBody>
      </p:sp>
      <p:pic>
        <p:nvPicPr>
          <p:cNvPr id="4" name="Picture 3">
            <a:extLst>
              <a:ext uri="{FF2B5EF4-FFF2-40B4-BE49-F238E27FC236}">
                <a16:creationId xmlns:a16="http://schemas.microsoft.com/office/drawing/2014/main" id="{F971D25F-D310-56FA-A58E-B7B79C7D857D}"/>
              </a:ext>
            </a:extLst>
          </p:cNvPr>
          <p:cNvPicPr>
            <a:picLocks noChangeAspect="1"/>
          </p:cNvPicPr>
          <p:nvPr/>
        </p:nvPicPr>
        <p:blipFill>
          <a:blip r:embed="rId2"/>
          <a:stretch>
            <a:fillRect/>
          </a:stretch>
        </p:blipFill>
        <p:spPr>
          <a:xfrm>
            <a:off x="10249380" y="0"/>
            <a:ext cx="1942620" cy="622550"/>
          </a:xfrm>
          <a:prstGeom prst="rect">
            <a:avLst/>
          </a:prstGeom>
        </p:spPr>
      </p:pic>
      <p:pic>
        <p:nvPicPr>
          <p:cNvPr id="8" name="Picture 7">
            <a:extLst>
              <a:ext uri="{FF2B5EF4-FFF2-40B4-BE49-F238E27FC236}">
                <a16:creationId xmlns:a16="http://schemas.microsoft.com/office/drawing/2014/main" id="{B2FE536E-63F7-A75D-A010-2BA44E9D886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41188552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165</TotalTime>
  <Words>814</Words>
  <Application>Microsoft Office PowerPoint</Application>
  <PresentationFormat>Widescreen</PresentationFormat>
  <Paragraphs>106</Paragraphs>
  <Slides>8</Slides>
  <Notes>2</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8</vt:i4>
      </vt:variant>
    </vt:vector>
  </HeadingPairs>
  <TitlesOfParts>
    <vt:vector size="16" baseType="lpstr">
      <vt:lpstr>Aptos</vt:lpstr>
      <vt:lpstr>Aptos Display</vt:lpstr>
      <vt:lpstr>Arial</vt:lpstr>
      <vt:lpstr>Calibri</vt:lpstr>
      <vt:lpstr>Calibri Light</vt:lpstr>
      <vt:lpstr>Times New Roman</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srikanth ch</dc:creator>
  <cp:lastModifiedBy>Anirudh Guthula</cp:lastModifiedBy>
  <cp:revision>36</cp:revision>
  <dcterms:created xsi:type="dcterms:W3CDTF">2026-08-08T06:33:56Z</dcterms:created>
  <dcterms:modified xsi:type="dcterms:W3CDTF">2026-08-27T04:17:37Z</dcterms:modified>
</cp:coreProperties>
</file>